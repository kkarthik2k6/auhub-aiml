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80"/>
  </p:notesMasterIdLst>
  <p:handoutMasterIdLst>
    <p:handoutMasterId r:id="rId81"/>
  </p:handoutMasterIdLst>
  <p:sldIdLst>
    <p:sldId id="386" r:id="rId2"/>
    <p:sldId id="388" r:id="rId3"/>
    <p:sldId id="437" r:id="rId4"/>
    <p:sldId id="438" r:id="rId5"/>
    <p:sldId id="439" r:id="rId6"/>
    <p:sldId id="440" r:id="rId7"/>
    <p:sldId id="441" r:id="rId8"/>
    <p:sldId id="442" r:id="rId9"/>
    <p:sldId id="443" r:id="rId10"/>
    <p:sldId id="444" r:id="rId11"/>
    <p:sldId id="445" r:id="rId12"/>
    <p:sldId id="446" r:id="rId13"/>
    <p:sldId id="407" r:id="rId14"/>
    <p:sldId id="408" r:id="rId15"/>
    <p:sldId id="409" r:id="rId16"/>
    <p:sldId id="403" r:id="rId17"/>
    <p:sldId id="405" r:id="rId18"/>
    <p:sldId id="410" r:id="rId19"/>
    <p:sldId id="411" r:id="rId20"/>
    <p:sldId id="412" r:id="rId21"/>
    <p:sldId id="413" r:id="rId22"/>
    <p:sldId id="414" r:id="rId23"/>
    <p:sldId id="425" r:id="rId24"/>
    <p:sldId id="427" r:id="rId25"/>
    <p:sldId id="429" r:id="rId26"/>
    <p:sldId id="430" r:id="rId27"/>
    <p:sldId id="415" r:id="rId28"/>
    <p:sldId id="447" r:id="rId29"/>
    <p:sldId id="448" r:id="rId30"/>
    <p:sldId id="449" r:id="rId31"/>
    <p:sldId id="451" r:id="rId32"/>
    <p:sldId id="452" r:id="rId33"/>
    <p:sldId id="453" r:id="rId34"/>
    <p:sldId id="454" r:id="rId35"/>
    <p:sldId id="455" r:id="rId36"/>
    <p:sldId id="456" r:id="rId37"/>
    <p:sldId id="457" r:id="rId38"/>
    <p:sldId id="458" r:id="rId39"/>
    <p:sldId id="459" r:id="rId40"/>
    <p:sldId id="460" r:id="rId41"/>
    <p:sldId id="461" r:id="rId42"/>
    <p:sldId id="462" r:id="rId43"/>
    <p:sldId id="463" r:id="rId44"/>
    <p:sldId id="464" r:id="rId45"/>
    <p:sldId id="465" r:id="rId46"/>
    <p:sldId id="466" r:id="rId47"/>
    <p:sldId id="467" r:id="rId48"/>
    <p:sldId id="468" r:id="rId49"/>
    <p:sldId id="469" r:id="rId50"/>
    <p:sldId id="470" r:id="rId51"/>
    <p:sldId id="471" r:id="rId52"/>
    <p:sldId id="472" r:id="rId53"/>
    <p:sldId id="473" r:id="rId54"/>
    <p:sldId id="474" r:id="rId55"/>
    <p:sldId id="475" r:id="rId56"/>
    <p:sldId id="476" r:id="rId57"/>
    <p:sldId id="477" r:id="rId58"/>
    <p:sldId id="478" r:id="rId59"/>
    <p:sldId id="479" r:id="rId60"/>
    <p:sldId id="510" r:id="rId61"/>
    <p:sldId id="511" r:id="rId62"/>
    <p:sldId id="512" r:id="rId63"/>
    <p:sldId id="481" r:id="rId64"/>
    <p:sldId id="482" r:id="rId65"/>
    <p:sldId id="483" r:id="rId66"/>
    <p:sldId id="484" r:id="rId67"/>
    <p:sldId id="485" r:id="rId68"/>
    <p:sldId id="486" r:id="rId69"/>
    <p:sldId id="487" r:id="rId70"/>
    <p:sldId id="488" r:id="rId71"/>
    <p:sldId id="489" r:id="rId72"/>
    <p:sldId id="490" r:id="rId73"/>
    <p:sldId id="491" r:id="rId74"/>
    <p:sldId id="492" r:id="rId75"/>
    <p:sldId id="493" r:id="rId76"/>
    <p:sldId id="494" r:id="rId77"/>
    <p:sldId id="495" r:id="rId78"/>
    <p:sldId id="401" r:id="rId7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71C0"/>
    <a:srgbClr val="C22432"/>
    <a:srgbClr val="70AD47"/>
    <a:srgbClr val="0073B9"/>
    <a:srgbClr val="F7CCAF"/>
    <a:srgbClr val="233761"/>
    <a:srgbClr val="20345F"/>
    <a:srgbClr val="1F345E"/>
    <a:srgbClr val="1E335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71" autoAdjust="0"/>
    <p:restoredTop sz="93428" autoAdjust="0"/>
  </p:normalViewPr>
  <p:slideViewPr>
    <p:cSldViewPr snapToGrid="0" showGuides="1">
      <p:cViewPr varScale="1">
        <p:scale>
          <a:sx n="82" d="100"/>
          <a:sy n="82" d="100"/>
        </p:scale>
        <p:origin x="653" y="62"/>
      </p:cViewPr>
      <p:guideLst>
        <p:guide orient="horz" pos="2160"/>
        <p:guide pos="386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handoutMaster" Target="handoutMasters/handoutMaster1.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commentAuthors" Target="commentAuthor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3B45C37-E7B2-495D-A217-2E807AC91DC5}" type="datetime1">
              <a:rPr lang="en-IN" smtClean="0"/>
              <a:t>15-12-2025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smtClean="0"/>
              <a:t>Department of AI </a:t>
            </a:r>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64C6196-79D1-4DCE-87CA-C972580A1C56}" type="slidenum">
              <a:rPr lang="en-US" smtClean="0"/>
              <a:t>‹#›</a:t>
            </a:fld>
            <a:endParaRPr lang="en-US"/>
          </a:p>
        </p:txBody>
      </p:sp>
    </p:spTree>
    <p:extLst>
      <p:ext uri="{BB962C8B-B14F-4D97-AF65-F5344CB8AC3E}">
        <p14:creationId xmlns:p14="http://schemas.microsoft.com/office/powerpoint/2010/main" val="1009116476"/>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6D28EE-0843-42AC-AB09-401319BA6F1E}" type="datetime1">
              <a:rPr lang="en-IN" smtClean="0"/>
              <a:t>15-12-2025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IN" smtClean="0"/>
              <a:t>Department of AI </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A9C226-8DBD-480E-8A57-0B5870EF1509}" type="slidenum">
              <a:rPr lang="en-IN" smtClean="0"/>
              <a:pPr/>
              <a:t>‹#›</a:t>
            </a:fld>
            <a:endParaRPr lang="en-IN"/>
          </a:p>
        </p:txBody>
      </p:sp>
    </p:spTree>
    <p:extLst>
      <p:ext uri="{BB962C8B-B14F-4D97-AF65-F5344CB8AC3E}">
        <p14:creationId xmlns:p14="http://schemas.microsoft.com/office/powerpoint/2010/main" val="1289102575"/>
      </p:ext>
    </p:extLst>
  </p:cSld>
  <p:clrMap bg1="lt1" tx1="dk1" bg2="lt2" tx2="dk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9A9C226-8DBD-480E-8A57-0B5870EF1509}" type="slidenum">
              <a:rPr lang="en-IN" smtClean="0"/>
              <a:pPr/>
              <a:t>1</a:t>
            </a:fld>
            <a:endParaRPr lang="en-IN"/>
          </a:p>
        </p:txBody>
      </p:sp>
      <p:sp>
        <p:nvSpPr>
          <p:cNvPr id="5" name="Date Placeholder 4"/>
          <p:cNvSpPr>
            <a:spLocks noGrp="1"/>
          </p:cNvSpPr>
          <p:nvPr>
            <p:ph type="dt" idx="11"/>
          </p:nvPr>
        </p:nvSpPr>
        <p:spPr/>
        <p:txBody>
          <a:bodyPr/>
          <a:lstStyle/>
          <a:p>
            <a:fld id="{25E05BB0-B65D-440D-BA88-03B6C9459EBE}" type="datetime1">
              <a:rPr lang="en-IN" smtClean="0"/>
              <a:t>15-12-2025</a:t>
            </a:fld>
            <a:endParaRPr lang="en-IN"/>
          </a:p>
        </p:txBody>
      </p:sp>
      <p:sp>
        <p:nvSpPr>
          <p:cNvPr id="6" name="Footer Placeholder 5"/>
          <p:cNvSpPr>
            <a:spLocks noGrp="1"/>
          </p:cNvSpPr>
          <p:nvPr>
            <p:ph type="ftr" sz="quarter" idx="12"/>
          </p:nvPr>
        </p:nvSpPr>
        <p:spPr/>
        <p:txBody>
          <a:bodyPr/>
          <a:lstStyle/>
          <a:p>
            <a:r>
              <a:rPr lang="en-IN" smtClean="0"/>
              <a:t>Department of AI </a:t>
            </a:r>
            <a:endParaRPr lang="en-IN"/>
          </a:p>
        </p:txBody>
      </p:sp>
    </p:spTree>
    <p:extLst>
      <p:ext uri="{BB962C8B-B14F-4D97-AF65-F5344CB8AC3E}">
        <p14:creationId xmlns:p14="http://schemas.microsoft.com/office/powerpoint/2010/main" val="1733653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270479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407559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1591335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5746539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0415169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6432266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606163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7563820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8632247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lvl1pPr defTabSz="930275">
              <a:defRPr sz="3000">
                <a:solidFill>
                  <a:schemeClr val="tx1"/>
                </a:solidFill>
                <a:latin typeface="Arial" panose="020B0604020202020204" pitchFamily="34" charset="0"/>
              </a:defRPr>
            </a:lvl1pPr>
            <a:lvl2pPr marL="742950" indent="-285750" defTabSz="930275">
              <a:defRPr sz="3000">
                <a:solidFill>
                  <a:schemeClr val="tx1"/>
                </a:solidFill>
                <a:latin typeface="Arial" panose="020B0604020202020204" pitchFamily="34" charset="0"/>
              </a:defRPr>
            </a:lvl2pPr>
            <a:lvl3pPr marL="1143000" indent="-228600" defTabSz="930275">
              <a:defRPr sz="3000">
                <a:solidFill>
                  <a:schemeClr val="tx1"/>
                </a:solidFill>
                <a:latin typeface="Arial" panose="020B0604020202020204" pitchFamily="34" charset="0"/>
              </a:defRPr>
            </a:lvl3pPr>
            <a:lvl4pPr marL="1600200" indent="-228600" defTabSz="930275">
              <a:defRPr sz="3000">
                <a:solidFill>
                  <a:schemeClr val="tx1"/>
                </a:solidFill>
                <a:latin typeface="Arial" panose="020B0604020202020204" pitchFamily="34" charset="0"/>
              </a:defRPr>
            </a:lvl4pPr>
            <a:lvl5pPr marL="2057400" indent="-228600" defTabSz="930275">
              <a:defRPr sz="3000">
                <a:solidFill>
                  <a:schemeClr val="tx1"/>
                </a:solidFill>
                <a:latin typeface="Arial" panose="020B0604020202020204" pitchFamily="34" charset="0"/>
              </a:defRPr>
            </a:lvl5pPr>
            <a:lvl6pPr marL="2514600" indent="-228600" defTabSz="930275" eaLnBrk="0" fontAlgn="base" hangingPunct="0">
              <a:spcBef>
                <a:spcPct val="0"/>
              </a:spcBef>
              <a:spcAft>
                <a:spcPct val="0"/>
              </a:spcAft>
              <a:defRPr sz="3000">
                <a:solidFill>
                  <a:schemeClr val="tx1"/>
                </a:solidFill>
                <a:latin typeface="Arial" panose="020B0604020202020204" pitchFamily="34" charset="0"/>
              </a:defRPr>
            </a:lvl6pPr>
            <a:lvl7pPr marL="2971800" indent="-228600" defTabSz="930275" eaLnBrk="0" fontAlgn="base" hangingPunct="0">
              <a:spcBef>
                <a:spcPct val="0"/>
              </a:spcBef>
              <a:spcAft>
                <a:spcPct val="0"/>
              </a:spcAft>
              <a:defRPr sz="3000">
                <a:solidFill>
                  <a:schemeClr val="tx1"/>
                </a:solidFill>
                <a:latin typeface="Arial" panose="020B0604020202020204" pitchFamily="34" charset="0"/>
              </a:defRPr>
            </a:lvl7pPr>
            <a:lvl8pPr marL="3429000" indent="-228600" defTabSz="930275" eaLnBrk="0" fontAlgn="base" hangingPunct="0">
              <a:spcBef>
                <a:spcPct val="0"/>
              </a:spcBef>
              <a:spcAft>
                <a:spcPct val="0"/>
              </a:spcAft>
              <a:defRPr sz="3000">
                <a:solidFill>
                  <a:schemeClr val="tx1"/>
                </a:solidFill>
                <a:latin typeface="Arial" panose="020B0604020202020204" pitchFamily="34" charset="0"/>
              </a:defRPr>
            </a:lvl8pPr>
            <a:lvl9pPr marL="3886200" indent="-228600" defTabSz="930275" eaLnBrk="0" fontAlgn="base" hangingPunct="0">
              <a:spcBef>
                <a:spcPct val="0"/>
              </a:spcBef>
              <a:spcAft>
                <a:spcPct val="0"/>
              </a:spcAft>
              <a:defRPr sz="3000">
                <a:solidFill>
                  <a:schemeClr val="tx1"/>
                </a:solidFill>
                <a:latin typeface="Arial" panose="020B0604020202020204" pitchFamily="34" charset="0"/>
              </a:defRPr>
            </a:lvl9pPr>
          </a:lstStyle>
          <a:p>
            <a:fld id="{E0E78F81-881F-4563-A994-B1E88F6C8C11}" type="slidenum">
              <a:rPr lang="en-US" sz="1300" smtClean="0"/>
              <a:pPr/>
              <a:t>41</a:t>
            </a:fld>
            <a:endParaRPr lang="en-US" sz="1300" smtClean="0"/>
          </a:p>
        </p:txBody>
      </p:sp>
      <p:sp>
        <p:nvSpPr>
          <p:cNvPr id="22531" name="Rectangle 2"/>
          <p:cNvSpPr>
            <a:spLocks noGrp="1" noRot="1" noChangeAspect="1" noChangeArrowheads="1" noTextEdit="1"/>
          </p:cNvSpPr>
          <p:nvPr>
            <p:ph type="sldImg"/>
          </p:nvPr>
        </p:nvSpPr>
        <p:spPr>
          <a:xfrm>
            <a:off x="407988" y="714375"/>
            <a:ext cx="6219825" cy="3498850"/>
          </a:xfrm>
          <a:ln/>
        </p:spPr>
      </p:sp>
      <p:sp>
        <p:nvSpPr>
          <p:cNvPr id="22532" name="Rectangle 3"/>
          <p:cNvSpPr>
            <a:spLocks noGrp="1" noChangeArrowheads="1"/>
          </p:cNvSpPr>
          <p:nvPr>
            <p:ph type="body" idx="1"/>
          </p:nvPr>
        </p:nvSpPr>
        <p:spPr>
          <a:xfrm>
            <a:off x="949325" y="4427538"/>
            <a:ext cx="5138738" cy="4141787"/>
          </a:xfrm>
          <a:noFill/>
        </p:spPr>
        <p:txBody>
          <a:bodyPr/>
          <a:lstStyle/>
          <a:p>
            <a:pPr eaLnBrk="1" hangingPunct="1"/>
            <a:endParaRPr lang="en-GB" smtClean="0"/>
          </a:p>
        </p:txBody>
      </p:sp>
    </p:spTree>
    <p:extLst>
      <p:ext uri="{BB962C8B-B14F-4D97-AF65-F5344CB8AC3E}">
        <p14:creationId xmlns:p14="http://schemas.microsoft.com/office/powerpoint/2010/main" val="22091349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lvl1pPr defTabSz="930275">
              <a:defRPr sz="3000">
                <a:solidFill>
                  <a:schemeClr val="tx1"/>
                </a:solidFill>
                <a:latin typeface="Arial" panose="020B0604020202020204" pitchFamily="34" charset="0"/>
              </a:defRPr>
            </a:lvl1pPr>
            <a:lvl2pPr marL="742950" indent="-285750" defTabSz="930275">
              <a:defRPr sz="3000">
                <a:solidFill>
                  <a:schemeClr val="tx1"/>
                </a:solidFill>
                <a:latin typeface="Arial" panose="020B0604020202020204" pitchFamily="34" charset="0"/>
              </a:defRPr>
            </a:lvl2pPr>
            <a:lvl3pPr marL="1143000" indent="-228600" defTabSz="930275">
              <a:defRPr sz="3000">
                <a:solidFill>
                  <a:schemeClr val="tx1"/>
                </a:solidFill>
                <a:latin typeface="Arial" panose="020B0604020202020204" pitchFamily="34" charset="0"/>
              </a:defRPr>
            </a:lvl3pPr>
            <a:lvl4pPr marL="1600200" indent="-228600" defTabSz="930275">
              <a:defRPr sz="3000">
                <a:solidFill>
                  <a:schemeClr val="tx1"/>
                </a:solidFill>
                <a:latin typeface="Arial" panose="020B0604020202020204" pitchFamily="34" charset="0"/>
              </a:defRPr>
            </a:lvl4pPr>
            <a:lvl5pPr marL="2057400" indent="-228600" defTabSz="930275">
              <a:defRPr sz="3000">
                <a:solidFill>
                  <a:schemeClr val="tx1"/>
                </a:solidFill>
                <a:latin typeface="Arial" panose="020B0604020202020204" pitchFamily="34" charset="0"/>
              </a:defRPr>
            </a:lvl5pPr>
            <a:lvl6pPr marL="2514600" indent="-228600" defTabSz="930275" eaLnBrk="0" fontAlgn="base" hangingPunct="0">
              <a:spcBef>
                <a:spcPct val="0"/>
              </a:spcBef>
              <a:spcAft>
                <a:spcPct val="0"/>
              </a:spcAft>
              <a:defRPr sz="3000">
                <a:solidFill>
                  <a:schemeClr val="tx1"/>
                </a:solidFill>
                <a:latin typeface="Arial" panose="020B0604020202020204" pitchFamily="34" charset="0"/>
              </a:defRPr>
            </a:lvl6pPr>
            <a:lvl7pPr marL="2971800" indent="-228600" defTabSz="930275" eaLnBrk="0" fontAlgn="base" hangingPunct="0">
              <a:spcBef>
                <a:spcPct val="0"/>
              </a:spcBef>
              <a:spcAft>
                <a:spcPct val="0"/>
              </a:spcAft>
              <a:defRPr sz="3000">
                <a:solidFill>
                  <a:schemeClr val="tx1"/>
                </a:solidFill>
                <a:latin typeface="Arial" panose="020B0604020202020204" pitchFamily="34" charset="0"/>
              </a:defRPr>
            </a:lvl7pPr>
            <a:lvl8pPr marL="3429000" indent="-228600" defTabSz="930275" eaLnBrk="0" fontAlgn="base" hangingPunct="0">
              <a:spcBef>
                <a:spcPct val="0"/>
              </a:spcBef>
              <a:spcAft>
                <a:spcPct val="0"/>
              </a:spcAft>
              <a:defRPr sz="3000">
                <a:solidFill>
                  <a:schemeClr val="tx1"/>
                </a:solidFill>
                <a:latin typeface="Arial" panose="020B0604020202020204" pitchFamily="34" charset="0"/>
              </a:defRPr>
            </a:lvl8pPr>
            <a:lvl9pPr marL="3886200" indent="-228600" defTabSz="930275" eaLnBrk="0" fontAlgn="base" hangingPunct="0">
              <a:spcBef>
                <a:spcPct val="0"/>
              </a:spcBef>
              <a:spcAft>
                <a:spcPct val="0"/>
              </a:spcAft>
              <a:defRPr sz="3000">
                <a:solidFill>
                  <a:schemeClr val="tx1"/>
                </a:solidFill>
                <a:latin typeface="Arial" panose="020B0604020202020204" pitchFamily="34" charset="0"/>
              </a:defRPr>
            </a:lvl9pPr>
          </a:lstStyle>
          <a:p>
            <a:fld id="{D7F2A1F0-2103-49A1-85E7-4E4B0C4D9801}" type="slidenum">
              <a:rPr lang="en-US" sz="1300" smtClean="0"/>
              <a:pPr/>
              <a:t>50</a:t>
            </a:fld>
            <a:endParaRPr lang="en-US" sz="1300" smtClean="0"/>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xfrm>
            <a:off x="931863" y="4410075"/>
            <a:ext cx="5133975" cy="4176713"/>
          </a:xfrm>
          <a:noFill/>
        </p:spPr>
        <p:txBody>
          <a:bodyPr/>
          <a:lstStyle/>
          <a:p>
            <a:pPr eaLnBrk="1" hangingPunct="1"/>
            <a:r>
              <a:rPr lang="en-US" smtClean="0"/>
              <a:t>Han and Kamber 2001</a:t>
            </a:r>
          </a:p>
        </p:txBody>
      </p:sp>
    </p:spTree>
    <p:extLst>
      <p:ext uri="{BB962C8B-B14F-4D97-AF65-F5344CB8AC3E}">
        <p14:creationId xmlns:p14="http://schemas.microsoft.com/office/powerpoint/2010/main" val="16717246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Date Placeholder 3"/>
          <p:cNvSpPr>
            <a:spLocks noGrp="1"/>
          </p:cNvSpPr>
          <p:nvPr>
            <p:ph type="dt" idx="10"/>
          </p:nvPr>
        </p:nvSpPr>
        <p:spPr/>
        <p:txBody>
          <a:bodyPr/>
          <a:lstStyle/>
          <a:p>
            <a:fld id="{3DD48EC6-2EA8-44EC-9DBA-2B29B883BF13}" type="datetime1">
              <a:rPr lang="en-IN" smtClean="0"/>
              <a:t>15-12-2025</a:t>
            </a:fld>
            <a:endParaRPr lang="en-IN"/>
          </a:p>
        </p:txBody>
      </p:sp>
      <p:sp>
        <p:nvSpPr>
          <p:cNvPr id="5" name="Footer Placeholder 4"/>
          <p:cNvSpPr>
            <a:spLocks noGrp="1"/>
          </p:cNvSpPr>
          <p:nvPr>
            <p:ph type="ftr" sz="quarter" idx="11"/>
          </p:nvPr>
        </p:nvSpPr>
        <p:spPr/>
        <p:txBody>
          <a:bodyPr/>
          <a:lstStyle/>
          <a:p>
            <a:r>
              <a:rPr lang="en-IN" smtClean="0"/>
              <a:t>Department of AI </a:t>
            </a:r>
            <a:endParaRPr lang="en-IN"/>
          </a:p>
        </p:txBody>
      </p:sp>
      <p:sp>
        <p:nvSpPr>
          <p:cNvPr id="6" name="Slide Number Placeholder 5"/>
          <p:cNvSpPr>
            <a:spLocks noGrp="1"/>
          </p:cNvSpPr>
          <p:nvPr>
            <p:ph type="sldNum" sz="quarter" idx="12"/>
          </p:nvPr>
        </p:nvSpPr>
        <p:spPr/>
        <p:txBody>
          <a:bodyPr/>
          <a:lstStyle/>
          <a:p>
            <a:fld id="{09A9C226-8DBD-480E-8A57-0B5870EF1509}" type="slidenum">
              <a:rPr lang="en-IN" smtClean="0"/>
              <a:pPr/>
              <a:t>71</a:t>
            </a:fld>
            <a:endParaRPr lang="en-IN"/>
          </a:p>
        </p:txBody>
      </p:sp>
    </p:spTree>
    <p:extLst>
      <p:ext uri="{BB962C8B-B14F-4D97-AF65-F5344CB8AC3E}">
        <p14:creationId xmlns:p14="http://schemas.microsoft.com/office/powerpoint/2010/main" val="38728915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263889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r>
              <a:rPr lang="en-IN" smtClean="0"/>
              <a:t>CS583, Bing Liu, UIC</a:t>
            </a:r>
            <a:endParaRPr lang="en-IN"/>
          </a:p>
        </p:txBody>
      </p:sp>
      <p:sp>
        <p:nvSpPr>
          <p:cNvPr id="6" name="Slide Number Placeholder 5"/>
          <p:cNvSpPr>
            <a:spLocks noGrp="1"/>
          </p:cNvSpPr>
          <p:nvPr>
            <p:ph type="sldNum" sz="quarter" idx="12"/>
          </p:nvPr>
        </p:nvSpPr>
        <p:spPr/>
        <p:txBody>
          <a:bodyPr/>
          <a:lstStyle/>
          <a:p>
            <a:fld id="{9DBE8DCE-DB3D-4555-BD71-2D06B4828518}" type="slidenum">
              <a:rPr lang="en-IN" smtClean="0"/>
              <a:pPr/>
              <a:t>‹#›</a:t>
            </a:fld>
            <a:endParaRPr lang="en-IN"/>
          </a:p>
        </p:txBody>
      </p:sp>
    </p:spTree>
    <p:extLst>
      <p:ext uri="{BB962C8B-B14F-4D97-AF65-F5344CB8AC3E}">
        <p14:creationId xmlns:p14="http://schemas.microsoft.com/office/powerpoint/2010/main" val="3834205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r>
              <a:rPr lang="en-IN" smtClean="0"/>
              <a:t>CS583, Bing Liu, UIC</a:t>
            </a:r>
            <a:endParaRPr lang="en-IN"/>
          </a:p>
        </p:txBody>
      </p:sp>
      <p:sp>
        <p:nvSpPr>
          <p:cNvPr id="6" name="Slide Number Placeholder 5"/>
          <p:cNvSpPr>
            <a:spLocks noGrp="1"/>
          </p:cNvSpPr>
          <p:nvPr>
            <p:ph type="sldNum" sz="quarter" idx="12"/>
          </p:nvPr>
        </p:nvSpPr>
        <p:spPr/>
        <p:txBody>
          <a:bodyPr/>
          <a:lstStyle/>
          <a:p>
            <a:fld id="{9DBE8DCE-DB3D-4555-BD71-2D06B4828518}" type="slidenum">
              <a:rPr lang="en-IN" smtClean="0"/>
              <a:pPr/>
              <a:t>‹#›</a:t>
            </a:fld>
            <a:endParaRPr lang="en-IN"/>
          </a:p>
        </p:txBody>
      </p:sp>
    </p:spTree>
    <p:extLst>
      <p:ext uri="{BB962C8B-B14F-4D97-AF65-F5344CB8AC3E}">
        <p14:creationId xmlns:p14="http://schemas.microsoft.com/office/powerpoint/2010/main" val="19658752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r>
              <a:rPr lang="en-IN" smtClean="0"/>
              <a:t>CS583, Bing Liu, UIC</a:t>
            </a:r>
            <a:endParaRPr lang="en-IN"/>
          </a:p>
        </p:txBody>
      </p:sp>
      <p:sp>
        <p:nvSpPr>
          <p:cNvPr id="7" name="Slide Number Placeholder 6"/>
          <p:cNvSpPr>
            <a:spLocks noGrp="1"/>
          </p:cNvSpPr>
          <p:nvPr>
            <p:ph type="sldNum" sz="quarter" idx="12"/>
          </p:nvPr>
        </p:nvSpPr>
        <p:spPr/>
        <p:txBody>
          <a:bodyPr/>
          <a:lstStyle/>
          <a:p>
            <a:fld id="{9DBE8DCE-DB3D-4555-BD71-2D06B4828518}" type="slidenum">
              <a:rPr lang="en-IN" smtClean="0"/>
              <a:pPr/>
              <a:t>‹#›</a:t>
            </a:fld>
            <a:endParaRPr lang="en-IN"/>
          </a:p>
        </p:txBody>
      </p:sp>
    </p:spTree>
    <p:extLst>
      <p:ext uri="{BB962C8B-B14F-4D97-AF65-F5344CB8AC3E}">
        <p14:creationId xmlns:p14="http://schemas.microsoft.com/office/powerpoint/2010/main" val="38162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r>
              <a:rPr lang="en-IN" smtClean="0"/>
              <a:t>CS583, Bing Liu, UIC</a:t>
            </a:r>
            <a:endParaRPr lang="en-IN"/>
          </a:p>
        </p:txBody>
      </p:sp>
      <p:sp>
        <p:nvSpPr>
          <p:cNvPr id="9" name="Slide Number Placeholder 8"/>
          <p:cNvSpPr>
            <a:spLocks noGrp="1"/>
          </p:cNvSpPr>
          <p:nvPr>
            <p:ph type="sldNum" sz="quarter" idx="12"/>
          </p:nvPr>
        </p:nvSpPr>
        <p:spPr/>
        <p:txBody>
          <a:bodyPr/>
          <a:lstStyle/>
          <a:p>
            <a:fld id="{9DBE8DCE-DB3D-4555-BD71-2D06B4828518}" type="slidenum">
              <a:rPr lang="en-IN" smtClean="0"/>
              <a:pPr/>
              <a:t>‹#›</a:t>
            </a:fld>
            <a:endParaRPr lang="en-IN"/>
          </a:p>
        </p:txBody>
      </p:sp>
    </p:spTree>
    <p:extLst>
      <p:ext uri="{BB962C8B-B14F-4D97-AF65-F5344CB8AC3E}">
        <p14:creationId xmlns:p14="http://schemas.microsoft.com/office/powerpoint/2010/main" val="415940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r>
              <a:rPr lang="en-IN" smtClean="0"/>
              <a:t>CS583, Bing Liu, UIC</a:t>
            </a:r>
            <a:endParaRPr lang="en-IN"/>
          </a:p>
        </p:txBody>
      </p:sp>
      <p:sp>
        <p:nvSpPr>
          <p:cNvPr id="5" name="Slide Number Placeholder 4"/>
          <p:cNvSpPr>
            <a:spLocks noGrp="1"/>
          </p:cNvSpPr>
          <p:nvPr>
            <p:ph type="sldNum" sz="quarter" idx="12"/>
          </p:nvPr>
        </p:nvSpPr>
        <p:spPr/>
        <p:txBody>
          <a:bodyPr/>
          <a:lstStyle/>
          <a:p>
            <a:fld id="{9DBE8DCE-DB3D-4555-BD71-2D06B4828518}" type="slidenum">
              <a:rPr lang="en-IN" smtClean="0"/>
              <a:pPr/>
              <a:t>‹#›</a:t>
            </a:fld>
            <a:endParaRPr lang="en-IN"/>
          </a:p>
        </p:txBody>
      </p:sp>
    </p:spTree>
    <p:extLst>
      <p:ext uri="{BB962C8B-B14F-4D97-AF65-F5344CB8AC3E}">
        <p14:creationId xmlns:p14="http://schemas.microsoft.com/office/powerpoint/2010/main" val="42688108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r>
              <a:rPr lang="en-IN" smtClean="0"/>
              <a:t>CS583, Bing Liu, UIC</a:t>
            </a:r>
            <a:endParaRPr lang="en-IN"/>
          </a:p>
        </p:txBody>
      </p:sp>
      <p:sp>
        <p:nvSpPr>
          <p:cNvPr id="4" name="Slide Number Placeholder 3"/>
          <p:cNvSpPr>
            <a:spLocks noGrp="1"/>
          </p:cNvSpPr>
          <p:nvPr>
            <p:ph type="sldNum" sz="quarter" idx="12"/>
          </p:nvPr>
        </p:nvSpPr>
        <p:spPr/>
        <p:txBody>
          <a:bodyPr/>
          <a:lstStyle/>
          <a:p>
            <a:fld id="{9DBE8DCE-DB3D-4555-BD71-2D06B4828518}" type="slidenum">
              <a:rPr lang="en-IN" smtClean="0"/>
              <a:pPr/>
              <a:t>‹#›</a:t>
            </a:fld>
            <a:endParaRPr lang="en-IN"/>
          </a:p>
        </p:txBody>
      </p:sp>
    </p:spTree>
    <p:extLst>
      <p:ext uri="{BB962C8B-B14F-4D97-AF65-F5344CB8AC3E}">
        <p14:creationId xmlns:p14="http://schemas.microsoft.com/office/powerpoint/2010/main" val="3319611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r>
              <a:rPr lang="en-IN" smtClean="0"/>
              <a:t>CS583, Bing Liu, UIC</a:t>
            </a:r>
            <a:endParaRPr lang="en-IN"/>
          </a:p>
        </p:txBody>
      </p:sp>
      <p:sp>
        <p:nvSpPr>
          <p:cNvPr id="7" name="Slide Number Placeholder 6"/>
          <p:cNvSpPr>
            <a:spLocks noGrp="1"/>
          </p:cNvSpPr>
          <p:nvPr>
            <p:ph type="sldNum" sz="quarter" idx="12"/>
          </p:nvPr>
        </p:nvSpPr>
        <p:spPr/>
        <p:txBody>
          <a:bodyPr/>
          <a:lstStyle/>
          <a:p>
            <a:fld id="{9DBE8DCE-DB3D-4555-BD71-2D06B4828518}" type="slidenum">
              <a:rPr lang="en-IN" smtClean="0"/>
              <a:pPr/>
              <a:t>‹#›</a:t>
            </a:fld>
            <a:endParaRPr lang="en-IN"/>
          </a:p>
        </p:txBody>
      </p:sp>
    </p:spTree>
    <p:extLst>
      <p:ext uri="{BB962C8B-B14F-4D97-AF65-F5344CB8AC3E}">
        <p14:creationId xmlns:p14="http://schemas.microsoft.com/office/powerpoint/2010/main" val="20590354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r>
              <a:rPr lang="en-IN" smtClean="0"/>
              <a:t>CS583, Bing Liu, UIC</a:t>
            </a:r>
            <a:endParaRPr lang="en-IN"/>
          </a:p>
        </p:txBody>
      </p:sp>
      <p:sp>
        <p:nvSpPr>
          <p:cNvPr id="7" name="Slide Number Placeholder 6"/>
          <p:cNvSpPr>
            <a:spLocks noGrp="1"/>
          </p:cNvSpPr>
          <p:nvPr>
            <p:ph type="sldNum" sz="quarter" idx="12"/>
          </p:nvPr>
        </p:nvSpPr>
        <p:spPr/>
        <p:txBody>
          <a:bodyPr/>
          <a:lstStyle/>
          <a:p>
            <a:fld id="{9DBE8DCE-DB3D-4555-BD71-2D06B4828518}" type="slidenum">
              <a:rPr lang="en-IN" smtClean="0"/>
              <a:pPr/>
              <a:t>‹#›</a:t>
            </a:fld>
            <a:endParaRPr lang="en-IN"/>
          </a:p>
        </p:txBody>
      </p:sp>
    </p:spTree>
    <p:extLst>
      <p:ext uri="{BB962C8B-B14F-4D97-AF65-F5344CB8AC3E}">
        <p14:creationId xmlns:p14="http://schemas.microsoft.com/office/powerpoint/2010/main" val="12056987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r>
              <a:rPr lang="en-IN" smtClean="0"/>
              <a:t>CS583, Bing Liu, UIC</a:t>
            </a:r>
            <a:endParaRPr lang="en-IN"/>
          </a:p>
        </p:txBody>
      </p:sp>
      <p:sp>
        <p:nvSpPr>
          <p:cNvPr id="6" name="Slide Number Placeholder 5"/>
          <p:cNvSpPr>
            <a:spLocks noGrp="1"/>
          </p:cNvSpPr>
          <p:nvPr>
            <p:ph type="sldNum" sz="quarter" idx="12"/>
          </p:nvPr>
        </p:nvSpPr>
        <p:spPr/>
        <p:txBody>
          <a:bodyPr/>
          <a:lstStyle/>
          <a:p>
            <a:fld id="{9DBE8DCE-DB3D-4555-BD71-2D06B4828518}" type="slidenum">
              <a:rPr lang="en-IN" smtClean="0"/>
              <a:pPr/>
              <a:t>‹#›</a:t>
            </a:fld>
            <a:endParaRPr lang="en-IN"/>
          </a:p>
        </p:txBody>
      </p:sp>
    </p:spTree>
    <p:extLst>
      <p:ext uri="{BB962C8B-B14F-4D97-AF65-F5344CB8AC3E}">
        <p14:creationId xmlns:p14="http://schemas.microsoft.com/office/powerpoint/2010/main" val="2434724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r>
              <a:rPr lang="en-IN" smtClean="0"/>
              <a:t>CS583, Bing Liu, UIC</a:t>
            </a:r>
            <a:endParaRPr lang="en-IN"/>
          </a:p>
        </p:txBody>
      </p:sp>
      <p:sp>
        <p:nvSpPr>
          <p:cNvPr id="6" name="Slide Number Placeholder 5"/>
          <p:cNvSpPr>
            <a:spLocks noGrp="1"/>
          </p:cNvSpPr>
          <p:nvPr>
            <p:ph type="sldNum" sz="quarter" idx="12"/>
          </p:nvPr>
        </p:nvSpPr>
        <p:spPr/>
        <p:txBody>
          <a:bodyPr/>
          <a:lstStyle/>
          <a:p>
            <a:fld id="{9DBE8DCE-DB3D-4555-BD71-2D06B4828518}" type="slidenum">
              <a:rPr lang="en-IN" smtClean="0"/>
              <a:pPr/>
              <a:t>‹#›</a:t>
            </a:fld>
            <a:endParaRPr lang="en-IN"/>
          </a:p>
        </p:txBody>
      </p:sp>
    </p:spTree>
    <p:extLst>
      <p:ext uri="{BB962C8B-B14F-4D97-AF65-F5344CB8AC3E}">
        <p14:creationId xmlns:p14="http://schemas.microsoft.com/office/powerpoint/2010/main" val="35584763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263889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smtClean="0"/>
              <a:t>Click to edit Master title style</a:t>
            </a:r>
            <a:endParaRPr lang="en-IN"/>
          </a:p>
        </p:txBody>
      </p:sp>
      <p:sp>
        <p:nvSpPr>
          <p:cNvPr id="3" name="Text Placeholder 2"/>
          <p:cNvSpPr>
            <a:spLocks noGrp="1"/>
          </p:cNvSpPr>
          <p:nvPr>
            <p:ph type="body" sz="half" idx="1"/>
          </p:nvPr>
        </p:nvSpPr>
        <p:spPr>
          <a:xfrm>
            <a:off x="609600" y="1600201"/>
            <a:ext cx="53848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97600" y="1600201"/>
            <a:ext cx="53848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Rectangle 5"/>
          <p:cNvSpPr>
            <a:spLocks noGrp="1" noChangeArrowheads="1"/>
          </p:cNvSpPr>
          <p:nvPr>
            <p:ph type="ftr" sz="quarter" idx="10"/>
          </p:nvPr>
        </p:nvSpPr>
        <p:spPr>
          <a:ln/>
        </p:spPr>
        <p:txBody>
          <a:bodyPr/>
          <a:lstStyle>
            <a:lvl1pPr>
              <a:defRPr/>
            </a:lvl1pPr>
          </a:lstStyle>
          <a:p>
            <a:pPr>
              <a:defRPr/>
            </a:pPr>
            <a:r>
              <a:rPr lang="en-US" altLang="en-US"/>
              <a:t>CS583, Bing Liu, UIC</a:t>
            </a:r>
          </a:p>
        </p:txBody>
      </p:sp>
      <p:sp>
        <p:nvSpPr>
          <p:cNvPr id="6" name="Rectangle 6"/>
          <p:cNvSpPr>
            <a:spLocks noGrp="1" noChangeArrowheads="1"/>
          </p:cNvSpPr>
          <p:nvPr>
            <p:ph type="sldNum" sz="quarter" idx="11"/>
          </p:nvPr>
        </p:nvSpPr>
        <p:spPr>
          <a:ln/>
        </p:spPr>
        <p:txBody>
          <a:bodyPr/>
          <a:lstStyle>
            <a:lvl1pPr>
              <a:defRPr/>
            </a:lvl1pPr>
          </a:lstStyle>
          <a:p>
            <a:pPr>
              <a:defRPr/>
            </a:pPr>
            <a:fld id="{AC6BFDFE-8970-4D14-AC2F-46296738EB55}" type="slidenum">
              <a:rPr lang="en-US" altLang="en-US"/>
              <a:pPr>
                <a:defRPr/>
              </a:pPr>
              <a:t>‹#›</a:t>
            </a:fld>
            <a:endParaRPr lang="en-US" altLang="en-US"/>
          </a:p>
        </p:txBody>
      </p:sp>
    </p:spTree>
    <p:extLst>
      <p:ext uri="{BB962C8B-B14F-4D97-AF65-F5344CB8AC3E}">
        <p14:creationId xmlns:p14="http://schemas.microsoft.com/office/powerpoint/2010/main" val="26963503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smtClean="0"/>
              <a:t>CS583, Bing Liu, UIC</a:t>
            </a:r>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BE8DCE-DB3D-4555-BD71-2D06B4828518}" type="slidenum">
              <a:rPr lang="en-IN" smtClean="0"/>
              <a:pPr/>
              <a:t>‹#›</a:t>
            </a:fld>
            <a:endParaRPr lang="en-IN"/>
          </a:p>
        </p:txBody>
      </p:sp>
    </p:spTree>
    <p:extLst>
      <p:ext uri="{BB962C8B-B14F-4D97-AF65-F5344CB8AC3E}">
        <p14:creationId xmlns:p14="http://schemas.microsoft.com/office/powerpoint/2010/main" val="28403272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49" r:id="rId12"/>
    <p:sldLayoutId id="2147483672"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7.wmf"/><Relationship Id="rId5" Type="http://schemas.openxmlformats.org/officeDocument/2006/relationships/oleObject" Target="../embeddings/oleObject2.bin"/><Relationship Id="rId4" Type="http://schemas.openxmlformats.org/officeDocument/2006/relationships/image" Target="../media/image6.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2822029" y="345377"/>
            <a:ext cx="5099662" cy="609969"/>
          </a:xfrm>
          <a:prstGeom prst="rect">
            <a:avLst/>
          </a:prstGeom>
        </p:spPr>
        <p:txBody>
          <a:bodyP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15000"/>
              </a:lnSpc>
              <a:spcBef>
                <a:spcPts val="0"/>
              </a:spcBef>
            </a:pPr>
            <a:endParaRPr lang="en-US" sz="4000" b="1" dirty="0">
              <a:solidFill>
                <a:schemeClr val="accent5"/>
              </a:solidFill>
              <a:latin typeface="+mn-lt"/>
              <a:ea typeface="+mn-ea"/>
              <a:cs typeface="+mn-cs"/>
            </a:endParaRPr>
          </a:p>
        </p:txBody>
      </p:sp>
      <p:sp>
        <p:nvSpPr>
          <p:cNvPr id="2" name="TextBox 1"/>
          <p:cNvSpPr txBox="1"/>
          <p:nvPr/>
        </p:nvSpPr>
        <p:spPr>
          <a:xfrm>
            <a:off x="1201604" y="2395685"/>
            <a:ext cx="9608024" cy="830997"/>
          </a:xfrm>
          <a:prstGeom prst="rect">
            <a:avLst/>
          </a:prstGeom>
          <a:noFill/>
        </p:spPr>
        <p:txBody>
          <a:bodyPr wrap="square" rtlCol="0">
            <a:spAutoFit/>
          </a:bodyPr>
          <a:lstStyle/>
          <a:p>
            <a:pPr algn="ctr"/>
            <a:r>
              <a:rPr lang="en-US" sz="4800" b="1" dirty="0" smtClean="0">
                <a:solidFill>
                  <a:schemeClr val="accent6"/>
                </a:solidFill>
              </a:rPr>
              <a:t>WEB DATA MINING</a:t>
            </a:r>
          </a:p>
        </p:txBody>
      </p:sp>
    </p:spTree>
    <p:extLst>
      <p:ext uri="{BB962C8B-B14F-4D97-AF65-F5344CB8AC3E}">
        <p14:creationId xmlns:p14="http://schemas.microsoft.com/office/powerpoint/2010/main" val="275927362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2822029" y="345377"/>
            <a:ext cx="5099662" cy="609969"/>
          </a:xfrm>
          <a:prstGeom prst="rect">
            <a:avLst/>
          </a:prstGeom>
        </p:spPr>
        <p:txBody>
          <a:bodyP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15000"/>
              </a:lnSpc>
              <a:spcBef>
                <a:spcPts val="0"/>
              </a:spcBef>
            </a:pPr>
            <a:endParaRPr lang="en-US" sz="4000" b="1" dirty="0">
              <a:solidFill>
                <a:schemeClr val="accent5"/>
              </a:solidFill>
              <a:latin typeface="+mn-lt"/>
              <a:ea typeface="+mn-ea"/>
              <a:cs typeface="+mn-cs"/>
            </a:endParaRPr>
          </a:p>
        </p:txBody>
      </p:sp>
      <p:sp>
        <p:nvSpPr>
          <p:cNvPr id="2" name="Rectangle 1"/>
          <p:cNvSpPr/>
          <p:nvPr/>
        </p:nvSpPr>
        <p:spPr>
          <a:xfrm>
            <a:off x="1192000" y="1723444"/>
            <a:ext cx="1383249" cy="923330"/>
          </a:xfrm>
          <a:prstGeom prst="rect">
            <a:avLst/>
          </a:prstGeom>
        </p:spPr>
        <p:txBody>
          <a:bodyPr wrap="square">
            <a:spAutoFit/>
          </a:bodyPr>
          <a:lstStyle/>
          <a:p>
            <a:endParaRPr lang="en-US" dirty="0" smtClean="0"/>
          </a:p>
          <a:p>
            <a:r>
              <a:rPr lang="en-IN" b="1" dirty="0">
                <a:solidFill>
                  <a:schemeClr val="accent4">
                    <a:lumMod val="75000"/>
                  </a:schemeClr>
                </a:solidFill>
              </a:rPr>
              <a:t>UNIT-I </a:t>
            </a:r>
            <a:r>
              <a:rPr lang="en-IN" b="1" dirty="0" smtClean="0">
                <a:solidFill>
                  <a:schemeClr val="accent4">
                    <a:lumMod val="75000"/>
                  </a:schemeClr>
                </a:solidFill>
              </a:rPr>
              <a:t>Contents</a:t>
            </a:r>
            <a:endParaRPr lang="en-IN" b="1" dirty="0">
              <a:solidFill>
                <a:schemeClr val="accent4">
                  <a:lumMod val="75000"/>
                </a:schemeClr>
              </a:solidFill>
            </a:endParaRPr>
          </a:p>
        </p:txBody>
      </p:sp>
      <p:sp>
        <p:nvSpPr>
          <p:cNvPr id="4" name="Rectangle 3"/>
          <p:cNvSpPr/>
          <p:nvPr/>
        </p:nvSpPr>
        <p:spPr>
          <a:xfrm>
            <a:off x="3048000" y="130661"/>
            <a:ext cx="6096000" cy="6596678"/>
          </a:xfrm>
          <a:prstGeom prst="rect">
            <a:avLst/>
          </a:prstGeom>
        </p:spPr>
        <p:txBody>
          <a:bodyPr>
            <a:spAutoFit/>
          </a:bodyPr>
          <a:lstStyle/>
          <a:p>
            <a:pPr fontAlgn="base">
              <a:buFont typeface="Arial" panose="020B0604020202020204" pitchFamily="34" charset="0"/>
              <a:buChar char="•"/>
            </a:pPr>
            <a:r>
              <a:rPr lang="en-US" sz="2800" dirty="0">
                <a:solidFill>
                  <a:srgbClr val="000000"/>
                </a:solidFill>
                <a:latin typeface="Calibri" panose="020F0502020204030204" pitchFamily="34" charset="0"/>
              </a:rPr>
              <a:t>The World Wide Web</a:t>
            </a:r>
            <a:endParaRPr lang="en-US" sz="2800" dirty="0">
              <a:solidFill>
                <a:srgbClr val="000000"/>
              </a:solidFill>
              <a:latin typeface="Arial" panose="020B0604020202020204" pitchFamily="34" charset="0"/>
            </a:endParaRPr>
          </a:p>
          <a:p>
            <a:pPr fontAlgn="base">
              <a:buFont typeface="Arial" panose="020B0604020202020204" pitchFamily="34" charset="0"/>
              <a:buChar char="•"/>
            </a:pPr>
            <a:r>
              <a:rPr lang="en-US" sz="2800" dirty="0">
                <a:solidFill>
                  <a:srgbClr val="000000"/>
                </a:solidFill>
                <a:latin typeface="Calibri" panose="020F0502020204030204" pitchFamily="34" charset="0"/>
              </a:rPr>
              <a:t>History of the Web and the Internet</a:t>
            </a:r>
            <a:endParaRPr lang="en-US" dirty="0">
              <a:solidFill>
                <a:srgbClr val="000000"/>
              </a:solidFill>
              <a:latin typeface="Arial" panose="020B0604020202020204" pitchFamily="34" charset="0"/>
            </a:endParaRPr>
          </a:p>
          <a:p>
            <a:pPr fontAlgn="base">
              <a:buFont typeface="Arial" panose="020B0604020202020204" pitchFamily="34" charset="0"/>
              <a:buChar char="•"/>
            </a:pPr>
            <a:r>
              <a:rPr lang="en-US" sz="2800" dirty="0">
                <a:solidFill>
                  <a:srgbClr val="000000"/>
                </a:solidFill>
                <a:latin typeface="Calibri" panose="020F0502020204030204" pitchFamily="34" charset="0"/>
              </a:rPr>
              <a:t>Data Mining</a:t>
            </a:r>
            <a:endParaRPr lang="en-US" sz="2800" dirty="0">
              <a:solidFill>
                <a:srgbClr val="000000"/>
              </a:solidFill>
              <a:latin typeface="Arial" panose="020B0604020202020204" pitchFamily="34" charset="0"/>
            </a:endParaRPr>
          </a:p>
          <a:p>
            <a:pPr fontAlgn="base">
              <a:spcBef>
                <a:spcPts val="1000"/>
              </a:spcBef>
              <a:buFont typeface="Arial" panose="020B0604020202020204" pitchFamily="34" charset="0"/>
              <a:buChar char="•"/>
            </a:pPr>
            <a:r>
              <a:rPr lang="en-US" sz="2800" dirty="0">
                <a:solidFill>
                  <a:srgbClr val="000000"/>
                </a:solidFill>
                <a:latin typeface="Calibri" panose="020F0502020204030204" pitchFamily="34" charset="0"/>
              </a:rPr>
              <a:t>Web Mining</a:t>
            </a:r>
            <a:endParaRPr lang="en-US" sz="2800" dirty="0">
              <a:solidFill>
                <a:srgbClr val="000000"/>
              </a:solidFill>
              <a:latin typeface="Arial" panose="020B0604020202020204" pitchFamily="34" charset="0"/>
            </a:endParaRPr>
          </a:p>
          <a:p>
            <a:pPr fontAlgn="base">
              <a:spcBef>
                <a:spcPts val="1000"/>
              </a:spcBef>
              <a:buFont typeface="Arial" panose="020B0604020202020204" pitchFamily="34" charset="0"/>
              <a:buChar char="•"/>
            </a:pPr>
            <a:r>
              <a:rPr lang="en-US" sz="2800" dirty="0">
                <a:solidFill>
                  <a:srgbClr val="000000"/>
                </a:solidFill>
                <a:latin typeface="Calibri" panose="020F0502020204030204" pitchFamily="34" charset="0"/>
              </a:rPr>
              <a:t>Basic concepts of Association Rules</a:t>
            </a:r>
            <a:endParaRPr lang="en-US" sz="2800" dirty="0">
              <a:solidFill>
                <a:srgbClr val="000000"/>
              </a:solidFill>
              <a:latin typeface="Arial" panose="020B0604020202020204" pitchFamily="34" charset="0"/>
            </a:endParaRPr>
          </a:p>
          <a:p>
            <a:pPr fontAlgn="base">
              <a:spcBef>
                <a:spcPts val="1000"/>
              </a:spcBef>
              <a:buFont typeface="Arial" panose="020B0604020202020204" pitchFamily="34" charset="0"/>
              <a:buChar char="•"/>
            </a:pPr>
            <a:r>
              <a:rPr lang="en-US" sz="2800" dirty="0" err="1">
                <a:solidFill>
                  <a:srgbClr val="000000"/>
                </a:solidFill>
                <a:latin typeface="Calibri" panose="020F0502020204030204" pitchFamily="34" charset="0"/>
              </a:rPr>
              <a:t>Apriori</a:t>
            </a:r>
            <a:r>
              <a:rPr lang="en-US" sz="2800" dirty="0">
                <a:solidFill>
                  <a:srgbClr val="000000"/>
                </a:solidFill>
                <a:latin typeface="Calibri" panose="020F0502020204030204" pitchFamily="34" charset="0"/>
              </a:rPr>
              <a:t> algorithm</a:t>
            </a:r>
            <a:endParaRPr lang="en-US" sz="2800" dirty="0">
              <a:solidFill>
                <a:srgbClr val="000000"/>
              </a:solidFill>
              <a:latin typeface="Arial" panose="020B0604020202020204" pitchFamily="34" charset="0"/>
            </a:endParaRPr>
          </a:p>
          <a:p>
            <a:pPr marL="742950" lvl="1" indent="-285750" fontAlgn="base">
              <a:spcBef>
                <a:spcPts val="500"/>
              </a:spcBef>
              <a:buFont typeface="Arial" panose="020B0604020202020204" pitchFamily="34" charset="0"/>
              <a:buChar char="•"/>
            </a:pPr>
            <a:r>
              <a:rPr lang="en-US" sz="2400" dirty="0">
                <a:solidFill>
                  <a:srgbClr val="000000"/>
                </a:solidFill>
                <a:latin typeface="Calibri" panose="020F0502020204030204" pitchFamily="34" charset="0"/>
              </a:rPr>
              <a:t>Frequent item set generation</a:t>
            </a:r>
            <a:endParaRPr lang="en-US" sz="2400" dirty="0">
              <a:solidFill>
                <a:srgbClr val="000000"/>
              </a:solidFill>
              <a:latin typeface="Arial" panose="020B0604020202020204" pitchFamily="34" charset="0"/>
            </a:endParaRPr>
          </a:p>
          <a:p>
            <a:pPr marL="742950" lvl="1" indent="-285750" fontAlgn="base">
              <a:spcBef>
                <a:spcPts val="500"/>
              </a:spcBef>
              <a:buFont typeface="Arial" panose="020B0604020202020204" pitchFamily="34" charset="0"/>
              <a:buChar char="•"/>
            </a:pPr>
            <a:r>
              <a:rPr lang="en-US" sz="2400" dirty="0">
                <a:solidFill>
                  <a:srgbClr val="000000"/>
                </a:solidFill>
                <a:latin typeface="Calibri" panose="020F0502020204030204" pitchFamily="34" charset="0"/>
              </a:rPr>
              <a:t>Association Rule Generation</a:t>
            </a:r>
            <a:endParaRPr lang="en-US" sz="2400" dirty="0">
              <a:solidFill>
                <a:srgbClr val="000000"/>
              </a:solidFill>
              <a:latin typeface="Arial" panose="020B0604020202020204" pitchFamily="34" charset="0"/>
            </a:endParaRPr>
          </a:p>
          <a:p>
            <a:pPr fontAlgn="base">
              <a:spcBef>
                <a:spcPts val="1000"/>
              </a:spcBef>
              <a:buFont typeface="Arial" panose="020B0604020202020204" pitchFamily="34" charset="0"/>
              <a:buChar char="•"/>
            </a:pPr>
            <a:r>
              <a:rPr lang="en-US" sz="2800" dirty="0">
                <a:solidFill>
                  <a:srgbClr val="000000"/>
                </a:solidFill>
                <a:latin typeface="Calibri" panose="020F0502020204030204" pitchFamily="34" charset="0"/>
              </a:rPr>
              <a:t>Different data formats for mining</a:t>
            </a:r>
            <a:endParaRPr lang="en-US" sz="2800" dirty="0">
              <a:solidFill>
                <a:srgbClr val="000000"/>
              </a:solidFill>
              <a:latin typeface="Arial" panose="020B0604020202020204" pitchFamily="34" charset="0"/>
            </a:endParaRPr>
          </a:p>
          <a:p>
            <a:pPr fontAlgn="base">
              <a:spcBef>
                <a:spcPts val="1000"/>
              </a:spcBef>
              <a:buFont typeface="Arial" panose="020B0604020202020204" pitchFamily="34" charset="0"/>
              <a:buChar char="•"/>
            </a:pPr>
            <a:r>
              <a:rPr lang="en-US" sz="2800" dirty="0">
                <a:solidFill>
                  <a:srgbClr val="000000"/>
                </a:solidFill>
                <a:latin typeface="Calibri" panose="020F0502020204030204" pitchFamily="34" charset="0"/>
              </a:rPr>
              <a:t>Mining with multiple minimum supports-Extended Model</a:t>
            </a:r>
            <a:endParaRPr lang="en-US" sz="2800" dirty="0">
              <a:solidFill>
                <a:srgbClr val="000000"/>
              </a:solidFill>
              <a:latin typeface="Arial" panose="020B0604020202020204" pitchFamily="34" charset="0"/>
            </a:endParaRPr>
          </a:p>
          <a:p>
            <a:pPr fontAlgn="base">
              <a:spcBef>
                <a:spcPts val="1000"/>
              </a:spcBef>
              <a:buFont typeface="Arial" panose="020B0604020202020204" pitchFamily="34" charset="0"/>
              <a:buChar char="•"/>
            </a:pPr>
            <a:r>
              <a:rPr lang="en-US" sz="2800" dirty="0">
                <a:solidFill>
                  <a:srgbClr val="000000"/>
                </a:solidFill>
                <a:latin typeface="Calibri" panose="020F0502020204030204" pitchFamily="34" charset="0"/>
              </a:rPr>
              <a:t>Mining Algorithm</a:t>
            </a:r>
            <a:endParaRPr lang="en-US" sz="2800" dirty="0">
              <a:solidFill>
                <a:srgbClr val="000000"/>
              </a:solidFill>
              <a:latin typeface="Arial" panose="020B0604020202020204" pitchFamily="34" charset="0"/>
            </a:endParaRPr>
          </a:p>
          <a:p>
            <a:pPr fontAlgn="base">
              <a:spcBef>
                <a:spcPts val="1000"/>
              </a:spcBef>
              <a:buFont typeface="Arial" panose="020B0604020202020204" pitchFamily="34" charset="0"/>
              <a:buChar char="•"/>
            </a:pPr>
            <a:r>
              <a:rPr lang="en-US" sz="2800" dirty="0">
                <a:solidFill>
                  <a:srgbClr val="000000"/>
                </a:solidFill>
                <a:latin typeface="Calibri" panose="020F0502020204030204" pitchFamily="34" charset="0"/>
              </a:rPr>
              <a:t>Rule Generation</a:t>
            </a:r>
            <a:endParaRPr lang="en-US" sz="2800" b="0" i="0" u="none" strike="noStrike"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223154845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2498130"/>
            <a:ext cx="10869018" cy="1181298"/>
          </a:xfrm>
          <a:prstGeom prst="rect">
            <a:avLst/>
          </a:prstGeom>
          <a:noFill/>
          <a:ln/>
        </p:spPr>
        <p:txBody>
          <a:bodyPr wrap="square" lIns="0" tIns="0" rIns="0" bIns="0" rtlCol="0" anchor="t"/>
          <a:lstStyle/>
          <a:p>
            <a:pPr>
              <a:lnSpc>
                <a:spcPts val="4625"/>
              </a:lnSpc>
            </a:pPr>
            <a:r>
              <a:rPr lang="en-US" sz="3708" b="1" dirty="0">
                <a:solidFill>
                  <a:srgbClr val="FF0000"/>
                </a:solidFill>
                <a:latin typeface="Arimo Bold" pitchFamily="34" charset="0"/>
                <a:ea typeface="Arimo Bold" pitchFamily="34" charset="-122"/>
                <a:cs typeface="Arimo Bold" pitchFamily="34" charset="-120"/>
              </a:rPr>
              <a:t>The World Wide Web: Connecting Our Digital World</a:t>
            </a:r>
            <a:endParaRPr lang="en-US" sz="3708" dirty="0"/>
          </a:p>
        </p:txBody>
      </p:sp>
      <p:sp>
        <p:nvSpPr>
          <p:cNvPr id="3" name="Text 1"/>
          <p:cNvSpPr/>
          <p:nvPr/>
        </p:nvSpPr>
        <p:spPr>
          <a:xfrm>
            <a:off x="661492" y="4057452"/>
            <a:ext cx="10869018" cy="302419"/>
          </a:xfrm>
          <a:prstGeom prst="rect">
            <a:avLst/>
          </a:prstGeom>
          <a:noFill/>
          <a:ln/>
        </p:spPr>
        <p:txBody>
          <a:bodyPr wrap="none" lIns="0" tIns="0" rIns="0" bIns="0" rtlCol="0" anchor="t"/>
          <a:lstStyle/>
          <a:p>
            <a:pPr>
              <a:lnSpc>
                <a:spcPts val="2375"/>
              </a:lnSpc>
            </a:pPr>
            <a:r>
              <a:rPr lang="en-US" sz="1458" dirty="0">
                <a:solidFill>
                  <a:srgbClr val="000000"/>
                </a:solidFill>
                <a:latin typeface="Arimo" pitchFamily="34" charset="0"/>
                <a:ea typeface="Arimo" pitchFamily="34" charset="-122"/>
                <a:cs typeface="Arimo" pitchFamily="34" charset="-120"/>
              </a:rPr>
              <a:t>Exploring the history, impact, and technology that transformed how we access and share information globally.</a:t>
            </a:r>
            <a:endParaRPr lang="en-US" sz="1458" dirty="0"/>
          </a:p>
        </p:txBody>
      </p:sp>
    </p:spTree>
    <p:extLst>
      <p:ext uri="{BB962C8B-B14F-4D97-AF65-F5344CB8AC3E}">
        <p14:creationId xmlns:p14="http://schemas.microsoft.com/office/powerpoint/2010/main" val="14189945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56853" y="1175657"/>
            <a:ext cx="5620644" cy="970383"/>
          </a:xfrm>
          <a:prstGeom prst="rect">
            <a:avLst/>
          </a:prstGeom>
          <a:noFill/>
          <a:ln/>
        </p:spPr>
        <p:txBody>
          <a:bodyPr wrap="none" lIns="0" tIns="0" rIns="0" bIns="0" rtlCol="0" anchor="t"/>
          <a:lstStyle/>
          <a:p>
            <a:pPr>
              <a:lnSpc>
                <a:spcPts val="3708"/>
              </a:lnSpc>
            </a:pPr>
            <a:r>
              <a:rPr lang="en-US" sz="3600" b="1" dirty="0" smtClean="0">
                <a:solidFill>
                  <a:srgbClr val="FF0000"/>
                </a:solidFill>
                <a:latin typeface="Arimo Bold" pitchFamily="34" charset="0"/>
                <a:ea typeface="Arimo Bold" pitchFamily="34" charset="-122"/>
                <a:cs typeface="Arimo Bold" pitchFamily="34" charset="-120"/>
              </a:rPr>
              <a:t>Introduction</a:t>
            </a:r>
            <a:endParaRPr lang="en-US" sz="3600" b="1" dirty="0">
              <a:solidFill>
                <a:srgbClr val="FF0000"/>
              </a:solidFill>
              <a:latin typeface="Arimo Bold" pitchFamily="34" charset="0"/>
              <a:ea typeface="Arimo Bold" pitchFamily="34" charset="-122"/>
              <a:cs typeface="Arimo Bold" pitchFamily="34" charset="-120"/>
            </a:endParaRPr>
          </a:p>
        </p:txBody>
      </p:sp>
      <p:sp>
        <p:nvSpPr>
          <p:cNvPr id="3" name="Shape 1"/>
          <p:cNvSpPr/>
          <p:nvPr/>
        </p:nvSpPr>
        <p:spPr>
          <a:xfrm>
            <a:off x="770659" y="2759126"/>
            <a:ext cx="3387798" cy="2220167"/>
          </a:xfrm>
          <a:prstGeom prst="roundRect">
            <a:avLst>
              <a:gd name="adj" fmla="val 2588"/>
            </a:avLst>
          </a:prstGeom>
          <a:solidFill>
            <a:srgbClr val="CCEAFF"/>
          </a:solidFill>
          <a:ln w="7620">
            <a:solidFill>
              <a:srgbClr val="B2D0E5"/>
            </a:solidFill>
            <a:prstDash val="solid"/>
          </a:ln>
        </p:spPr>
        <p:txBody>
          <a:bodyPr/>
          <a:lstStyle/>
          <a:p>
            <a:r>
              <a:rPr lang="en-US" sz="1500" dirty="0"/>
              <a:t>\</a:t>
            </a:r>
          </a:p>
          <a:p>
            <a:endParaRPr lang="en-IN" sz="1500" dirty="0"/>
          </a:p>
        </p:txBody>
      </p:sp>
      <p:sp>
        <p:nvSpPr>
          <p:cNvPr id="6" name="Text 3"/>
          <p:cNvSpPr/>
          <p:nvPr/>
        </p:nvSpPr>
        <p:spPr>
          <a:xfrm>
            <a:off x="856853" y="2863156"/>
            <a:ext cx="3083520" cy="295275"/>
          </a:xfrm>
          <a:prstGeom prst="rect">
            <a:avLst/>
          </a:prstGeom>
          <a:noFill/>
          <a:ln/>
        </p:spPr>
        <p:txBody>
          <a:bodyPr wrap="none" lIns="0" tIns="0" rIns="0" bIns="0" rtlCol="0" anchor="t"/>
          <a:lstStyle/>
          <a:p>
            <a:pPr>
              <a:lnSpc>
                <a:spcPts val="2292"/>
              </a:lnSpc>
            </a:pPr>
            <a:r>
              <a:rPr lang="en-US" sz="1833" b="1" dirty="0">
                <a:solidFill>
                  <a:srgbClr val="000000"/>
                </a:solidFill>
                <a:latin typeface="Arimo Bold" pitchFamily="34" charset="0"/>
                <a:ea typeface="Arimo Bold" pitchFamily="34" charset="-122"/>
                <a:cs typeface="Arimo Bold" pitchFamily="34" charset="-120"/>
              </a:rPr>
              <a:t>Largest Information Source</a:t>
            </a:r>
            <a:endParaRPr lang="en-US" sz="1833" dirty="0"/>
          </a:p>
        </p:txBody>
      </p:sp>
      <p:sp>
        <p:nvSpPr>
          <p:cNvPr id="7" name="Text 4"/>
          <p:cNvSpPr/>
          <p:nvPr/>
        </p:nvSpPr>
        <p:spPr>
          <a:xfrm>
            <a:off x="856853" y="3271838"/>
            <a:ext cx="3106242" cy="1512094"/>
          </a:xfrm>
          <a:prstGeom prst="rect">
            <a:avLst/>
          </a:prstGeom>
          <a:noFill/>
          <a:ln/>
        </p:spPr>
        <p:txBody>
          <a:bodyPr wrap="square" lIns="0" tIns="0" rIns="0" bIns="0" rtlCol="0" anchor="t"/>
          <a:lstStyle/>
          <a:p>
            <a:pPr>
              <a:lnSpc>
                <a:spcPts val="2375"/>
              </a:lnSpc>
            </a:pPr>
            <a:r>
              <a:rPr lang="en-US" sz="1458" dirty="0">
                <a:solidFill>
                  <a:srgbClr val="000000"/>
                </a:solidFill>
                <a:latin typeface="Arimo" pitchFamily="34" charset="0"/>
                <a:ea typeface="Arimo" pitchFamily="34" charset="-122"/>
                <a:cs typeface="Arimo" pitchFamily="34" charset="-120"/>
              </a:rPr>
              <a:t>The World Wide Web has become the biggest and most widely accessible information repository in human history, impacting nearly every aspect of our daily lives.</a:t>
            </a:r>
            <a:endParaRPr lang="en-US" sz="1458" dirty="0"/>
          </a:p>
        </p:txBody>
      </p:sp>
      <p:sp>
        <p:nvSpPr>
          <p:cNvPr id="8" name="Shape 5"/>
          <p:cNvSpPr/>
          <p:nvPr/>
        </p:nvSpPr>
        <p:spPr>
          <a:xfrm>
            <a:off x="4386857" y="2675659"/>
            <a:ext cx="3457577" cy="2303633"/>
          </a:xfrm>
          <a:prstGeom prst="roundRect">
            <a:avLst>
              <a:gd name="adj" fmla="val 2588"/>
            </a:avLst>
          </a:prstGeom>
          <a:solidFill>
            <a:srgbClr val="CCEAFF"/>
          </a:solidFill>
          <a:ln w="7620">
            <a:solidFill>
              <a:srgbClr val="B2D0E5"/>
            </a:solidFill>
            <a:prstDash val="solid"/>
          </a:ln>
        </p:spPr>
      </p:sp>
      <p:sp>
        <p:nvSpPr>
          <p:cNvPr id="11" name="Text 7"/>
          <p:cNvSpPr/>
          <p:nvPr/>
        </p:nvSpPr>
        <p:spPr>
          <a:xfrm>
            <a:off x="4542830" y="2863156"/>
            <a:ext cx="3044131" cy="295275"/>
          </a:xfrm>
          <a:prstGeom prst="rect">
            <a:avLst/>
          </a:prstGeom>
          <a:noFill/>
          <a:ln/>
        </p:spPr>
        <p:txBody>
          <a:bodyPr wrap="none" lIns="0" tIns="0" rIns="0" bIns="0" rtlCol="0" anchor="t"/>
          <a:lstStyle/>
          <a:p>
            <a:pPr>
              <a:lnSpc>
                <a:spcPts val="2292"/>
              </a:lnSpc>
            </a:pPr>
            <a:r>
              <a:rPr lang="en-US" sz="1833" b="1" dirty="0">
                <a:solidFill>
                  <a:srgbClr val="000000"/>
                </a:solidFill>
                <a:latin typeface="Arimo Bold" pitchFamily="34" charset="0"/>
                <a:ea typeface="Arimo Bold" pitchFamily="34" charset="-122"/>
                <a:cs typeface="Arimo Bold" pitchFamily="34" charset="-120"/>
              </a:rPr>
              <a:t>Interconnected Documents</a:t>
            </a:r>
            <a:endParaRPr lang="en-US" sz="1833" dirty="0"/>
          </a:p>
        </p:txBody>
      </p:sp>
      <p:sp>
        <p:nvSpPr>
          <p:cNvPr id="12" name="Text 8"/>
          <p:cNvSpPr/>
          <p:nvPr/>
        </p:nvSpPr>
        <p:spPr>
          <a:xfrm>
            <a:off x="4542830" y="3271838"/>
            <a:ext cx="3106242" cy="1512094"/>
          </a:xfrm>
          <a:prstGeom prst="rect">
            <a:avLst/>
          </a:prstGeom>
          <a:noFill/>
          <a:ln/>
        </p:spPr>
        <p:txBody>
          <a:bodyPr wrap="square" lIns="0" tIns="0" rIns="0" bIns="0" rtlCol="0" anchor="t"/>
          <a:lstStyle/>
          <a:p>
            <a:pPr>
              <a:lnSpc>
                <a:spcPts val="2375"/>
              </a:lnSpc>
            </a:pPr>
            <a:r>
              <a:rPr lang="en-US" sz="1458" dirty="0">
                <a:solidFill>
                  <a:srgbClr val="000000"/>
                </a:solidFill>
                <a:latin typeface="Arimo" pitchFamily="34" charset="0"/>
                <a:ea typeface="Arimo" pitchFamily="34" charset="-122"/>
                <a:cs typeface="Arimo" pitchFamily="34" charset="-120"/>
              </a:rPr>
              <a:t>The Web consists of billions of interconnected documents called web pages, authored by millions of people worldwide and linked through hyperlinks.</a:t>
            </a:r>
            <a:endParaRPr lang="en-US" sz="1458" dirty="0"/>
          </a:p>
        </p:txBody>
      </p:sp>
      <p:sp>
        <p:nvSpPr>
          <p:cNvPr id="13" name="Shape 9"/>
          <p:cNvSpPr/>
          <p:nvPr/>
        </p:nvSpPr>
        <p:spPr>
          <a:xfrm>
            <a:off x="8072834" y="2675659"/>
            <a:ext cx="3457575" cy="2303633"/>
          </a:xfrm>
          <a:prstGeom prst="roundRect">
            <a:avLst>
              <a:gd name="adj" fmla="val 2588"/>
            </a:avLst>
          </a:prstGeom>
          <a:solidFill>
            <a:srgbClr val="CCEAFF"/>
          </a:solidFill>
          <a:ln w="7620">
            <a:solidFill>
              <a:srgbClr val="B2D0E5"/>
            </a:solidFill>
            <a:prstDash val="solid"/>
          </a:ln>
        </p:spPr>
      </p:sp>
      <p:sp>
        <p:nvSpPr>
          <p:cNvPr id="16" name="Text 11"/>
          <p:cNvSpPr/>
          <p:nvPr/>
        </p:nvSpPr>
        <p:spPr>
          <a:xfrm>
            <a:off x="8228807" y="2863156"/>
            <a:ext cx="3106242" cy="590550"/>
          </a:xfrm>
          <a:prstGeom prst="rect">
            <a:avLst/>
          </a:prstGeom>
          <a:noFill/>
          <a:ln/>
        </p:spPr>
        <p:txBody>
          <a:bodyPr wrap="square" lIns="0" tIns="0" rIns="0" bIns="0" rtlCol="0" anchor="t"/>
          <a:lstStyle/>
          <a:p>
            <a:pPr>
              <a:lnSpc>
                <a:spcPts val="2292"/>
              </a:lnSpc>
            </a:pPr>
            <a:r>
              <a:rPr lang="en-US" sz="1833" b="1" dirty="0">
                <a:solidFill>
                  <a:srgbClr val="000000"/>
                </a:solidFill>
                <a:latin typeface="Arimo Bold" pitchFamily="34" charset="0"/>
                <a:ea typeface="Arimo Bold" pitchFamily="34" charset="-122"/>
                <a:cs typeface="Arimo Bold" pitchFamily="34" charset="-120"/>
              </a:rPr>
              <a:t>Information at Your Fingertips</a:t>
            </a:r>
            <a:endParaRPr lang="en-US" sz="1833" dirty="0"/>
          </a:p>
        </p:txBody>
      </p:sp>
      <p:sp>
        <p:nvSpPr>
          <p:cNvPr id="17" name="Text 12"/>
          <p:cNvSpPr/>
          <p:nvPr/>
        </p:nvSpPr>
        <p:spPr>
          <a:xfrm>
            <a:off x="8228807" y="3567113"/>
            <a:ext cx="3106242" cy="1209675"/>
          </a:xfrm>
          <a:prstGeom prst="rect">
            <a:avLst/>
          </a:prstGeom>
          <a:noFill/>
          <a:ln/>
        </p:spPr>
        <p:txBody>
          <a:bodyPr wrap="square" lIns="0" tIns="0" rIns="0" bIns="0" rtlCol="0" anchor="t"/>
          <a:lstStyle/>
          <a:p>
            <a:pPr>
              <a:lnSpc>
                <a:spcPts val="2375"/>
              </a:lnSpc>
            </a:pPr>
            <a:r>
              <a:rPr lang="en-US" sz="1458" dirty="0">
                <a:solidFill>
                  <a:srgbClr val="000000"/>
                </a:solidFill>
                <a:latin typeface="Arimo" pitchFamily="34" charset="0"/>
                <a:ea typeface="Arimo" pitchFamily="34" charset="-122"/>
                <a:cs typeface="Arimo" pitchFamily="34" charset="-120"/>
              </a:rPr>
              <a:t>Everything is just a few clicks away from your home or office—a dramatic shift from asking experts or searching through physical books.</a:t>
            </a:r>
            <a:endParaRPr lang="en-US" sz="1458" dirty="0"/>
          </a:p>
        </p:txBody>
      </p:sp>
      <p:sp>
        <p:nvSpPr>
          <p:cNvPr id="18" name="Text 13"/>
          <p:cNvSpPr/>
          <p:nvPr/>
        </p:nvSpPr>
        <p:spPr>
          <a:xfrm>
            <a:off x="661492" y="5191919"/>
            <a:ext cx="10869018" cy="604838"/>
          </a:xfrm>
          <a:prstGeom prst="rect">
            <a:avLst/>
          </a:prstGeom>
          <a:noFill/>
          <a:ln/>
        </p:spPr>
        <p:txBody>
          <a:bodyPr wrap="square" lIns="0" tIns="0" rIns="0" bIns="0" rtlCol="0" anchor="t"/>
          <a:lstStyle/>
          <a:p>
            <a:pPr>
              <a:lnSpc>
                <a:spcPts val="2375"/>
              </a:lnSpc>
            </a:pPr>
            <a:r>
              <a:rPr lang="en-US" sz="1458" dirty="0">
                <a:solidFill>
                  <a:srgbClr val="000000"/>
                </a:solidFill>
                <a:latin typeface="Arimo" pitchFamily="34" charset="0"/>
                <a:ea typeface="Arimo" pitchFamily="34" charset="-122"/>
                <a:cs typeface="Arimo" pitchFamily="34" charset="-120"/>
              </a:rPr>
              <a:t>Before the Web, finding information meant consulting friends, experts, or spending time in libraries. Today, knowledge is instantly accessible and easily shareable with others around the globe.</a:t>
            </a:r>
            <a:endParaRPr lang="en-US" sz="1458" dirty="0"/>
          </a:p>
        </p:txBody>
      </p:sp>
    </p:spTree>
    <p:extLst>
      <p:ext uri="{BB962C8B-B14F-4D97-AF65-F5344CB8AC3E}">
        <p14:creationId xmlns:p14="http://schemas.microsoft.com/office/powerpoint/2010/main" val="21423825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800037" y="1397740"/>
            <a:ext cx="7008614" cy="590649"/>
          </a:xfrm>
          <a:prstGeom prst="rect">
            <a:avLst/>
          </a:prstGeom>
          <a:noFill/>
          <a:ln/>
        </p:spPr>
        <p:txBody>
          <a:bodyPr wrap="none" lIns="0" tIns="0" rIns="0" bIns="0" rtlCol="0" anchor="t"/>
          <a:lstStyle/>
          <a:p>
            <a:pPr>
              <a:lnSpc>
                <a:spcPts val="4625"/>
              </a:lnSpc>
            </a:pPr>
            <a:r>
              <a:rPr lang="en-US" sz="3708" b="1" dirty="0">
                <a:solidFill>
                  <a:srgbClr val="FF0000"/>
                </a:solidFill>
                <a:latin typeface="Arimo Bold" pitchFamily="34" charset="0"/>
                <a:ea typeface="Arimo Bold" pitchFamily="34" charset="-122"/>
                <a:cs typeface="Arimo Bold" pitchFamily="34" charset="-120"/>
              </a:rPr>
              <a:t>The Web's Impact on Our Lives</a:t>
            </a:r>
            <a:endParaRPr lang="en-US" sz="3708" dirty="0"/>
          </a:p>
        </p:txBody>
      </p:sp>
      <p:sp>
        <p:nvSpPr>
          <p:cNvPr id="4" name="Text 1"/>
          <p:cNvSpPr/>
          <p:nvPr/>
        </p:nvSpPr>
        <p:spPr>
          <a:xfrm>
            <a:off x="673552" y="2178208"/>
            <a:ext cx="2493268" cy="295275"/>
          </a:xfrm>
          <a:prstGeom prst="rect">
            <a:avLst/>
          </a:prstGeom>
          <a:noFill/>
          <a:ln/>
        </p:spPr>
        <p:txBody>
          <a:bodyPr wrap="none" lIns="0" tIns="0" rIns="0" bIns="0" rtlCol="0" anchor="t"/>
          <a:lstStyle/>
          <a:p>
            <a:pPr>
              <a:lnSpc>
                <a:spcPts val="2292"/>
              </a:lnSpc>
            </a:pPr>
            <a:r>
              <a:rPr lang="en-US" sz="1833" b="1" dirty="0">
                <a:solidFill>
                  <a:srgbClr val="000000"/>
                </a:solidFill>
                <a:latin typeface="Arimo Bold" pitchFamily="34" charset="0"/>
                <a:ea typeface="Arimo Bold" pitchFamily="34" charset="-122"/>
                <a:cs typeface="Arimo Bold" pitchFamily="34" charset="-120"/>
              </a:rPr>
              <a:t>Information Discovery</a:t>
            </a:r>
            <a:endParaRPr lang="en-US" sz="1833" dirty="0"/>
          </a:p>
        </p:txBody>
      </p:sp>
      <p:sp>
        <p:nvSpPr>
          <p:cNvPr id="5" name="Text 2"/>
          <p:cNvSpPr/>
          <p:nvPr/>
        </p:nvSpPr>
        <p:spPr>
          <a:xfrm>
            <a:off x="661492" y="2646651"/>
            <a:ext cx="5316339" cy="604838"/>
          </a:xfrm>
          <a:prstGeom prst="rect">
            <a:avLst/>
          </a:prstGeom>
          <a:noFill/>
          <a:ln/>
        </p:spPr>
        <p:txBody>
          <a:bodyPr wrap="square" lIns="0" tIns="0" rIns="0" bIns="0" rtlCol="0" anchor="t"/>
          <a:lstStyle/>
          <a:p>
            <a:pPr>
              <a:lnSpc>
                <a:spcPts val="2375"/>
              </a:lnSpc>
            </a:pPr>
            <a:r>
              <a:rPr lang="en-US" sz="1458" dirty="0">
                <a:solidFill>
                  <a:srgbClr val="000000"/>
                </a:solidFill>
                <a:latin typeface="Arimo" pitchFamily="34" charset="0"/>
                <a:ea typeface="Arimo" pitchFamily="34" charset="-122"/>
                <a:cs typeface="Arimo" pitchFamily="34" charset="-120"/>
              </a:rPr>
              <a:t>Easily find and access the world's largest information source with powerful search capabilities.</a:t>
            </a:r>
            <a:endParaRPr lang="en-US" sz="1458" dirty="0"/>
          </a:p>
        </p:txBody>
      </p:sp>
      <p:sp>
        <p:nvSpPr>
          <p:cNvPr id="6" name="Text 3"/>
          <p:cNvSpPr/>
          <p:nvPr/>
        </p:nvSpPr>
        <p:spPr>
          <a:xfrm>
            <a:off x="6811548" y="2219325"/>
            <a:ext cx="2362696" cy="295275"/>
          </a:xfrm>
          <a:prstGeom prst="rect">
            <a:avLst/>
          </a:prstGeom>
          <a:noFill/>
          <a:ln/>
        </p:spPr>
        <p:txBody>
          <a:bodyPr wrap="none" lIns="0" tIns="0" rIns="0" bIns="0" rtlCol="0" anchor="t"/>
          <a:lstStyle/>
          <a:p>
            <a:pPr>
              <a:lnSpc>
                <a:spcPts val="2292"/>
              </a:lnSpc>
            </a:pPr>
            <a:r>
              <a:rPr lang="en-US" sz="1833" b="1" dirty="0">
                <a:solidFill>
                  <a:srgbClr val="000000"/>
                </a:solidFill>
                <a:latin typeface="Arimo Bold" pitchFamily="34" charset="0"/>
                <a:ea typeface="Arimo Bold" pitchFamily="34" charset="-122"/>
                <a:cs typeface="Arimo Bold" pitchFamily="34" charset="-120"/>
              </a:rPr>
              <a:t>Knowledge Sharing</a:t>
            </a:r>
            <a:endParaRPr lang="en-US" sz="1833" dirty="0"/>
          </a:p>
        </p:txBody>
      </p:sp>
      <p:sp>
        <p:nvSpPr>
          <p:cNvPr id="7" name="Text 4"/>
          <p:cNvSpPr/>
          <p:nvPr/>
        </p:nvSpPr>
        <p:spPr>
          <a:xfrm>
            <a:off x="6516024" y="2634529"/>
            <a:ext cx="5316438" cy="604838"/>
          </a:xfrm>
          <a:prstGeom prst="rect">
            <a:avLst/>
          </a:prstGeom>
          <a:noFill/>
          <a:ln/>
        </p:spPr>
        <p:txBody>
          <a:bodyPr wrap="square" lIns="0" tIns="0" rIns="0" bIns="0" rtlCol="0" anchor="t"/>
          <a:lstStyle/>
          <a:p>
            <a:pPr>
              <a:lnSpc>
                <a:spcPts val="2375"/>
              </a:lnSpc>
            </a:pPr>
            <a:r>
              <a:rPr lang="en-US" sz="1458" dirty="0">
                <a:solidFill>
                  <a:srgbClr val="000000"/>
                </a:solidFill>
                <a:latin typeface="Arimo" pitchFamily="34" charset="0"/>
                <a:ea typeface="Arimo" pitchFamily="34" charset="-122"/>
                <a:cs typeface="Arimo" pitchFamily="34" charset="-120"/>
              </a:rPr>
              <a:t>Share information and expertise with global audiences effortlessly through Web platforms.</a:t>
            </a:r>
            <a:endParaRPr lang="en-US" sz="1458" dirty="0"/>
          </a:p>
        </p:txBody>
      </p:sp>
      <p:sp>
        <p:nvSpPr>
          <p:cNvPr id="8" name="Text 5"/>
          <p:cNvSpPr/>
          <p:nvPr/>
        </p:nvSpPr>
        <p:spPr>
          <a:xfrm>
            <a:off x="738838" y="3645649"/>
            <a:ext cx="2362696" cy="295275"/>
          </a:xfrm>
          <a:prstGeom prst="rect">
            <a:avLst/>
          </a:prstGeom>
          <a:noFill/>
          <a:ln/>
        </p:spPr>
        <p:txBody>
          <a:bodyPr wrap="none" lIns="0" tIns="0" rIns="0" bIns="0" rtlCol="0" anchor="t"/>
          <a:lstStyle/>
          <a:p>
            <a:pPr>
              <a:lnSpc>
                <a:spcPts val="2292"/>
              </a:lnSpc>
            </a:pPr>
            <a:r>
              <a:rPr lang="en-US" sz="1833" b="1" dirty="0">
                <a:solidFill>
                  <a:srgbClr val="000000"/>
                </a:solidFill>
                <a:latin typeface="Arimo Bold" pitchFamily="34" charset="0"/>
                <a:ea typeface="Arimo Bold" pitchFamily="34" charset="-122"/>
                <a:cs typeface="Arimo Bold" pitchFamily="34" charset="-120"/>
              </a:rPr>
              <a:t>E-Commerce</a:t>
            </a:r>
            <a:endParaRPr lang="en-US" sz="1833" dirty="0"/>
          </a:p>
        </p:txBody>
      </p:sp>
      <p:sp>
        <p:nvSpPr>
          <p:cNvPr id="9" name="Text 6"/>
          <p:cNvSpPr/>
          <p:nvPr/>
        </p:nvSpPr>
        <p:spPr>
          <a:xfrm>
            <a:off x="661492" y="4164717"/>
            <a:ext cx="5316339" cy="604838"/>
          </a:xfrm>
          <a:prstGeom prst="rect">
            <a:avLst/>
          </a:prstGeom>
          <a:noFill/>
          <a:ln/>
        </p:spPr>
        <p:txBody>
          <a:bodyPr wrap="square" lIns="0" tIns="0" rIns="0" bIns="0" rtlCol="0" anchor="t"/>
          <a:lstStyle/>
          <a:p>
            <a:pPr>
              <a:lnSpc>
                <a:spcPts val="2375"/>
              </a:lnSpc>
            </a:pPr>
            <a:r>
              <a:rPr lang="en-US" sz="1458" dirty="0">
                <a:solidFill>
                  <a:srgbClr val="000000"/>
                </a:solidFill>
                <a:latin typeface="Arimo" pitchFamily="34" charset="0"/>
                <a:ea typeface="Arimo" pitchFamily="34" charset="-122"/>
                <a:cs typeface="Arimo" pitchFamily="34" charset="-120"/>
              </a:rPr>
              <a:t>Buy almost anything from online stores without visiting physical shops—convenience redefined.</a:t>
            </a:r>
            <a:endParaRPr lang="en-US" sz="1458" dirty="0"/>
          </a:p>
        </p:txBody>
      </p:sp>
      <p:sp>
        <p:nvSpPr>
          <p:cNvPr id="10" name="Text 7"/>
          <p:cNvSpPr/>
          <p:nvPr/>
        </p:nvSpPr>
        <p:spPr>
          <a:xfrm>
            <a:off x="6811548" y="3793287"/>
            <a:ext cx="2584549" cy="295275"/>
          </a:xfrm>
          <a:prstGeom prst="rect">
            <a:avLst/>
          </a:prstGeom>
          <a:noFill/>
          <a:ln/>
        </p:spPr>
        <p:txBody>
          <a:bodyPr wrap="none" lIns="0" tIns="0" rIns="0" bIns="0" rtlCol="0" anchor="t"/>
          <a:lstStyle/>
          <a:p>
            <a:pPr>
              <a:lnSpc>
                <a:spcPts val="2292"/>
              </a:lnSpc>
            </a:pPr>
            <a:r>
              <a:rPr lang="en-US" sz="1833" b="1" dirty="0">
                <a:solidFill>
                  <a:srgbClr val="000000"/>
                </a:solidFill>
                <a:latin typeface="Arimo Bold" pitchFamily="34" charset="0"/>
                <a:ea typeface="Arimo Bold" pitchFamily="34" charset="-122"/>
                <a:cs typeface="Arimo Bold" pitchFamily="34" charset="-120"/>
              </a:rPr>
              <a:t>Global Communication</a:t>
            </a:r>
            <a:endParaRPr lang="en-US" sz="1833" dirty="0"/>
          </a:p>
        </p:txBody>
      </p:sp>
      <p:sp>
        <p:nvSpPr>
          <p:cNvPr id="11" name="Text 8"/>
          <p:cNvSpPr/>
          <p:nvPr/>
        </p:nvSpPr>
        <p:spPr>
          <a:xfrm>
            <a:off x="6439207" y="4266506"/>
            <a:ext cx="5316438" cy="604838"/>
          </a:xfrm>
          <a:prstGeom prst="rect">
            <a:avLst/>
          </a:prstGeom>
          <a:noFill/>
          <a:ln/>
        </p:spPr>
        <p:txBody>
          <a:bodyPr wrap="square" lIns="0" tIns="0" rIns="0" bIns="0" rtlCol="0" anchor="t"/>
          <a:lstStyle/>
          <a:p>
            <a:pPr>
              <a:lnSpc>
                <a:spcPts val="2375"/>
              </a:lnSpc>
            </a:pPr>
            <a:r>
              <a:rPr lang="en-US" sz="1458" dirty="0">
                <a:solidFill>
                  <a:srgbClr val="000000"/>
                </a:solidFill>
                <a:latin typeface="Arimo" pitchFamily="34" charset="0"/>
                <a:ea typeface="Arimo" pitchFamily="34" charset="-122"/>
                <a:cs typeface="Arimo" pitchFamily="34" charset="-120"/>
              </a:rPr>
              <a:t>Express views, discuss ideas, and connect with people anywhere in the world instantly.</a:t>
            </a:r>
            <a:endParaRPr lang="en-US" sz="1458" dirty="0"/>
          </a:p>
        </p:txBody>
      </p:sp>
    </p:spTree>
    <p:extLst>
      <p:ext uri="{BB962C8B-B14F-4D97-AF65-F5344CB8AC3E}">
        <p14:creationId xmlns:p14="http://schemas.microsoft.com/office/powerpoint/2010/main" val="1423926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2072283"/>
            <a:ext cx="7238107" cy="590649"/>
          </a:xfrm>
          <a:prstGeom prst="rect">
            <a:avLst/>
          </a:prstGeom>
          <a:noFill/>
          <a:ln/>
        </p:spPr>
        <p:txBody>
          <a:bodyPr wrap="none" lIns="0" tIns="0" rIns="0" bIns="0" rtlCol="0" anchor="t"/>
          <a:lstStyle/>
          <a:p>
            <a:pPr>
              <a:lnSpc>
                <a:spcPts val="4625"/>
              </a:lnSpc>
            </a:pPr>
            <a:r>
              <a:rPr lang="en-US" sz="3708" b="1" dirty="0">
                <a:solidFill>
                  <a:srgbClr val="FF0000"/>
                </a:solidFill>
                <a:latin typeface="Arimo Bold" pitchFamily="34" charset="0"/>
                <a:ea typeface="Arimo Bold" pitchFamily="34" charset="-122"/>
                <a:cs typeface="Arimo Bold" pitchFamily="34" charset="-120"/>
              </a:rPr>
              <a:t>The Web as a Business Channel</a:t>
            </a:r>
            <a:endParaRPr lang="en-US" sz="3708" dirty="0"/>
          </a:p>
        </p:txBody>
      </p:sp>
      <p:sp>
        <p:nvSpPr>
          <p:cNvPr id="3" name="Shape 1"/>
          <p:cNvSpPr/>
          <p:nvPr/>
        </p:nvSpPr>
        <p:spPr>
          <a:xfrm>
            <a:off x="661492" y="3040956"/>
            <a:ext cx="3496965" cy="1744762"/>
          </a:xfrm>
          <a:prstGeom prst="roundRect">
            <a:avLst>
              <a:gd name="adj" fmla="val 6988"/>
            </a:avLst>
          </a:prstGeom>
          <a:solidFill>
            <a:srgbClr val="ECEDE8"/>
          </a:solidFill>
          <a:ln w="30480">
            <a:solidFill>
              <a:srgbClr val="0171C2"/>
            </a:solidFill>
            <a:prstDash val="solid"/>
          </a:ln>
        </p:spPr>
      </p:sp>
      <p:sp>
        <p:nvSpPr>
          <p:cNvPr id="4" name="Shape 2"/>
          <p:cNvSpPr/>
          <p:nvPr/>
        </p:nvSpPr>
        <p:spPr>
          <a:xfrm>
            <a:off x="636092" y="3040956"/>
            <a:ext cx="101600" cy="1744762"/>
          </a:xfrm>
          <a:prstGeom prst="roundRect">
            <a:avLst>
              <a:gd name="adj" fmla="val 78139"/>
            </a:avLst>
          </a:prstGeom>
          <a:solidFill>
            <a:srgbClr val="0171C2"/>
          </a:solidFill>
          <a:ln/>
        </p:spPr>
      </p:sp>
      <p:sp>
        <p:nvSpPr>
          <p:cNvPr id="5" name="Text 3"/>
          <p:cNvSpPr/>
          <p:nvPr/>
        </p:nvSpPr>
        <p:spPr>
          <a:xfrm>
            <a:off x="952104" y="3255368"/>
            <a:ext cx="2362696" cy="295275"/>
          </a:xfrm>
          <a:prstGeom prst="rect">
            <a:avLst/>
          </a:prstGeom>
          <a:noFill/>
          <a:ln/>
        </p:spPr>
        <p:txBody>
          <a:bodyPr wrap="none" lIns="0" tIns="0" rIns="0" bIns="0" rtlCol="0" anchor="t"/>
          <a:lstStyle/>
          <a:p>
            <a:pPr>
              <a:lnSpc>
                <a:spcPts val="2292"/>
              </a:lnSpc>
            </a:pPr>
            <a:r>
              <a:rPr lang="en-US" sz="1833" b="1" dirty="0">
                <a:solidFill>
                  <a:srgbClr val="000000"/>
                </a:solidFill>
                <a:latin typeface="Arimo Bold" pitchFamily="34" charset="0"/>
                <a:ea typeface="Arimo Bold" pitchFamily="34" charset="-122"/>
                <a:cs typeface="Arimo Bold" pitchFamily="34" charset="-120"/>
              </a:rPr>
              <a:t>Online Shopping</a:t>
            </a:r>
            <a:endParaRPr lang="en-US" sz="1833" dirty="0"/>
          </a:p>
        </p:txBody>
      </p:sp>
      <p:sp>
        <p:nvSpPr>
          <p:cNvPr id="6" name="Text 4"/>
          <p:cNvSpPr/>
          <p:nvPr/>
        </p:nvSpPr>
        <p:spPr>
          <a:xfrm>
            <a:off x="952103" y="3664049"/>
            <a:ext cx="2991942" cy="907257"/>
          </a:xfrm>
          <a:prstGeom prst="rect">
            <a:avLst/>
          </a:prstGeom>
          <a:noFill/>
          <a:ln/>
        </p:spPr>
        <p:txBody>
          <a:bodyPr wrap="square" lIns="0" tIns="0" rIns="0" bIns="0" rtlCol="0" anchor="t"/>
          <a:lstStyle/>
          <a:p>
            <a:pPr>
              <a:lnSpc>
                <a:spcPts val="2375"/>
              </a:lnSpc>
            </a:pPr>
            <a:r>
              <a:rPr lang="en-US" sz="1458" dirty="0">
                <a:solidFill>
                  <a:srgbClr val="000000"/>
                </a:solidFill>
                <a:latin typeface="Arimo" pitchFamily="34" charset="0"/>
                <a:ea typeface="Arimo" pitchFamily="34" charset="-122"/>
                <a:cs typeface="Arimo" pitchFamily="34" charset="-120"/>
              </a:rPr>
              <a:t>Purchase almost anything without visiting physical stores—from groceries to electronics.</a:t>
            </a:r>
            <a:endParaRPr lang="en-US" sz="1458" dirty="0"/>
          </a:p>
        </p:txBody>
      </p:sp>
      <p:sp>
        <p:nvSpPr>
          <p:cNvPr id="7" name="Shape 5"/>
          <p:cNvSpPr/>
          <p:nvPr/>
        </p:nvSpPr>
        <p:spPr>
          <a:xfrm>
            <a:off x="4347468" y="3040956"/>
            <a:ext cx="3496965" cy="1744762"/>
          </a:xfrm>
          <a:prstGeom prst="roundRect">
            <a:avLst>
              <a:gd name="adj" fmla="val 6988"/>
            </a:avLst>
          </a:prstGeom>
          <a:solidFill>
            <a:srgbClr val="ECEDE8"/>
          </a:solidFill>
          <a:ln w="30480">
            <a:solidFill>
              <a:srgbClr val="0171C2"/>
            </a:solidFill>
            <a:prstDash val="solid"/>
          </a:ln>
        </p:spPr>
      </p:sp>
      <p:sp>
        <p:nvSpPr>
          <p:cNvPr id="8" name="Shape 6"/>
          <p:cNvSpPr/>
          <p:nvPr/>
        </p:nvSpPr>
        <p:spPr>
          <a:xfrm>
            <a:off x="4322068" y="3040956"/>
            <a:ext cx="101600" cy="1744762"/>
          </a:xfrm>
          <a:prstGeom prst="roundRect">
            <a:avLst>
              <a:gd name="adj" fmla="val 78139"/>
            </a:avLst>
          </a:prstGeom>
          <a:solidFill>
            <a:srgbClr val="0171C2"/>
          </a:solidFill>
          <a:ln/>
        </p:spPr>
      </p:sp>
      <p:sp>
        <p:nvSpPr>
          <p:cNvPr id="9" name="Text 7"/>
          <p:cNvSpPr/>
          <p:nvPr/>
        </p:nvSpPr>
        <p:spPr>
          <a:xfrm>
            <a:off x="4638080" y="3255368"/>
            <a:ext cx="2362696" cy="295275"/>
          </a:xfrm>
          <a:prstGeom prst="rect">
            <a:avLst/>
          </a:prstGeom>
          <a:noFill/>
          <a:ln/>
        </p:spPr>
        <p:txBody>
          <a:bodyPr wrap="none" lIns="0" tIns="0" rIns="0" bIns="0" rtlCol="0" anchor="t"/>
          <a:lstStyle/>
          <a:p>
            <a:pPr>
              <a:lnSpc>
                <a:spcPts val="2292"/>
              </a:lnSpc>
            </a:pPr>
            <a:r>
              <a:rPr lang="en-US" sz="1833" b="1" dirty="0">
                <a:solidFill>
                  <a:srgbClr val="000000"/>
                </a:solidFill>
                <a:latin typeface="Arimo Bold" pitchFamily="34" charset="0"/>
                <a:ea typeface="Arimo Bold" pitchFamily="34" charset="-122"/>
                <a:cs typeface="Arimo Bold" pitchFamily="34" charset="-120"/>
              </a:rPr>
              <a:t>Digital Commerce</a:t>
            </a:r>
            <a:endParaRPr lang="en-US" sz="1833" dirty="0"/>
          </a:p>
        </p:txBody>
      </p:sp>
      <p:sp>
        <p:nvSpPr>
          <p:cNvPr id="10" name="Text 8"/>
          <p:cNvSpPr/>
          <p:nvPr/>
        </p:nvSpPr>
        <p:spPr>
          <a:xfrm>
            <a:off x="4638080" y="3664049"/>
            <a:ext cx="2991942" cy="907257"/>
          </a:xfrm>
          <a:prstGeom prst="rect">
            <a:avLst/>
          </a:prstGeom>
          <a:noFill/>
          <a:ln/>
        </p:spPr>
        <p:txBody>
          <a:bodyPr wrap="square" lIns="0" tIns="0" rIns="0" bIns="0" rtlCol="0" anchor="t"/>
          <a:lstStyle/>
          <a:p>
            <a:pPr>
              <a:lnSpc>
                <a:spcPts val="2375"/>
              </a:lnSpc>
            </a:pPr>
            <a:r>
              <a:rPr lang="en-US" sz="1458" dirty="0">
                <a:solidFill>
                  <a:srgbClr val="000000"/>
                </a:solidFill>
                <a:latin typeface="Arimo" pitchFamily="34" charset="0"/>
                <a:ea typeface="Arimo" pitchFamily="34" charset="-122"/>
                <a:cs typeface="Arimo" pitchFamily="34" charset="-120"/>
              </a:rPr>
              <a:t>The Web provides an important channel for conducting business transactions efficiently.</a:t>
            </a:r>
            <a:endParaRPr lang="en-US" sz="1458" dirty="0"/>
          </a:p>
        </p:txBody>
      </p:sp>
      <p:sp>
        <p:nvSpPr>
          <p:cNvPr id="11" name="Shape 9"/>
          <p:cNvSpPr/>
          <p:nvPr/>
        </p:nvSpPr>
        <p:spPr>
          <a:xfrm>
            <a:off x="8033444" y="3040956"/>
            <a:ext cx="3496965" cy="1744762"/>
          </a:xfrm>
          <a:prstGeom prst="roundRect">
            <a:avLst>
              <a:gd name="adj" fmla="val 6988"/>
            </a:avLst>
          </a:prstGeom>
          <a:solidFill>
            <a:srgbClr val="ECEDE8"/>
          </a:solidFill>
          <a:ln w="30480">
            <a:solidFill>
              <a:srgbClr val="0171C2"/>
            </a:solidFill>
            <a:prstDash val="solid"/>
          </a:ln>
        </p:spPr>
      </p:sp>
      <p:sp>
        <p:nvSpPr>
          <p:cNvPr id="12" name="Shape 10"/>
          <p:cNvSpPr/>
          <p:nvPr/>
        </p:nvSpPr>
        <p:spPr>
          <a:xfrm>
            <a:off x="8008044" y="3040956"/>
            <a:ext cx="101600" cy="1744762"/>
          </a:xfrm>
          <a:prstGeom prst="roundRect">
            <a:avLst>
              <a:gd name="adj" fmla="val 78139"/>
            </a:avLst>
          </a:prstGeom>
          <a:solidFill>
            <a:srgbClr val="0171C2"/>
          </a:solidFill>
          <a:ln/>
        </p:spPr>
      </p:sp>
      <p:sp>
        <p:nvSpPr>
          <p:cNvPr id="13" name="Text 11"/>
          <p:cNvSpPr/>
          <p:nvPr/>
        </p:nvSpPr>
        <p:spPr>
          <a:xfrm>
            <a:off x="8324057" y="3255368"/>
            <a:ext cx="2362696" cy="295275"/>
          </a:xfrm>
          <a:prstGeom prst="rect">
            <a:avLst/>
          </a:prstGeom>
          <a:noFill/>
          <a:ln/>
        </p:spPr>
        <p:txBody>
          <a:bodyPr wrap="none" lIns="0" tIns="0" rIns="0" bIns="0" rtlCol="0" anchor="t"/>
          <a:lstStyle/>
          <a:p>
            <a:pPr>
              <a:lnSpc>
                <a:spcPts val="2292"/>
              </a:lnSpc>
            </a:pPr>
            <a:r>
              <a:rPr lang="en-US" sz="1833" b="1" dirty="0">
                <a:solidFill>
                  <a:srgbClr val="000000"/>
                </a:solidFill>
                <a:latin typeface="Arimo Bold" pitchFamily="34" charset="0"/>
                <a:ea typeface="Arimo Bold" pitchFamily="34" charset="-122"/>
                <a:cs typeface="Arimo Bold" pitchFamily="34" charset="-120"/>
              </a:rPr>
              <a:t>Global Marketplace</a:t>
            </a:r>
            <a:endParaRPr lang="en-US" sz="1833" dirty="0"/>
          </a:p>
        </p:txBody>
      </p:sp>
      <p:sp>
        <p:nvSpPr>
          <p:cNvPr id="14" name="Text 12"/>
          <p:cNvSpPr/>
          <p:nvPr/>
        </p:nvSpPr>
        <p:spPr>
          <a:xfrm>
            <a:off x="8324057" y="3664049"/>
            <a:ext cx="2991942" cy="907257"/>
          </a:xfrm>
          <a:prstGeom prst="rect">
            <a:avLst/>
          </a:prstGeom>
          <a:noFill/>
          <a:ln/>
        </p:spPr>
        <p:txBody>
          <a:bodyPr wrap="square" lIns="0" tIns="0" rIns="0" bIns="0" rtlCol="0" anchor="t"/>
          <a:lstStyle/>
          <a:p>
            <a:pPr>
              <a:lnSpc>
                <a:spcPts val="2375"/>
              </a:lnSpc>
            </a:pPr>
            <a:r>
              <a:rPr lang="en-US" sz="1458" dirty="0">
                <a:solidFill>
                  <a:srgbClr val="000000"/>
                </a:solidFill>
                <a:latin typeface="Arimo" pitchFamily="34" charset="0"/>
                <a:ea typeface="Arimo" pitchFamily="34" charset="-122"/>
                <a:cs typeface="Arimo" pitchFamily="34" charset="-120"/>
              </a:rPr>
              <a:t>Connect buyers and sellers across borders, creating unprecedented business opportunities.</a:t>
            </a:r>
            <a:endParaRPr lang="en-US" sz="1458" dirty="0"/>
          </a:p>
        </p:txBody>
      </p:sp>
    </p:spTree>
    <p:extLst>
      <p:ext uri="{BB962C8B-B14F-4D97-AF65-F5344CB8AC3E}">
        <p14:creationId xmlns:p14="http://schemas.microsoft.com/office/powerpoint/2010/main" val="37313830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1980108"/>
            <a:ext cx="5315545" cy="472480"/>
          </a:xfrm>
          <a:prstGeom prst="rect">
            <a:avLst/>
          </a:prstGeom>
          <a:noFill/>
          <a:ln/>
        </p:spPr>
        <p:txBody>
          <a:bodyPr wrap="none" lIns="0" tIns="0" rIns="0" bIns="0" rtlCol="0" anchor="t"/>
          <a:lstStyle/>
          <a:p>
            <a:pPr>
              <a:lnSpc>
                <a:spcPts val="3708"/>
              </a:lnSpc>
            </a:pPr>
            <a:r>
              <a:rPr lang="en-US" sz="2958" b="1" dirty="0">
                <a:solidFill>
                  <a:srgbClr val="FF0000"/>
                </a:solidFill>
                <a:latin typeface="Arimo Bold" pitchFamily="34" charset="0"/>
                <a:ea typeface="Arimo Bold" pitchFamily="34" charset="-122"/>
                <a:cs typeface="Arimo Bold" pitchFamily="34" charset="-120"/>
              </a:rPr>
              <a:t>What is the World Wide Web?</a:t>
            </a:r>
            <a:endParaRPr lang="en-US" sz="2958" dirty="0"/>
          </a:p>
        </p:txBody>
      </p:sp>
      <p:sp>
        <p:nvSpPr>
          <p:cNvPr id="3" name="Shape 1"/>
          <p:cNvSpPr/>
          <p:nvPr/>
        </p:nvSpPr>
        <p:spPr>
          <a:xfrm>
            <a:off x="661492" y="2830612"/>
            <a:ext cx="5339953" cy="2047181"/>
          </a:xfrm>
          <a:prstGeom prst="roundRect">
            <a:avLst>
              <a:gd name="adj" fmla="val 5956"/>
            </a:avLst>
          </a:prstGeom>
          <a:solidFill>
            <a:srgbClr val="ECEDE8"/>
          </a:solidFill>
          <a:ln w="30480">
            <a:solidFill>
              <a:srgbClr val="B2D0E5"/>
            </a:solidFill>
            <a:prstDash val="solid"/>
          </a:ln>
        </p:spPr>
      </p:sp>
      <p:sp>
        <p:nvSpPr>
          <p:cNvPr id="4" name="Shape 2"/>
          <p:cNvSpPr/>
          <p:nvPr/>
        </p:nvSpPr>
        <p:spPr>
          <a:xfrm>
            <a:off x="636092" y="2830612"/>
            <a:ext cx="101600" cy="2047181"/>
          </a:xfrm>
          <a:prstGeom prst="roundRect">
            <a:avLst>
              <a:gd name="adj" fmla="val 78139"/>
            </a:avLst>
          </a:prstGeom>
          <a:solidFill>
            <a:srgbClr val="0171C2"/>
          </a:solidFill>
          <a:ln/>
        </p:spPr>
      </p:sp>
      <p:sp>
        <p:nvSpPr>
          <p:cNvPr id="5" name="Text 3"/>
          <p:cNvSpPr/>
          <p:nvPr/>
        </p:nvSpPr>
        <p:spPr>
          <a:xfrm>
            <a:off x="952104" y="3045023"/>
            <a:ext cx="2362696" cy="295275"/>
          </a:xfrm>
          <a:prstGeom prst="rect">
            <a:avLst/>
          </a:prstGeom>
          <a:noFill/>
          <a:ln/>
        </p:spPr>
        <p:txBody>
          <a:bodyPr wrap="none" lIns="0" tIns="0" rIns="0" bIns="0" rtlCol="0" anchor="t"/>
          <a:lstStyle/>
          <a:p>
            <a:pPr>
              <a:lnSpc>
                <a:spcPts val="2292"/>
              </a:lnSpc>
            </a:pPr>
            <a:r>
              <a:rPr lang="en-US" sz="1833" b="1" dirty="0">
                <a:solidFill>
                  <a:srgbClr val="000000"/>
                </a:solidFill>
                <a:latin typeface="Arimo Bold" pitchFamily="34" charset="0"/>
                <a:ea typeface="Arimo Bold" pitchFamily="34" charset="-122"/>
                <a:cs typeface="Arimo Bold" pitchFamily="34" charset="-120"/>
              </a:rPr>
              <a:t>Simple Definition</a:t>
            </a:r>
            <a:endParaRPr lang="en-US" sz="1833" dirty="0"/>
          </a:p>
        </p:txBody>
      </p:sp>
      <p:sp>
        <p:nvSpPr>
          <p:cNvPr id="6" name="Text 4"/>
          <p:cNvSpPr/>
          <p:nvPr/>
        </p:nvSpPr>
        <p:spPr>
          <a:xfrm>
            <a:off x="952103" y="3453706"/>
            <a:ext cx="4834930" cy="1209675"/>
          </a:xfrm>
          <a:prstGeom prst="rect">
            <a:avLst/>
          </a:prstGeom>
          <a:noFill/>
          <a:ln/>
        </p:spPr>
        <p:txBody>
          <a:bodyPr wrap="square" lIns="0" tIns="0" rIns="0" bIns="0" rtlCol="0" anchor="t"/>
          <a:lstStyle/>
          <a:p>
            <a:pPr>
              <a:lnSpc>
                <a:spcPts val="2375"/>
              </a:lnSpc>
            </a:pPr>
            <a:r>
              <a:rPr lang="en-US" sz="1458" dirty="0">
                <a:solidFill>
                  <a:srgbClr val="000000"/>
                </a:solidFill>
                <a:latin typeface="Arimo" pitchFamily="34" charset="0"/>
                <a:ea typeface="Arimo" pitchFamily="34" charset="-122"/>
                <a:cs typeface="Arimo" pitchFamily="34" charset="-120"/>
              </a:rPr>
              <a:t>The Web is an Internet-based computer network that allows users of one computer to access information stored on another through the worldwide network called the Internet.</a:t>
            </a:r>
            <a:endParaRPr lang="en-US" sz="1458" dirty="0"/>
          </a:p>
        </p:txBody>
      </p:sp>
      <p:sp>
        <p:nvSpPr>
          <p:cNvPr id="7" name="Shape 5"/>
          <p:cNvSpPr/>
          <p:nvPr/>
        </p:nvSpPr>
        <p:spPr>
          <a:xfrm>
            <a:off x="6190457" y="2830612"/>
            <a:ext cx="5340053" cy="2047181"/>
          </a:xfrm>
          <a:prstGeom prst="roundRect">
            <a:avLst>
              <a:gd name="adj" fmla="val 5956"/>
            </a:avLst>
          </a:prstGeom>
          <a:solidFill>
            <a:srgbClr val="ECEDE8"/>
          </a:solidFill>
          <a:ln w="30480">
            <a:solidFill>
              <a:srgbClr val="B2D0E5"/>
            </a:solidFill>
            <a:prstDash val="solid"/>
          </a:ln>
        </p:spPr>
      </p:sp>
      <p:sp>
        <p:nvSpPr>
          <p:cNvPr id="8" name="Shape 6"/>
          <p:cNvSpPr/>
          <p:nvPr/>
        </p:nvSpPr>
        <p:spPr>
          <a:xfrm>
            <a:off x="6165056" y="2830612"/>
            <a:ext cx="101600" cy="2047181"/>
          </a:xfrm>
          <a:prstGeom prst="roundRect">
            <a:avLst>
              <a:gd name="adj" fmla="val 78139"/>
            </a:avLst>
          </a:prstGeom>
          <a:solidFill>
            <a:srgbClr val="0171C2"/>
          </a:solidFill>
          <a:ln/>
        </p:spPr>
      </p:sp>
      <p:sp>
        <p:nvSpPr>
          <p:cNvPr id="9" name="Text 7"/>
          <p:cNvSpPr/>
          <p:nvPr/>
        </p:nvSpPr>
        <p:spPr>
          <a:xfrm>
            <a:off x="6481069" y="3045023"/>
            <a:ext cx="2362696" cy="295275"/>
          </a:xfrm>
          <a:prstGeom prst="rect">
            <a:avLst/>
          </a:prstGeom>
          <a:noFill/>
          <a:ln/>
        </p:spPr>
        <p:txBody>
          <a:bodyPr wrap="none" lIns="0" tIns="0" rIns="0" bIns="0" rtlCol="0" anchor="t"/>
          <a:lstStyle/>
          <a:p>
            <a:pPr>
              <a:lnSpc>
                <a:spcPts val="2292"/>
              </a:lnSpc>
            </a:pPr>
            <a:r>
              <a:rPr lang="en-US" sz="1833" b="1" dirty="0">
                <a:solidFill>
                  <a:srgbClr val="000000"/>
                </a:solidFill>
                <a:latin typeface="Arimo Bold" pitchFamily="34" charset="0"/>
                <a:ea typeface="Arimo Bold" pitchFamily="34" charset="-122"/>
                <a:cs typeface="Arimo Bold" pitchFamily="34" charset="-120"/>
              </a:rPr>
              <a:t>Official Definition</a:t>
            </a:r>
            <a:endParaRPr lang="en-US" sz="1833" dirty="0"/>
          </a:p>
        </p:txBody>
      </p:sp>
      <p:sp>
        <p:nvSpPr>
          <p:cNvPr id="10" name="Text 8"/>
          <p:cNvSpPr/>
          <p:nvPr/>
        </p:nvSpPr>
        <p:spPr>
          <a:xfrm>
            <a:off x="6481069" y="3453706"/>
            <a:ext cx="4835029" cy="1209675"/>
          </a:xfrm>
          <a:prstGeom prst="rect">
            <a:avLst/>
          </a:prstGeom>
          <a:noFill/>
          <a:ln/>
        </p:spPr>
        <p:txBody>
          <a:bodyPr wrap="square" lIns="0" tIns="0" rIns="0" bIns="0" rtlCol="0" anchor="t"/>
          <a:lstStyle/>
          <a:p>
            <a:pPr>
              <a:lnSpc>
                <a:spcPts val="2375"/>
              </a:lnSpc>
            </a:pPr>
            <a:r>
              <a:rPr lang="en-US" sz="1458" dirty="0">
                <a:solidFill>
                  <a:srgbClr val="000000"/>
                </a:solidFill>
                <a:latin typeface="Arimo" pitchFamily="34" charset="0"/>
                <a:ea typeface="Arimo" pitchFamily="34" charset="-122"/>
                <a:cs typeface="Arimo" pitchFamily="34" charset="-120"/>
              </a:rPr>
              <a:t>A wide-area hypermedia information retrieval initiative aiming to give universal access to a large universe of documents. Hypermedia means a nonlinear medium of information that includes text, images, audio, and video.</a:t>
            </a:r>
            <a:endParaRPr lang="en-US" sz="1458" dirty="0"/>
          </a:p>
        </p:txBody>
      </p:sp>
    </p:spTree>
    <p:extLst>
      <p:ext uri="{BB962C8B-B14F-4D97-AF65-F5344CB8AC3E}">
        <p14:creationId xmlns:p14="http://schemas.microsoft.com/office/powerpoint/2010/main" val="3827599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1935857"/>
            <a:ext cx="4725492" cy="590649"/>
          </a:xfrm>
          <a:prstGeom prst="rect">
            <a:avLst/>
          </a:prstGeom>
          <a:noFill/>
          <a:ln/>
        </p:spPr>
        <p:txBody>
          <a:bodyPr wrap="none" lIns="0" tIns="0" rIns="0" bIns="0" rtlCol="0" anchor="t"/>
          <a:lstStyle/>
          <a:p>
            <a:pPr>
              <a:lnSpc>
                <a:spcPts val="4625"/>
              </a:lnSpc>
            </a:pPr>
            <a:r>
              <a:rPr lang="en-US" sz="3708" b="1" dirty="0">
                <a:solidFill>
                  <a:srgbClr val="FF0000"/>
                </a:solidFill>
                <a:latin typeface="Arimo Bold" pitchFamily="34" charset="0"/>
                <a:ea typeface="Arimo Bold" pitchFamily="34" charset="-122"/>
                <a:cs typeface="Arimo Bold" pitchFamily="34" charset="-120"/>
              </a:rPr>
              <a:t>How the Web Works</a:t>
            </a:r>
            <a:endParaRPr lang="en-US" sz="3708" dirty="0"/>
          </a:p>
        </p:txBody>
      </p:sp>
      <p:sp>
        <p:nvSpPr>
          <p:cNvPr id="3" name="Text 1"/>
          <p:cNvSpPr/>
          <p:nvPr/>
        </p:nvSpPr>
        <p:spPr>
          <a:xfrm>
            <a:off x="661492" y="2998986"/>
            <a:ext cx="2835275" cy="354409"/>
          </a:xfrm>
          <a:prstGeom prst="rect">
            <a:avLst/>
          </a:prstGeom>
          <a:noFill/>
          <a:ln/>
        </p:spPr>
        <p:txBody>
          <a:bodyPr wrap="none" lIns="0" tIns="0" rIns="0" bIns="0" rtlCol="0" anchor="t"/>
          <a:lstStyle/>
          <a:p>
            <a:pPr>
              <a:lnSpc>
                <a:spcPts val="2750"/>
              </a:lnSpc>
            </a:pPr>
            <a:r>
              <a:rPr lang="en-US" sz="2208" b="1" dirty="0">
                <a:solidFill>
                  <a:srgbClr val="FF0000"/>
                </a:solidFill>
                <a:latin typeface="Arimo Bold" pitchFamily="34" charset="0"/>
                <a:ea typeface="Arimo Bold" pitchFamily="34" charset="-122"/>
                <a:cs typeface="Arimo Bold" pitchFamily="34" charset="-120"/>
              </a:rPr>
              <a:t>Client-Server Model</a:t>
            </a:r>
            <a:endParaRPr lang="en-US" sz="2208" dirty="0"/>
          </a:p>
        </p:txBody>
      </p:sp>
      <p:sp>
        <p:nvSpPr>
          <p:cNvPr id="4" name="Text 2"/>
          <p:cNvSpPr/>
          <p:nvPr/>
        </p:nvSpPr>
        <p:spPr>
          <a:xfrm>
            <a:off x="661492" y="3542407"/>
            <a:ext cx="5203924" cy="1209675"/>
          </a:xfrm>
          <a:prstGeom prst="rect">
            <a:avLst/>
          </a:prstGeom>
          <a:noFill/>
          <a:ln/>
        </p:spPr>
        <p:txBody>
          <a:bodyPr wrap="square" lIns="0" tIns="0" rIns="0" bIns="0" rtlCol="0" anchor="t"/>
          <a:lstStyle/>
          <a:p>
            <a:pPr>
              <a:lnSpc>
                <a:spcPts val="2375"/>
              </a:lnSpc>
            </a:pPr>
            <a:r>
              <a:rPr lang="en-US" sz="1458" dirty="0">
                <a:solidFill>
                  <a:srgbClr val="000000"/>
                </a:solidFill>
                <a:latin typeface="Arimo" pitchFamily="34" charset="0"/>
                <a:ea typeface="Arimo" pitchFamily="34" charset="-122"/>
                <a:cs typeface="Arimo" pitchFamily="34" charset="-120"/>
              </a:rPr>
              <a:t>Users rely on a </a:t>
            </a:r>
            <a:r>
              <a:rPr lang="en-US" sz="1458" b="1" dirty="0">
                <a:solidFill>
                  <a:srgbClr val="000000"/>
                </a:solidFill>
                <a:latin typeface="Arimo" pitchFamily="34" charset="0"/>
                <a:ea typeface="Arimo" pitchFamily="34" charset="-122"/>
                <a:cs typeface="Arimo" pitchFamily="34" charset="-120"/>
              </a:rPr>
              <a:t>browser</a:t>
            </a:r>
            <a:r>
              <a:rPr lang="en-US" sz="1458" dirty="0">
                <a:solidFill>
                  <a:srgbClr val="000000"/>
                </a:solidFill>
                <a:latin typeface="Arimo" pitchFamily="34" charset="0"/>
                <a:ea typeface="Arimo" pitchFamily="34" charset="-122"/>
                <a:cs typeface="Arimo" pitchFamily="34" charset="-120"/>
              </a:rPr>
              <a:t> (client program) to connect to remote servers where data is stored. Browsers send requests and interpret HTML documents, displaying text and graphics on your screen.</a:t>
            </a:r>
            <a:endParaRPr lang="en-US" sz="1458" dirty="0"/>
          </a:p>
        </p:txBody>
      </p:sp>
      <p:sp>
        <p:nvSpPr>
          <p:cNvPr id="5" name="Text 3"/>
          <p:cNvSpPr/>
          <p:nvPr/>
        </p:nvSpPr>
        <p:spPr>
          <a:xfrm>
            <a:off x="6332934" y="2998986"/>
            <a:ext cx="2929235" cy="354409"/>
          </a:xfrm>
          <a:prstGeom prst="rect">
            <a:avLst/>
          </a:prstGeom>
          <a:noFill/>
          <a:ln/>
        </p:spPr>
        <p:txBody>
          <a:bodyPr wrap="none" lIns="0" tIns="0" rIns="0" bIns="0" rtlCol="0" anchor="t"/>
          <a:lstStyle/>
          <a:p>
            <a:pPr>
              <a:lnSpc>
                <a:spcPts val="2750"/>
              </a:lnSpc>
            </a:pPr>
            <a:r>
              <a:rPr lang="en-US" sz="2208" b="1" dirty="0">
                <a:solidFill>
                  <a:srgbClr val="FF0000"/>
                </a:solidFill>
                <a:latin typeface="Arimo Bold" pitchFamily="34" charset="0"/>
                <a:ea typeface="Arimo Bold" pitchFamily="34" charset="-122"/>
                <a:cs typeface="Arimo Bold" pitchFamily="34" charset="-120"/>
              </a:rPr>
              <a:t>Hypertext Foundation</a:t>
            </a:r>
            <a:endParaRPr lang="en-US" sz="2208" dirty="0"/>
          </a:p>
        </p:txBody>
      </p:sp>
      <p:sp>
        <p:nvSpPr>
          <p:cNvPr id="6" name="Text 4"/>
          <p:cNvSpPr/>
          <p:nvPr/>
        </p:nvSpPr>
        <p:spPr>
          <a:xfrm>
            <a:off x="6332935" y="3542407"/>
            <a:ext cx="5203924" cy="1209675"/>
          </a:xfrm>
          <a:prstGeom prst="rect">
            <a:avLst/>
          </a:prstGeom>
          <a:noFill/>
          <a:ln/>
        </p:spPr>
        <p:txBody>
          <a:bodyPr wrap="square" lIns="0" tIns="0" rIns="0" bIns="0" rtlCol="0" anchor="t"/>
          <a:lstStyle/>
          <a:p>
            <a:pPr>
              <a:lnSpc>
                <a:spcPts val="2375"/>
              </a:lnSpc>
            </a:pPr>
            <a:r>
              <a:rPr lang="en-US" sz="1458" dirty="0">
                <a:solidFill>
                  <a:srgbClr val="000000"/>
                </a:solidFill>
                <a:latin typeface="Arimo" pitchFamily="34" charset="0"/>
                <a:ea typeface="Arimo" pitchFamily="34" charset="-122"/>
                <a:cs typeface="Arimo" pitchFamily="34" charset="-120"/>
              </a:rPr>
              <a:t>Web pages use </a:t>
            </a:r>
            <a:r>
              <a:rPr lang="en-US" sz="1458" b="1" dirty="0">
                <a:solidFill>
                  <a:srgbClr val="000000"/>
                </a:solidFill>
                <a:latin typeface="Arimo" pitchFamily="34" charset="0"/>
                <a:ea typeface="Arimo" pitchFamily="34" charset="-122"/>
                <a:cs typeface="Arimo" pitchFamily="34" charset="-120"/>
              </a:rPr>
              <a:t>hyperlinks</a:t>
            </a:r>
            <a:r>
              <a:rPr lang="en-US" sz="1458" dirty="0">
                <a:solidFill>
                  <a:srgbClr val="000000"/>
                </a:solidFill>
                <a:latin typeface="Arimo" pitchFamily="34" charset="0"/>
                <a:ea typeface="Arimo" pitchFamily="34" charset="-122"/>
                <a:cs typeface="Arimo" pitchFamily="34" charset="-120"/>
              </a:rPr>
              <a:t> to connect documents across the world. Invented by Ted Nelson in 1965, hypertext (and hypermedia) enables seamless navigation between related content.</a:t>
            </a:r>
            <a:endParaRPr lang="en-US" sz="1458" dirty="0"/>
          </a:p>
        </p:txBody>
      </p:sp>
    </p:spTree>
    <p:extLst>
      <p:ext uri="{BB962C8B-B14F-4D97-AF65-F5344CB8AC3E}">
        <p14:creationId xmlns:p14="http://schemas.microsoft.com/office/powerpoint/2010/main" val="1726372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796970"/>
            <a:ext cx="6182320" cy="425252"/>
          </a:xfrm>
          <a:prstGeom prst="rect">
            <a:avLst/>
          </a:prstGeom>
          <a:noFill/>
          <a:ln/>
        </p:spPr>
        <p:txBody>
          <a:bodyPr wrap="none" lIns="0" tIns="0" rIns="0" bIns="0" rtlCol="0" anchor="t"/>
          <a:lstStyle/>
          <a:p>
            <a:pPr>
              <a:lnSpc>
                <a:spcPts val="3333"/>
              </a:lnSpc>
            </a:pPr>
            <a:r>
              <a:rPr lang="en-US" sz="2667" b="1" dirty="0">
                <a:solidFill>
                  <a:srgbClr val="FF0000"/>
                </a:solidFill>
                <a:latin typeface="Arimo Bold" pitchFamily="34" charset="0"/>
                <a:ea typeface="Arimo Bold" pitchFamily="34" charset="-122"/>
                <a:cs typeface="Arimo Bold" pitchFamily="34" charset="-120"/>
              </a:rPr>
              <a:t>The Power of Hypertext &amp; Hypermedia</a:t>
            </a:r>
            <a:endParaRPr lang="en-US" sz="2667" dirty="0"/>
          </a:p>
        </p:txBody>
      </p:sp>
      <p:pic>
        <p:nvPicPr>
          <p:cNvPr id="3" name="Image 0" descr="preencoded.png"/>
          <p:cNvPicPr>
            <a:picLocks noChangeAspect="1"/>
          </p:cNvPicPr>
          <p:nvPr/>
        </p:nvPicPr>
        <p:blipFill>
          <a:blip r:embed="rId3"/>
          <a:stretch>
            <a:fillRect/>
          </a:stretch>
        </p:blipFill>
        <p:spPr>
          <a:xfrm>
            <a:off x="661492" y="1406922"/>
            <a:ext cx="2679403" cy="1717477"/>
          </a:xfrm>
          <a:prstGeom prst="rect">
            <a:avLst/>
          </a:prstGeom>
        </p:spPr>
      </p:pic>
      <p:sp>
        <p:nvSpPr>
          <p:cNvPr id="4" name="Text 1"/>
          <p:cNvSpPr/>
          <p:nvPr/>
        </p:nvSpPr>
        <p:spPr>
          <a:xfrm>
            <a:off x="5181402" y="1406922"/>
            <a:ext cx="170061" cy="212626"/>
          </a:xfrm>
          <a:prstGeom prst="rect">
            <a:avLst/>
          </a:prstGeom>
          <a:noFill/>
          <a:ln/>
        </p:spPr>
        <p:txBody>
          <a:bodyPr wrap="none" lIns="0" tIns="0" rIns="0" bIns="0" rtlCol="0" anchor="t"/>
          <a:lstStyle/>
          <a:p>
            <a:pPr>
              <a:lnSpc>
                <a:spcPts val="2125"/>
              </a:lnSpc>
            </a:pPr>
            <a:r>
              <a:rPr lang="en-US" sz="1333" dirty="0">
                <a:solidFill>
                  <a:srgbClr val="000000"/>
                </a:solidFill>
                <a:latin typeface="Arimo Light" pitchFamily="34" charset="0"/>
                <a:ea typeface="Arimo Light" pitchFamily="34" charset="-122"/>
                <a:cs typeface="Arimo Light" pitchFamily="34" charset="-120"/>
              </a:rPr>
              <a:t>01</a:t>
            </a:r>
            <a:endParaRPr lang="en-US" sz="1333" dirty="0"/>
          </a:p>
        </p:txBody>
      </p:sp>
      <p:sp>
        <p:nvSpPr>
          <p:cNvPr id="5" name="Shape 2"/>
          <p:cNvSpPr/>
          <p:nvPr/>
        </p:nvSpPr>
        <p:spPr>
          <a:xfrm>
            <a:off x="5181402" y="1676896"/>
            <a:ext cx="3092648" cy="19050"/>
          </a:xfrm>
          <a:prstGeom prst="rect">
            <a:avLst/>
          </a:prstGeom>
          <a:solidFill>
            <a:srgbClr val="0171C2"/>
          </a:solidFill>
          <a:ln/>
        </p:spPr>
      </p:sp>
      <p:sp>
        <p:nvSpPr>
          <p:cNvPr id="6" name="Text 3"/>
          <p:cNvSpPr/>
          <p:nvPr/>
        </p:nvSpPr>
        <p:spPr>
          <a:xfrm>
            <a:off x="5181402" y="1800027"/>
            <a:ext cx="2126457" cy="265708"/>
          </a:xfrm>
          <a:prstGeom prst="rect">
            <a:avLst/>
          </a:prstGeom>
          <a:noFill/>
          <a:ln/>
        </p:spPr>
        <p:txBody>
          <a:bodyPr wrap="none" lIns="0" tIns="0" rIns="0" bIns="0" rtlCol="0" anchor="t"/>
          <a:lstStyle/>
          <a:p>
            <a:pPr>
              <a:lnSpc>
                <a:spcPts val="2083"/>
              </a:lnSpc>
            </a:pPr>
            <a:r>
              <a:rPr lang="en-US" sz="1667" b="1" dirty="0">
                <a:solidFill>
                  <a:srgbClr val="000000"/>
                </a:solidFill>
                <a:latin typeface="Arimo Bold" pitchFamily="34" charset="0"/>
                <a:ea typeface="Arimo Bold" pitchFamily="34" charset="-122"/>
                <a:cs typeface="Arimo Bold" pitchFamily="34" charset="-120"/>
              </a:rPr>
              <a:t>Hypertext Structure</a:t>
            </a:r>
            <a:endParaRPr lang="en-US" sz="1667" dirty="0"/>
          </a:p>
        </p:txBody>
      </p:sp>
      <p:sp>
        <p:nvSpPr>
          <p:cNvPr id="7" name="Text 4"/>
          <p:cNvSpPr/>
          <p:nvPr/>
        </p:nvSpPr>
        <p:spPr>
          <a:xfrm>
            <a:off x="5181402" y="2235795"/>
            <a:ext cx="3092648" cy="1361282"/>
          </a:xfrm>
          <a:prstGeom prst="rect">
            <a:avLst/>
          </a:prstGeom>
          <a:noFill/>
          <a:ln/>
        </p:spPr>
        <p:txBody>
          <a:bodyPr wrap="square" lIns="0" tIns="0" rIns="0" bIns="0" rtlCol="0" anchor="t"/>
          <a:lstStyle/>
          <a:p>
            <a:pPr>
              <a:lnSpc>
                <a:spcPts val="2125"/>
              </a:lnSpc>
            </a:pPr>
            <a:r>
              <a:rPr lang="en-US" sz="1333" dirty="0">
                <a:solidFill>
                  <a:srgbClr val="000000"/>
                </a:solidFill>
                <a:latin typeface="Arimo" pitchFamily="34" charset="0"/>
                <a:ea typeface="Arimo" pitchFamily="34" charset="-122"/>
                <a:cs typeface="Arimo" pitchFamily="34" charset="-120"/>
              </a:rPr>
              <a:t>The Web's operation depends on the structure of hypertext documents that allow authors to link their content to related documents anywhere in the world.</a:t>
            </a:r>
            <a:endParaRPr lang="en-US" sz="1333" dirty="0"/>
          </a:p>
        </p:txBody>
      </p:sp>
      <p:sp>
        <p:nvSpPr>
          <p:cNvPr id="8" name="Text 5"/>
          <p:cNvSpPr/>
          <p:nvPr/>
        </p:nvSpPr>
        <p:spPr>
          <a:xfrm>
            <a:off x="8444111" y="1406922"/>
            <a:ext cx="170061" cy="212626"/>
          </a:xfrm>
          <a:prstGeom prst="rect">
            <a:avLst/>
          </a:prstGeom>
          <a:noFill/>
          <a:ln/>
        </p:spPr>
        <p:txBody>
          <a:bodyPr wrap="none" lIns="0" tIns="0" rIns="0" bIns="0" rtlCol="0" anchor="t"/>
          <a:lstStyle/>
          <a:p>
            <a:pPr>
              <a:lnSpc>
                <a:spcPts val="2125"/>
              </a:lnSpc>
            </a:pPr>
            <a:r>
              <a:rPr lang="en-US" sz="1333" dirty="0">
                <a:solidFill>
                  <a:srgbClr val="000000"/>
                </a:solidFill>
                <a:latin typeface="Arimo Light" pitchFamily="34" charset="0"/>
                <a:ea typeface="Arimo Light" pitchFamily="34" charset="-122"/>
                <a:cs typeface="Arimo Light" pitchFamily="34" charset="-120"/>
              </a:rPr>
              <a:t>02</a:t>
            </a:r>
            <a:endParaRPr lang="en-US" sz="1333" dirty="0"/>
          </a:p>
        </p:txBody>
      </p:sp>
      <p:sp>
        <p:nvSpPr>
          <p:cNvPr id="9" name="Shape 6"/>
          <p:cNvSpPr/>
          <p:nvPr/>
        </p:nvSpPr>
        <p:spPr>
          <a:xfrm>
            <a:off x="8444111" y="1676896"/>
            <a:ext cx="3092648" cy="19050"/>
          </a:xfrm>
          <a:prstGeom prst="rect">
            <a:avLst/>
          </a:prstGeom>
          <a:solidFill>
            <a:srgbClr val="0171C2"/>
          </a:solidFill>
          <a:ln/>
        </p:spPr>
      </p:sp>
      <p:sp>
        <p:nvSpPr>
          <p:cNvPr id="10" name="Text 7"/>
          <p:cNvSpPr/>
          <p:nvPr/>
        </p:nvSpPr>
        <p:spPr>
          <a:xfrm>
            <a:off x="8444111" y="1800027"/>
            <a:ext cx="2137370" cy="265708"/>
          </a:xfrm>
          <a:prstGeom prst="rect">
            <a:avLst/>
          </a:prstGeom>
          <a:noFill/>
          <a:ln/>
        </p:spPr>
        <p:txBody>
          <a:bodyPr wrap="none" lIns="0" tIns="0" rIns="0" bIns="0" rtlCol="0" anchor="t"/>
          <a:lstStyle/>
          <a:p>
            <a:pPr>
              <a:lnSpc>
                <a:spcPts val="2083"/>
              </a:lnSpc>
            </a:pPr>
            <a:r>
              <a:rPr lang="en-US" sz="1667" b="1" dirty="0">
                <a:solidFill>
                  <a:srgbClr val="000000"/>
                </a:solidFill>
                <a:latin typeface="Arimo Bold" pitchFamily="34" charset="0"/>
                <a:ea typeface="Arimo Bold" pitchFamily="34" charset="-122"/>
                <a:cs typeface="Arimo Bold" pitchFamily="34" charset="-120"/>
              </a:rPr>
              <a:t>Following Hyperlinks</a:t>
            </a:r>
            <a:endParaRPr lang="en-US" sz="1667" dirty="0"/>
          </a:p>
        </p:txBody>
      </p:sp>
      <p:sp>
        <p:nvSpPr>
          <p:cNvPr id="11" name="Text 8"/>
          <p:cNvSpPr/>
          <p:nvPr/>
        </p:nvSpPr>
        <p:spPr>
          <a:xfrm>
            <a:off x="8444111" y="2235795"/>
            <a:ext cx="3092648" cy="1089025"/>
          </a:xfrm>
          <a:prstGeom prst="rect">
            <a:avLst/>
          </a:prstGeom>
          <a:noFill/>
          <a:ln/>
        </p:spPr>
        <p:txBody>
          <a:bodyPr wrap="square" lIns="0" tIns="0" rIns="0" bIns="0" rtlCol="0" anchor="t"/>
          <a:lstStyle/>
          <a:p>
            <a:pPr>
              <a:lnSpc>
                <a:spcPts val="2125"/>
              </a:lnSpc>
            </a:pPr>
            <a:r>
              <a:rPr lang="en-US" sz="1333" dirty="0">
                <a:solidFill>
                  <a:srgbClr val="000000"/>
                </a:solidFill>
                <a:latin typeface="Arimo" pitchFamily="34" charset="0"/>
                <a:ea typeface="Arimo" pitchFamily="34" charset="-122"/>
                <a:cs typeface="Arimo" pitchFamily="34" charset="-120"/>
              </a:rPr>
              <a:t>Users simply follow hyperlinks to view connected documents across different computers globally—making navigation seamless.</a:t>
            </a:r>
            <a:endParaRPr lang="en-US" sz="1333" dirty="0"/>
          </a:p>
        </p:txBody>
      </p:sp>
      <p:sp>
        <p:nvSpPr>
          <p:cNvPr id="12" name="Text 9"/>
          <p:cNvSpPr/>
          <p:nvPr/>
        </p:nvSpPr>
        <p:spPr>
          <a:xfrm>
            <a:off x="5181402" y="3894634"/>
            <a:ext cx="170061" cy="212626"/>
          </a:xfrm>
          <a:prstGeom prst="rect">
            <a:avLst/>
          </a:prstGeom>
          <a:noFill/>
          <a:ln/>
        </p:spPr>
        <p:txBody>
          <a:bodyPr wrap="none" lIns="0" tIns="0" rIns="0" bIns="0" rtlCol="0" anchor="t"/>
          <a:lstStyle/>
          <a:p>
            <a:pPr>
              <a:lnSpc>
                <a:spcPts val="2125"/>
              </a:lnSpc>
            </a:pPr>
            <a:r>
              <a:rPr lang="en-US" sz="1333" dirty="0">
                <a:solidFill>
                  <a:srgbClr val="000000"/>
                </a:solidFill>
                <a:latin typeface="Arimo Light" pitchFamily="34" charset="0"/>
                <a:ea typeface="Arimo Light" pitchFamily="34" charset="-122"/>
                <a:cs typeface="Arimo Light" pitchFamily="34" charset="-120"/>
              </a:rPr>
              <a:t>03</a:t>
            </a:r>
            <a:endParaRPr lang="en-US" sz="1333" dirty="0"/>
          </a:p>
        </p:txBody>
      </p:sp>
      <p:sp>
        <p:nvSpPr>
          <p:cNvPr id="13" name="Shape 10"/>
          <p:cNvSpPr/>
          <p:nvPr/>
        </p:nvSpPr>
        <p:spPr>
          <a:xfrm>
            <a:off x="5181402" y="4164608"/>
            <a:ext cx="6355358" cy="19050"/>
          </a:xfrm>
          <a:prstGeom prst="rect">
            <a:avLst/>
          </a:prstGeom>
          <a:solidFill>
            <a:srgbClr val="0171C2"/>
          </a:solidFill>
          <a:ln/>
        </p:spPr>
      </p:sp>
      <p:sp>
        <p:nvSpPr>
          <p:cNvPr id="14" name="Text 11"/>
          <p:cNvSpPr/>
          <p:nvPr/>
        </p:nvSpPr>
        <p:spPr>
          <a:xfrm>
            <a:off x="5181402" y="4287739"/>
            <a:ext cx="2243832" cy="265708"/>
          </a:xfrm>
          <a:prstGeom prst="rect">
            <a:avLst/>
          </a:prstGeom>
          <a:noFill/>
          <a:ln/>
        </p:spPr>
        <p:txBody>
          <a:bodyPr wrap="none" lIns="0" tIns="0" rIns="0" bIns="0" rtlCol="0" anchor="t"/>
          <a:lstStyle/>
          <a:p>
            <a:pPr>
              <a:lnSpc>
                <a:spcPts val="2083"/>
              </a:lnSpc>
            </a:pPr>
            <a:r>
              <a:rPr lang="en-US" sz="1667" b="1" dirty="0">
                <a:solidFill>
                  <a:srgbClr val="000000"/>
                </a:solidFill>
                <a:latin typeface="Arimo Bold" pitchFamily="34" charset="0"/>
                <a:ea typeface="Arimo Bold" pitchFamily="34" charset="-122"/>
                <a:cs typeface="Arimo Bold" pitchFamily="34" charset="-120"/>
              </a:rPr>
              <a:t>Hypermedia Evolution</a:t>
            </a:r>
            <a:endParaRPr lang="en-US" sz="1667" dirty="0"/>
          </a:p>
        </p:txBody>
      </p:sp>
      <p:sp>
        <p:nvSpPr>
          <p:cNvPr id="15" name="Text 12"/>
          <p:cNvSpPr/>
          <p:nvPr/>
        </p:nvSpPr>
        <p:spPr>
          <a:xfrm>
            <a:off x="5181402" y="4723507"/>
            <a:ext cx="6355358" cy="544513"/>
          </a:xfrm>
          <a:prstGeom prst="rect">
            <a:avLst/>
          </a:prstGeom>
          <a:noFill/>
          <a:ln/>
        </p:spPr>
        <p:txBody>
          <a:bodyPr wrap="square" lIns="0" tIns="0" rIns="0" bIns="0" rtlCol="0" anchor="t"/>
          <a:lstStyle/>
          <a:p>
            <a:pPr>
              <a:lnSpc>
                <a:spcPts val="2125"/>
              </a:lnSpc>
            </a:pPr>
            <a:r>
              <a:rPr lang="en-US" sz="1333" dirty="0">
                <a:solidFill>
                  <a:srgbClr val="000000"/>
                </a:solidFill>
                <a:latin typeface="Arimo" pitchFamily="34" charset="0"/>
                <a:ea typeface="Arimo" pitchFamily="34" charset="-122"/>
                <a:cs typeface="Arimo" pitchFamily="34" charset="-120"/>
              </a:rPr>
              <a:t>Hypertext evolved into hypermedia, which includes images, audio, and video files—not just text.</a:t>
            </a:r>
            <a:endParaRPr lang="en-US" sz="1333" dirty="0"/>
          </a:p>
        </p:txBody>
      </p:sp>
      <p:sp>
        <p:nvSpPr>
          <p:cNvPr id="16" name="Text 13"/>
          <p:cNvSpPr/>
          <p:nvPr/>
        </p:nvSpPr>
        <p:spPr>
          <a:xfrm>
            <a:off x="661492" y="5778104"/>
            <a:ext cx="10869018" cy="544513"/>
          </a:xfrm>
          <a:prstGeom prst="rect">
            <a:avLst/>
          </a:prstGeom>
          <a:noFill/>
          <a:ln/>
        </p:spPr>
        <p:txBody>
          <a:bodyPr wrap="square" lIns="0" tIns="0" rIns="0" bIns="0" rtlCol="0" anchor="t"/>
          <a:lstStyle/>
          <a:p>
            <a:pPr>
              <a:lnSpc>
                <a:spcPts val="2125"/>
              </a:lnSpc>
            </a:pPr>
            <a:r>
              <a:rPr lang="en-US" sz="1333" b="1" dirty="0">
                <a:solidFill>
                  <a:srgbClr val="000000"/>
                </a:solidFill>
                <a:latin typeface="Arimo" pitchFamily="34" charset="0"/>
                <a:ea typeface="Arimo" pitchFamily="34" charset="-122"/>
                <a:cs typeface="Arimo" pitchFamily="34" charset="-120"/>
              </a:rPr>
              <a:t>Historical Note:</a:t>
            </a:r>
            <a:r>
              <a:rPr lang="en-US" sz="1333" dirty="0">
                <a:solidFill>
                  <a:srgbClr val="000000"/>
                </a:solidFill>
                <a:latin typeface="Arimo" pitchFamily="34" charset="0"/>
                <a:ea typeface="Arimo" pitchFamily="34" charset="-122"/>
                <a:cs typeface="Arimo" pitchFamily="34" charset="-120"/>
              </a:rPr>
              <a:t> The idea of hypertext was invented by Ted Nelson in 1965, who also created the well-known hypertext system Xanadu (http://xanadu.com/).</a:t>
            </a:r>
            <a:endParaRPr lang="en-US" sz="1333" dirty="0"/>
          </a:p>
        </p:txBody>
      </p:sp>
    </p:spTree>
    <p:extLst>
      <p:ext uri="{BB962C8B-B14F-4D97-AF65-F5344CB8AC3E}">
        <p14:creationId xmlns:p14="http://schemas.microsoft.com/office/powerpoint/2010/main" val="35237497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4421" y="1168648"/>
            <a:ext cx="6224191" cy="448965"/>
          </a:xfrm>
          <a:prstGeom prst="rect">
            <a:avLst/>
          </a:prstGeom>
          <a:noFill/>
          <a:ln/>
        </p:spPr>
        <p:txBody>
          <a:bodyPr wrap="none" lIns="0" tIns="0" rIns="0" bIns="0" rtlCol="0" anchor="t"/>
          <a:lstStyle/>
          <a:p>
            <a:pPr>
              <a:lnSpc>
                <a:spcPts val="3500"/>
              </a:lnSpc>
            </a:pPr>
            <a:r>
              <a:rPr lang="en-US" sz="2792" b="1" dirty="0">
                <a:solidFill>
                  <a:srgbClr val="FF0000"/>
                </a:solidFill>
                <a:latin typeface="Arimo Bold" pitchFamily="34" charset="0"/>
                <a:ea typeface="Arimo Bold" pitchFamily="34" charset="-122"/>
                <a:cs typeface="Arimo Bold" pitchFamily="34" charset="-120"/>
              </a:rPr>
              <a:t>A Brief History: The Birth of the Web</a:t>
            </a:r>
            <a:endParaRPr lang="en-US" sz="2792" dirty="0"/>
          </a:p>
        </p:txBody>
      </p:sp>
      <p:sp>
        <p:nvSpPr>
          <p:cNvPr id="3" name="Shape 1"/>
          <p:cNvSpPr/>
          <p:nvPr/>
        </p:nvSpPr>
        <p:spPr>
          <a:xfrm>
            <a:off x="3821807" y="1762721"/>
            <a:ext cx="25400" cy="4050804"/>
          </a:xfrm>
          <a:prstGeom prst="roundRect">
            <a:avLst>
              <a:gd name="adj" fmla="val 296930"/>
            </a:avLst>
          </a:prstGeom>
          <a:solidFill>
            <a:srgbClr val="B2D0E5"/>
          </a:solidFill>
          <a:ln/>
        </p:spPr>
      </p:sp>
      <p:sp>
        <p:nvSpPr>
          <p:cNvPr id="4" name="Shape 2"/>
          <p:cNvSpPr/>
          <p:nvPr/>
        </p:nvSpPr>
        <p:spPr>
          <a:xfrm>
            <a:off x="3119239" y="1952030"/>
            <a:ext cx="538658" cy="25400"/>
          </a:xfrm>
          <a:prstGeom prst="roundRect">
            <a:avLst>
              <a:gd name="adj" fmla="val 296930"/>
            </a:avLst>
          </a:prstGeom>
          <a:solidFill>
            <a:srgbClr val="B2D0E5"/>
          </a:solidFill>
          <a:ln/>
        </p:spPr>
      </p:sp>
      <p:sp>
        <p:nvSpPr>
          <p:cNvPr id="5" name="Shape 3"/>
          <p:cNvSpPr/>
          <p:nvPr/>
        </p:nvSpPr>
        <p:spPr>
          <a:xfrm>
            <a:off x="3632498" y="1762721"/>
            <a:ext cx="404019" cy="404019"/>
          </a:xfrm>
          <a:prstGeom prst="roundRect">
            <a:avLst>
              <a:gd name="adj" fmla="val 18667"/>
            </a:avLst>
          </a:prstGeom>
          <a:solidFill>
            <a:srgbClr val="CCEAFF"/>
          </a:solidFill>
          <a:ln w="7620">
            <a:solidFill>
              <a:srgbClr val="B2D0E5"/>
            </a:solidFill>
            <a:prstDash val="solid"/>
          </a:ln>
        </p:spPr>
      </p:sp>
      <p:sp>
        <p:nvSpPr>
          <p:cNvPr id="6" name="Text 4"/>
          <p:cNvSpPr/>
          <p:nvPr/>
        </p:nvSpPr>
        <p:spPr>
          <a:xfrm>
            <a:off x="3699868" y="1796406"/>
            <a:ext cx="269280" cy="336649"/>
          </a:xfrm>
          <a:prstGeom prst="rect">
            <a:avLst/>
          </a:prstGeom>
          <a:noFill/>
          <a:ln/>
        </p:spPr>
        <p:txBody>
          <a:bodyPr wrap="none" lIns="0" tIns="0" rIns="0" bIns="0" rtlCol="0" anchor="t"/>
          <a:lstStyle/>
          <a:p>
            <a:pPr algn="ctr">
              <a:lnSpc>
                <a:spcPts val="2083"/>
              </a:lnSpc>
            </a:pPr>
            <a:r>
              <a:rPr lang="en-US" sz="2083" b="1" dirty="0">
                <a:solidFill>
                  <a:srgbClr val="000000"/>
                </a:solidFill>
                <a:latin typeface="Arimo Bold" pitchFamily="34" charset="0"/>
                <a:ea typeface="Arimo Bold" pitchFamily="34" charset="-122"/>
                <a:cs typeface="Arimo Bold" pitchFamily="34" charset="-120"/>
              </a:rPr>
              <a:t>1</a:t>
            </a:r>
            <a:endParaRPr lang="en-US" sz="2083" dirty="0"/>
          </a:p>
        </p:txBody>
      </p:sp>
      <p:sp>
        <p:nvSpPr>
          <p:cNvPr id="7" name="Text 5"/>
          <p:cNvSpPr/>
          <p:nvPr/>
        </p:nvSpPr>
        <p:spPr>
          <a:xfrm>
            <a:off x="692051" y="1824434"/>
            <a:ext cx="2244626" cy="280492"/>
          </a:xfrm>
          <a:prstGeom prst="rect">
            <a:avLst/>
          </a:prstGeom>
          <a:noFill/>
          <a:ln/>
        </p:spPr>
        <p:txBody>
          <a:bodyPr wrap="none" lIns="0" tIns="0" rIns="0" bIns="0" rtlCol="0" anchor="t"/>
          <a:lstStyle/>
          <a:p>
            <a:pPr algn="r">
              <a:lnSpc>
                <a:spcPts val="2208"/>
              </a:lnSpc>
            </a:pPr>
            <a:r>
              <a:rPr lang="en-US" sz="1750" b="1" dirty="0">
                <a:solidFill>
                  <a:srgbClr val="000000"/>
                </a:solidFill>
                <a:latin typeface="Arimo Bold" pitchFamily="34" charset="0"/>
                <a:ea typeface="Arimo Bold" pitchFamily="34" charset="-122"/>
                <a:cs typeface="Arimo Bold" pitchFamily="34" charset="-120"/>
              </a:rPr>
              <a:t>March 1989</a:t>
            </a:r>
            <a:endParaRPr lang="en-US" sz="1750" dirty="0"/>
          </a:p>
        </p:txBody>
      </p:sp>
      <p:sp>
        <p:nvSpPr>
          <p:cNvPr id="8" name="Text 6"/>
          <p:cNvSpPr/>
          <p:nvPr/>
        </p:nvSpPr>
        <p:spPr>
          <a:xfrm>
            <a:off x="661492" y="2284413"/>
            <a:ext cx="2275185" cy="1149350"/>
          </a:xfrm>
          <a:prstGeom prst="rect">
            <a:avLst/>
          </a:prstGeom>
          <a:noFill/>
          <a:ln/>
        </p:spPr>
        <p:txBody>
          <a:bodyPr wrap="square" lIns="0" tIns="0" rIns="0" bIns="0" rtlCol="0" anchor="t"/>
          <a:lstStyle/>
          <a:p>
            <a:pPr algn="r">
              <a:lnSpc>
                <a:spcPts val="2250"/>
              </a:lnSpc>
            </a:pPr>
            <a:r>
              <a:rPr lang="en-US" sz="1375" dirty="0">
                <a:solidFill>
                  <a:srgbClr val="000000"/>
                </a:solidFill>
                <a:latin typeface="Arimo" pitchFamily="34" charset="0"/>
                <a:ea typeface="Arimo" pitchFamily="34" charset="-122"/>
                <a:cs typeface="Arimo" pitchFamily="34" charset="-120"/>
              </a:rPr>
              <a:t>Tim Berners-Lee invents the World Wide Web at CERN in Switzerland and coins the term "World Wide Web"</a:t>
            </a:r>
            <a:endParaRPr lang="en-US" sz="1375" dirty="0"/>
          </a:p>
        </p:txBody>
      </p:sp>
      <p:sp>
        <p:nvSpPr>
          <p:cNvPr id="9" name="Shape 7"/>
          <p:cNvSpPr/>
          <p:nvPr/>
        </p:nvSpPr>
        <p:spPr>
          <a:xfrm>
            <a:off x="4011117" y="3029347"/>
            <a:ext cx="538658" cy="25400"/>
          </a:xfrm>
          <a:prstGeom prst="roundRect">
            <a:avLst>
              <a:gd name="adj" fmla="val 296930"/>
            </a:avLst>
          </a:prstGeom>
          <a:solidFill>
            <a:srgbClr val="B2D0E5"/>
          </a:solidFill>
          <a:ln/>
        </p:spPr>
      </p:sp>
      <p:sp>
        <p:nvSpPr>
          <p:cNvPr id="10" name="Shape 8"/>
          <p:cNvSpPr/>
          <p:nvPr/>
        </p:nvSpPr>
        <p:spPr>
          <a:xfrm>
            <a:off x="3632498" y="2840038"/>
            <a:ext cx="404019" cy="404019"/>
          </a:xfrm>
          <a:prstGeom prst="roundRect">
            <a:avLst>
              <a:gd name="adj" fmla="val 18667"/>
            </a:avLst>
          </a:prstGeom>
          <a:solidFill>
            <a:srgbClr val="CCEAFF"/>
          </a:solidFill>
          <a:ln w="7620">
            <a:solidFill>
              <a:srgbClr val="B2D0E5"/>
            </a:solidFill>
            <a:prstDash val="solid"/>
          </a:ln>
        </p:spPr>
      </p:sp>
      <p:sp>
        <p:nvSpPr>
          <p:cNvPr id="11" name="Text 9"/>
          <p:cNvSpPr/>
          <p:nvPr/>
        </p:nvSpPr>
        <p:spPr>
          <a:xfrm>
            <a:off x="3699868" y="2873723"/>
            <a:ext cx="269280" cy="336649"/>
          </a:xfrm>
          <a:prstGeom prst="rect">
            <a:avLst/>
          </a:prstGeom>
          <a:noFill/>
          <a:ln/>
        </p:spPr>
        <p:txBody>
          <a:bodyPr wrap="none" lIns="0" tIns="0" rIns="0" bIns="0" rtlCol="0" anchor="t"/>
          <a:lstStyle/>
          <a:p>
            <a:pPr algn="ctr">
              <a:lnSpc>
                <a:spcPts val="2083"/>
              </a:lnSpc>
            </a:pPr>
            <a:r>
              <a:rPr lang="en-US" sz="2083" b="1" dirty="0">
                <a:solidFill>
                  <a:srgbClr val="000000"/>
                </a:solidFill>
                <a:latin typeface="Arimo Bold" pitchFamily="34" charset="0"/>
                <a:ea typeface="Arimo Bold" pitchFamily="34" charset="-122"/>
                <a:cs typeface="Arimo Bold" pitchFamily="34" charset="-120"/>
              </a:rPr>
              <a:t>2</a:t>
            </a:r>
            <a:endParaRPr lang="en-US" sz="2083" dirty="0"/>
          </a:p>
        </p:txBody>
      </p:sp>
      <p:sp>
        <p:nvSpPr>
          <p:cNvPr id="12" name="Text 10"/>
          <p:cNvSpPr/>
          <p:nvPr/>
        </p:nvSpPr>
        <p:spPr>
          <a:xfrm>
            <a:off x="4732338" y="2901752"/>
            <a:ext cx="2244626" cy="280492"/>
          </a:xfrm>
          <a:prstGeom prst="rect">
            <a:avLst/>
          </a:prstGeom>
          <a:noFill/>
          <a:ln/>
        </p:spPr>
        <p:txBody>
          <a:bodyPr wrap="none" lIns="0" tIns="0" rIns="0" bIns="0" rtlCol="0" anchor="t"/>
          <a:lstStyle/>
          <a:p>
            <a:pPr>
              <a:lnSpc>
                <a:spcPts val="2208"/>
              </a:lnSpc>
            </a:pPr>
            <a:r>
              <a:rPr lang="en-US" sz="1750" b="1" dirty="0">
                <a:solidFill>
                  <a:srgbClr val="000000"/>
                </a:solidFill>
                <a:latin typeface="Arimo Bold" pitchFamily="34" charset="0"/>
                <a:ea typeface="Arimo Bold" pitchFamily="34" charset="-122"/>
                <a:cs typeface="Arimo Bold" pitchFamily="34" charset="-120"/>
              </a:rPr>
              <a:t>1989-1990</a:t>
            </a:r>
            <a:endParaRPr lang="en-US" sz="1750" dirty="0"/>
          </a:p>
        </p:txBody>
      </p:sp>
      <p:sp>
        <p:nvSpPr>
          <p:cNvPr id="13" name="Text 11"/>
          <p:cNvSpPr/>
          <p:nvPr/>
        </p:nvSpPr>
        <p:spPr>
          <a:xfrm>
            <a:off x="4732338" y="3361730"/>
            <a:ext cx="2275284" cy="1436688"/>
          </a:xfrm>
          <a:prstGeom prst="rect">
            <a:avLst/>
          </a:prstGeom>
          <a:noFill/>
          <a:ln/>
        </p:spPr>
        <p:txBody>
          <a:bodyPr wrap="square" lIns="0" tIns="0" rIns="0" bIns="0" rtlCol="0" anchor="t"/>
          <a:lstStyle/>
          <a:p>
            <a:pPr>
              <a:lnSpc>
                <a:spcPts val="2250"/>
              </a:lnSpc>
            </a:pPr>
            <a:r>
              <a:rPr lang="en-US" sz="1375" dirty="0">
                <a:solidFill>
                  <a:srgbClr val="000000"/>
                </a:solidFill>
                <a:latin typeface="Arimo" pitchFamily="34" charset="0"/>
                <a:ea typeface="Arimo" pitchFamily="34" charset="-122"/>
                <a:cs typeface="Arimo" pitchFamily="34" charset="-120"/>
              </a:rPr>
              <a:t>Writes the first World Wide Web server (httpd) and the first client program—a browser and editor called "WorldWideWeb"</a:t>
            </a:r>
            <a:endParaRPr lang="en-US" sz="1375" dirty="0"/>
          </a:p>
        </p:txBody>
      </p:sp>
      <p:sp>
        <p:nvSpPr>
          <p:cNvPr id="14" name="Shape 12"/>
          <p:cNvSpPr/>
          <p:nvPr/>
        </p:nvSpPr>
        <p:spPr>
          <a:xfrm>
            <a:off x="3119239" y="4188023"/>
            <a:ext cx="538658" cy="25400"/>
          </a:xfrm>
          <a:prstGeom prst="roundRect">
            <a:avLst>
              <a:gd name="adj" fmla="val 296930"/>
            </a:avLst>
          </a:prstGeom>
          <a:solidFill>
            <a:srgbClr val="B2D0E5"/>
          </a:solidFill>
          <a:ln/>
        </p:spPr>
      </p:sp>
      <p:sp>
        <p:nvSpPr>
          <p:cNvPr id="15" name="Shape 13"/>
          <p:cNvSpPr/>
          <p:nvPr/>
        </p:nvSpPr>
        <p:spPr>
          <a:xfrm>
            <a:off x="3632498" y="3998715"/>
            <a:ext cx="404019" cy="404019"/>
          </a:xfrm>
          <a:prstGeom prst="roundRect">
            <a:avLst>
              <a:gd name="adj" fmla="val 18667"/>
            </a:avLst>
          </a:prstGeom>
          <a:solidFill>
            <a:srgbClr val="CCEAFF"/>
          </a:solidFill>
          <a:ln w="7620">
            <a:solidFill>
              <a:srgbClr val="B2D0E5"/>
            </a:solidFill>
            <a:prstDash val="solid"/>
          </a:ln>
        </p:spPr>
      </p:sp>
      <p:sp>
        <p:nvSpPr>
          <p:cNvPr id="16" name="Text 14"/>
          <p:cNvSpPr/>
          <p:nvPr/>
        </p:nvSpPr>
        <p:spPr>
          <a:xfrm>
            <a:off x="3699868" y="4032400"/>
            <a:ext cx="269280" cy="336649"/>
          </a:xfrm>
          <a:prstGeom prst="rect">
            <a:avLst/>
          </a:prstGeom>
          <a:noFill/>
          <a:ln/>
        </p:spPr>
        <p:txBody>
          <a:bodyPr wrap="none" lIns="0" tIns="0" rIns="0" bIns="0" rtlCol="0" anchor="t"/>
          <a:lstStyle/>
          <a:p>
            <a:pPr algn="ctr">
              <a:lnSpc>
                <a:spcPts val="2083"/>
              </a:lnSpc>
            </a:pPr>
            <a:r>
              <a:rPr lang="en-US" sz="2083" b="1" dirty="0">
                <a:solidFill>
                  <a:srgbClr val="000000"/>
                </a:solidFill>
                <a:latin typeface="Arimo Bold" pitchFamily="34" charset="0"/>
                <a:ea typeface="Arimo Bold" pitchFamily="34" charset="-122"/>
                <a:cs typeface="Arimo Bold" pitchFamily="34" charset="-120"/>
              </a:rPr>
              <a:t>3</a:t>
            </a:r>
            <a:endParaRPr lang="en-US" sz="2083" dirty="0"/>
          </a:p>
        </p:txBody>
      </p:sp>
      <p:sp>
        <p:nvSpPr>
          <p:cNvPr id="17" name="Text 15"/>
          <p:cNvSpPr/>
          <p:nvPr/>
        </p:nvSpPr>
        <p:spPr>
          <a:xfrm>
            <a:off x="692051" y="4060428"/>
            <a:ext cx="2244626" cy="280492"/>
          </a:xfrm>
          <a:prstGeom prst="rect">
            <a:avLst/>
          </a:prstGeom>
          <a:noFill/>
          <a:ln/>
        </p:spPr>
        <p:txBody>
          <a:bodyPr wrap="none" lIns="0" tIns="0" rIns="0" bIns="0" rtlCol="0" anchor="t"/>
          <a:lstStyle/>
          <a:p>
            <a:pPr algn="r">
              <a:lnSpc>
                <a:spcPts val="2208"/>
              </a:lnSpc>
            </a:pPr>
            <a:r>
              <a:rPr lang="en-US" sz="1750" b="1" dirty="0">
                <a:solidFill>
                  <a:srgbClr val="000000"/>
                </a:solidFill>
                <a:latin typeface="Arimo Bold" pitchFamily="34" charset="0"/>
                <a:ea typeface="Arimo Bold" pitchFamily="34" charset="-122"/>
                <a:cs typeface="Arimo Bold" pitchFamily="34" charset="-120"/>
              </a:rPr>
              <a:t>Foundation Created</a:t>
            </a:r>
            <a:endParaRPr lang="en-US" sz="1750" dirty="0"/>
          </a:p>
        </p:txBody>
      </p:sp>
      <p:sp>
        <p:nvSpPr>
          <p:cNvPr id="18" name="Text 16"/>
          <p:cNvSpPr/>
          <p:nvPr/>
        </p:nvSpPr>
        <p:spPr>
          <a:xfrm>
            <a:off x="661492" y="4520407"/>
            <a:ext cx="2275185" cy="1149350"/>
          </a:xfrm>
          <a:prstGeom prst="rect">
            <a:avLst/>
          </a:prstGeom>
          <a:noFill/>
          <a:ln/>
        </p:spPr>
        <p:txBody>
          <a:bodyPr wrap="square" lIns="0" tIns="0" rIns="0" bIns="0" rtlCol="0" anchor="t"/>
          <a:lstStyle/>
          <a:p>
            <a:pPr algn="r">
              <a:lnSpc>
                <a:spcPts val="2250"/>
              </a:lnSpc>
            </a:pPr>
            <a:r>
              <a:rPr lang="en-US" sz="1375" dirty="0">
                <a:solidFill>
                  <a:srgbClr val="000000"/>
                </a:solidFill>
                <a:latin typeface="Arimo" pitchFamily="34" charset="0"/>
                <a:ea typeface="Arimo" pitchFamily="34" charset="-122"/>
                <a:cs typeface="Arimo" pitchFamily="34" charset="-120"/>
              </a:rPr>
              <a:t>Establishes the basic architecture for the distributed hypertext system we use today</a:t>
            </a:r>
            <a:endParaRPr lang="en-US" sz="1375" dirty="0"/>
          </a:p>
        </p:txBody>
      </p:sp>
      <p:pic>
        <p:nvPicPr>
          <p:cNvPr id="19" name="Image 0" descr="preencoded.png"/>
          <p:cNvPicPr>
            <a:picLocks noChangeAspect="1"/>
          </p:cNvPicPr>
          <p:nvPr/>
        </p:nvPicPr>
        <p:blipFill>
          <a:blip r:embed="rId3"/>
          <a:stretch>
            <a:fillRect/>
          </a:stretch>
        </p:blipFill>
        <p:spPr>
          <a:xfrm>
            <a:off x="7452122" y="1762720"/>
            <a:ext cx="3880346" cy="2545457"/>
          </a:xfrm>
          <a:prstGeom prst="rect">
            <a:avLst/>
          </a:prstGeom>
        </p:spPr>
      </p:pic>
      <p:sp>
        <p:nvSpPr>
          <p:cNvPr id="20" name="Text 17"/>
          <p:cNvSpPr/>
          <p:nvPr/>
        </p:nvSpPr>
        <p:spPr>
          <a:xfrm>
            <a:off x="7452122" y="4510187"/>
            <a:ext cx="4084638" cy="287338"/>
          </a:xfrm>
          <a:prstGeom prst="rect">
            <a:avLst/>
          </a:prstGeom>
          <a:noFill/>
          <a:ln/>
        </p:spPr>
        <p:txBody>
          <a:bodyPr wrap="none" lIns="0" tIns="0" rIns="0" bIns="0" rtlCol="0" anchor="t"/>
          <a:lstStyle/>
          <a:p>
            <a:pPr>
              <a:lnSpc>
                <a:spcPts val="2250"/>
              </a:lnSpc>
            </a:pPr>
            <a:r>
              <a:rPr lang="en-US" sz="1375" i="1" dirty="0">
                <a:solidFill>
                  <a:srgbClr val="000000"/>
                </a:solidFill>
                <a:latin typeface="Arimo" pitchFamily="34" charset="0"/>
                <a:ea typeface="Arimo" pitchFamily="34" charset="-122"/>
                <a:cs typeface="Arimo" pitchFamily="34" charset="-120"/>
              </a:rPr>
              <a:t>Tim Berners-Lee, inventor of the World Wide Web</a:t>
            </a:r>
            <a:endParaRPr lang="en-US" sz="1375" dirty="0"/>
          </a:p>
        </p:txBody>
      </p:sp>
      <p:sp>
        <p:nvSpPr>
          <p:cNvPr id="21" name="Text 18"/>
          <p:cNvSpPr/>
          <p:nvPr/>
        </p:nvSpPr>
        <p:spPr>
          <a:xfrm>
            <a:off x="7452122" y="4959053"/>
            <a:ext cx="4084638" cy="574675"/>
          </a:xfrm>
          <a:prstGeom prst="rect">
            <a:avLst/>
          </a:prstGeom>
          <a:noFill/>
          <a:ln/>
        </p:spPr>
        <p:txBody>
          <a:bodyPr wrap="square" lIns="0" tIns="0" rIns="0" bIns="0" rtlCol="0" anchor="t"/>
          <a:lstStyle/>
          <a:p>
            <a:pPr>
              <a:lnSpc>
                <a:spcPts val="2250"/>
              </a:lnSpc>
            </a:pPr>
            <a:r>
              <a:rPr lang="en-US" sz="1375" dirty="0">
                <a:solidFill>
                  <a:srgbClr val="000000"/>
                </a:solidFill>
                <a:latin typeface="Arimo" pitchFamily="34" charset="0"/>
                <a:ea typeface="Arimo" pitchFamily="34" charset="-122"/>
                <a:cs typeface="Arimo" pitchFamily="34" charset="-120"/>
              </a:rPr>
              <a:t>Learn more: https://www.w3.org/People/Berners-Lee/</a:t>
            </a:r>
            <a:endParaRPr lang="en-US" sz="1375" dirty="0"/>
          </a:p>
        </p:txBody>
      </p:sp>
    </p:spTree>
    <p:extLst>
      <p:ext uri="{BB962C8B-B14F-4D97-AF65-F5344CB8AC3E}">
        <p14:creationId xmlns:p14="http://schemas.microsoft.com/office/powerpoint/2010/main" val="7085771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1252438"/>
            <a:ext cx="8519617" cy="472480"/>
          </a:xfrm>
          <a:prstGeom prst="rect">
            <a:avLst/>
          </a:prstGeom>
          <a:noFill/>
          <a:ln/>
        </p:spPr>
        <p:txBody>
          <a:bodyPr wrap="none" lIns="0" tIns="0" rIns="0" bIns="0" rtlCol="0" anchor="t"/>
          <a:lstStyle/>
          <a:p>
            <a:pPr>
              <a:lnSpc>
                <a:spcPts val="3708"/>
              </a:lnSpc>
            </a:pPr>
            <a:r>
              <a:rPr lang="en-US" sz="2958" b="1" dirty="0">
                <a:solidFill>
                  <a:srgbClr val="FF0000"/>
                </a:solidFill>
                <a:latin typeface="Arimo Bold" pitchFamily="34" charset="0"/>
                <a:ea typeface="Arimo Bold" pitchFamily="34" charset="-122"/>
                <a:cs typeface="Arimo Bold" pitchFamily="34" charset="-120"/>
              </a:rPr>
              <a:t>The Original Vision: "Information Management"</a:t>
            </a:r>
            <a:endParaRPr lang="en-US" sz="2958" dirty="0"/>
          </a:p>
        </p:txBody>
      </p:sp>
      <p:sp>
        <p:nvSpPr>
          <p:cNvPr id="3" name="Text 1"/>
          <p:cNvSpPr/>
          <p:nvPr/>
        </p:nvSpPr>
        <p:spPr>
          <a:xfrm>
            <a:off x="661492" y="1800523"/>
            <a:ext cx="4457998" cy="354409"/>
          </a:xfrm>
          <a:prstGeom prst="rect">
            <a:avLst/>
          </a:prstGeom>
          <a:noFill/>
          <a:ln/>
        </p:spPr>
        <p:txBody>
          <a:bodyPr wrap="none" lIns="0" tIns="0" rIns="0" bIns="0" rtlCol="0" anchor="t"/>
          <a:lstStyle/>
          <a:p>
            <a:pPr>
              <a:lnSpc>
                <a:spcPts val="2750"/>
              </a:lnSpc>
            </a:pPr>
            <a:endParaRPr lang="en-US" sz="2208" b="1" dirty="0">
              <a:solidFill>
                <a:srgbClr val="FF0000"/>
              </a:solidFill>
              <a:latin typeface="Arimo Bold" pitchFamily="34" charset="0"/>
              <a:ea typeface="Arimo Bold" pitchFamily="34" charset="-122"/>
              <a:cs typeface="Arimo Bold" pitchFamily="34" charset="-120"/>
            </a:endParaRPr>
          </a:p>
          <a:p>
            <a:pPr>
              <a:lnSpc>
                <a:spcPts val="2750"/>
              </a:lnSpc>
            </a:pPr>
            <a:r>
              <a:rPr lang="en-US" sz="2208" b="1" dirty="0">
                <a:solidFill>
                  <a:srgbClr val="FF0000"/>
                </a:solidFill>
                <a:latin typeface="Arimo Bold" pitchFamily="34" charset="0"/>
                <a:ea typeface="Arimo Bold" pitchFamily="34" charset="-122"/>
                <a:cs typeface="Arimo Bold" pitchFamily="34" charset="-120"/>
              </a:rPr>
              <a:t>Tim Berners-Lee's 1989 Proposal</a:t>
            </a:r>
            <a:endParaRPr lang="en-US" sz="2208" dirty="0"/>
          </a:p>
        </p:txBody>
      </p:sp>
      <p:sp>
        <p:nvSpPr>
          <p:cNvPr id="4" name="Shape 2"/>
          <p:cNvSpPr/>
          <p:nvPr/>
        </p:nvSpPr>
        <p:spPr>
          <a:xfrm>
            <a:off x="743298" y="2602657"/>
            <a:ext cx="3496965" cy="2349599"/>
          </a:xfrm>
          <a:prstGeom prst="roundRect">
            <a:avLst>
              <a:gd name="adj" fmla="val 3379"/>
            </a:avLst>
          </a:prstGeom>
          <a:solidFill>
            <a:srgbClr val="ECEDE8"/>
          </a:solidFill>
          <a:ln w="30480">
            <a:solidFill>
              <a:srgbClr val="B2D0E5"/>
            </a:solidFill>
            <a:prstDash val="solid"/>
          </a:ln>
        </p:spPr>
      </p:sp>
      <p:sp>
        <p:nvSpPr>
          <p:cNvPr id="5" name="Text 3"/>
          <p:cNvSpPr/>
          <p:nvPr/>
        </p:nvSpPr>
        <p:spPr>
          <a:xfrm>
            <a:off x="875904" y="2652812"/>
            <a:ext cx="2362696" cy="295275"/>
          </a:xfrm>
          <a:prstGeom prst="rect">
            <a:avLst/>
          </a:prstGeom>
          <a:noFill/>
          <a:ln/>
        </p:spPr>
        <p:txBody>
          <a:bodyPr wrap="none" lIns="0" tIns="0" rIns="0" bIns="0" rtlCol="0" anchor="t"/>
          <a:lstStyle/>
          <a:p>
            <a:pPr>
              <a:lnSpc>
                <a:spcPts val="2292"/>
              </a:lnSpc>
            </a:pPr>
            <a:r>
              <a:rPr lang="en-US" sz="1833" b="1" dirty="0">
                <a:solidFill>
                  <a:srgbClr val="000000"/>
                </a:solidFill>
                <a:latin typeface="Arimo Bold" pitchFamily="34" charset="0"/>
                <a:ea typeface="Arimo Bold" pitchFamily="34" charset="-122"/>
                <a:cs typeface="Arimo Bold" pitchFamily="34" charset="-120"/>
              </a:rPr>
              <a:t>Problem Identified</a:t>
            </a:r>
            <a:endParaRPr lang="en-US" sz="1833" dirty="0"/>
          </a:p>
        </p:txBody>
      </p:sp>
      <p:sp>
        <p:nvSpPr>
          <p:cNvPr id="6" name="Text 4"/>
          <p:cNvSpPr/>
          <p:nvPr/>
        </p:nvSpPr>
        <p:spPr>
          <a:xfrm>
            <a:off x="875903" y="3061494"/>
            <a:ext cx="3068142" cy="1209675"/>
          </a:xfrm>
          <a:prstGeom prst="rect">
            <a:avLst/>
          </a:prstGeom>
          <a:noFill/>
          <a:ln/>
        </p:spPr>
        <p:txBody>
          <a:bodyPr wrap="square" lIns="0" tIns="0" rIns="0" bIns="0" rtlCol="0" anchor="t"/>
          <a:lstStyle/>
          <a:p>
            <a:pPr>
              <a:lnSpc>
                <a:spcPts val="2375"/>
              </a:lnSpc>
            </a:pPr>
            <a:r>
              <a:rPr lang="en-US" sz="1458" dirty="0">
                <a:solidFill>
                  <a:srgbClr val="000000"/>
                </a:solidFill>
                <a:latin typeface="Arimo" pitchFamily="34" charset="0"/>
                <a:ea typeface="Arimo" pitchFamily="34" charset="-122"/>
                <a:cs typeface="Arimo" pitchFamily="34" charset="-120"/>
              </a:rPr>
              <a:t>Discussed disadvantages of hierarchical information organization and outlined advantages of hypertext-based systems</a:t>
            </a:r>
            <a:endParaRPr lang="en-US" sz="1458" dirty="0"/>
          </a:p>
        </p:txBody>
      </p:sp>
      <p:sp>
        <p:nvSpPr>
          <p:cNvPr id="7" name="Shape 5"/>
          <p:cNvSpPr/>
          <p:nvPr/>
        </p:nvSpPr>
        <p:spPr>
          <a:xfrm>
            <a:off x="4412888" y="2581969"/>
            <a:ext cx="3496965" cy="2349599"/>
          </a:xfrm>
          <a:prstGeom prst="roundRect">
            <a:avLst>
              <a:gd name="adj" fmla="val 3379"/>
            </a:avLst>
          </a:prstGeom>
          <a:solidFill>
            <a:srgbClr val="ECEDE8"/>
          </a:solidFill>
          <a:ln w="30480">
            <a:solidFill>
              <a:srgbClr val="B2D0E5"/>
            </a:solidFill>
            <a:prstDash val="solid"/>
          </a:ln>
        </p:spPr>
      </p:sp>
      <p:sp>
        <p:nvSpPr>
          <p:cNvPr id="8" name="Text 6"/>
          <p:cNvSpPr/>
          <p:nvPr/>
        </p:nvSpPr>
        <p:spPr>
          <a:xfrm>
            <a:off x="4561880" y="2652812"/>
            <a:ext cx="2362696" cy="295275"/>
          </a:xfrm>
          <a:prstGeom prst="rect">
            <a:avLst/>
          </a:prstGeom>
          <a:noFill/>
          <a:ln/>
        </p:spPr>
        <p:txBody>
          <a:bodyPr wrap="none" lIns="0" tIns="0" rIns="0" bIns="0" rtlCol="0" anchor="t"/>
          <a:lstStyle/>
          <a:p>
            <a:pPr>
              <a:lnSpc>
                <a:spcPts val="2292"/>
              </a:lnSpc>
            </a:pPr>
            <a:r>
              <a:rPr lang="en-US" sz="1833" b="1" dirty="0">
                <a:solidFill>
                  <a:srgbClr val="000000"/>
                </a:solidFill>
                <a:latin typeface="Arimo Bold" pitchFamily="34" charset="0"/>
                <a:ea typeface="Arimo Bold" pitchFamily="34" charset="-122"/>
                <a:cs typeface="Arimo Bold" pitchFamily="34" charset="-120"/>
              </a:rPr>
              <a:t>Solution Proposed</a:t>
            </a:r>
            <a:endParaRPr lang="en-US" sz="1833" dirty="0"/>
          </a:p>
        </p:txBody>
      </p:sp>
      <p:sp>
        <p:nvSpPr>
          <p:cNvPr id="9" name="Text 7"/>
          <p:cNvSpPr/>
          <p:nvPr/>
        </p:nvSpPr>
        <p:spPr>
          <a:xfrm>
            <a:off x="4561880" y="3061495"/>
            <a:ext cx="3068142" cy="1512094"/>
          </a:xfrm>
          <a:prstGeom prst="rect">
            <a:avLst/>
          </a:prstGeom>
          <a:noFill/>
          <a:ln/>
        </p:spPr>
        <p:txBody>
          <a:bodyPr wrap="square" lIns="0" tIns="0" rIns="0" bIns="0" rtlCol="0" anchor="t"/>
          <a:lstStyle/>
          <a:p>
            <a:pPr>
              <a:lnSpc>
                <a:spcPts val="2375"/>
              </a:lnSpc>
            </a:pPr>
            <a:r>
              <a:rPr lang="en-US" sz="1458" dirty="0">
                <a:solidFill>
                  <a:srgbClr val="000000"/>
                </a:solidFill>
                <a:latin typeface="Arimo" pitchFamily="34" charset="0"/>
                <a:ea typeface="Arimo" pitchFamily="34" charset="-122"/>
                <a:cs typeface="Arimo" pitchFamily="34" charset="-120"/>
              </a:rPr>
              <a:t>A simple protocol to request information from remote systems and exchange it in a common format with hyperlinks connecting documents</a:t>
            </a:r>
            <a:endParaRPr lang="en-US" sz="1458" dirty="0"/>
          </a:p>
        </p:txBody>
      </p:sp>
      <p:sp>
        <p:nvSpPr>
          <p:cNvPr id="10" name="Shape 8"/>
          <p:cNvSpPr/>
          <p:nvPr/>
        </p:nvSpPr>
        <p:spPr>
          <a:xfrm>
            <a:off x="8058845" y="2581969"/>
            <a:ext cx="3496965" cy="2349599"/>
          </a:xfrm>
          <a:prstGeom prst="roundRect">
            <a:avLst>
              <a:gd name="adj" fmla="val 3379"/>
            </a:avLst>
          </a:prstGeom>
          <a:solidFill>
            <a:srgbClr val="ECEDE8"/>
          </a:solidFill>
          <a:ln w="30480">
            <a:solidFill>
              <a:srgbClr val="B2D0E5"/>
            </a:solidFill>
            <a:prstDash val="solid"/>
          </a:ln>
        </p:spPr>
      </p:sp>
      <p:sp>
        <p:nvSpPr>
          <p:cNvPr id="11" name="Text 9"/>
          <p:cNvSpPr/>
          <p:nvPr/>
        </p:nvSpPr>
        <p:spPr>
          <a:xfrm>
            <a:off x="8247856" y="2652812"/>
            <a:ext cx="2362696" cy="295275"/>
          </a:xfrm>
          <a:prstGeom prst="rect">
            <a:avLst/>
          </a:prstGeom>
          <a:noFill/>
          <a:ln/>
        </p:spPr>
        <p:txBody>
          <a:bodyPr wrap="none" lIns="0" tIns="0" rIns="0" bIns="0" rtlCol="0" anchor="t"/>
          <a:lstStyle/>
          <a:p>
            <a:pPr>
              <a:lnSpc>
                <a:spcPts val="2292"/>
              </a:lnSpc>
            </a:pPr>
            <a:r>
              <a:rPr lang="en-US" sz="1833" b="1" dirty="0">
                <a:solidFill>
                  <a:srgbClr val="000000"/>
                </a:solidFill>
                <a:latin typeface="Arimo Bold" pitchFamily="34" charset="0"/>
                <a:ea typeface="Arimo Bold" pitchFamily="34" charset="-122"/>
                <a:cs typeface="Arimo Bold" pitchFamily="34" charset="-120"/>
              </a:rPr>
              <a:t>Technical Vision</a:t>
            </a:r>
            <a:endParaRPr lang="en-US" sz="1833" dirty="0"/>
          </a:p>
        </p:txBody>
      </p:sp>
      <p:sp>
        <p:nvSpPr>
          <p:cNvPr id="12" name="Text 10"/>
          <p:cNvSpPr/>
          <p:nvPr/>
        </p:nvSpPr>
        <p:spPr>
          <a:xfrm>
            <a:off x="8247856" y="3061494"/>
            <a:ext cx="3068142" cy="1209675"/>
          </a:xfrm>
          <a:prstGeom prst="rect">
            <a:avLst/>
          </a:prstGeom>
          <a:noFill/>
          <a:ln/>
        </p:spPr>
        <p:txBody>
          <a:bodyPr wrap="square" lIns="0" tIns="0" rIns="0" bIns="0" rtlCol="0" anchor="t"/>
          <a:lstStyle/>
          <a:p>
            <a:pPr>
              <a:lnSpc>
                <a:spcPts val="2375"/>
              </a:lnSpc>
            </a:pPr>
            <a:r>
              <a:rPr lang="en-US" sz="1458" dirty="0">
                <a:solidFill>
                  <a:srgbClr val="000000"/>
                </a:solidFill>
                <a:latin typeface="Arimo" pitchFamily="34" charset="0"/>
                <a:ea typeface="Arimo" pitchFamily="34" charset="-122"/>
                <a:cs typeface="Arimo" pitchFamily="34" charset="-120"/>
              </a:rPr>
              <a:t>Methods for reading text and graphics using existing display technology—essentially a distributed hypertext system</a:t>
            </a:r>
            <a:endParaRPr lang="en-US" sz="1458" dirty="0"/>
          </a:p>
        </p:txBody>
      </p:sp>
      <p:sp>
        <p:nvSpPr>
          <p:cNvPr id="13" name="Text 11"/>
          <p:cNvSpPr/>
          <p:nvPr/>
        </p:nvSpPr>
        <p:spPr>
          <a:xfrm>
            <a:off x="661492" y="5000625"/>
            <a:ext cx="10869018" cy="604838"/>
          </a:xfrm>
          <a:prstGeom prst="rect">
            <a:avLst/>
          </a:prstGeom>
          <a:noFill/>
          <a:ln/>
        </p:spPr>
        <p:txBody>
          <a:bodyPr wrap="square" lIns="0" tIns="0" rIns="0" bIns="0" rtlCol="0" anchor="t"/>
          <a:lstStyle/>
          <a:p>
            <a:pPr>
              <a:lnSpc>
                <a:spcPts val="2375"/>
              </a:lnSpc>
            </a:pPr>
            <a:r>
              <a:rPr lang="en-US" sz="1458" dirty="0">
                <a:solidFill>
                  <a:srgbClr val="000000"/>
                </a:solidFill>
                <a:latin typeface="Arimo" pitchFamily="34" charset="0"/>
                <a:ea typeface="Arimo" pitchFamily="34" charset="-122"/>
                <a:cs typeface="Arimo" pitchFamily="34" charset="-120"/>
              </a:rPr>
              <a:t>In 1990, after re-circulating his proposal, Berners-Lee received support to begin work. His team introduced the server, browser, HTTP protocol, HTML markup language, and URL—laying the foundation for the Web's future.</a:t>
            </a:r>
            <a:endParaRPr lang="en-US" sz="1458" dirty="0"/>
          </a:p>
        </p:txBody>
      </p:sp>
    </p:spTree>
    <p:extLst>
      <p:ext uri="{BB962C8B-B14F-4D97-AF65-F5344CB8AC3E}">
        <p14:creationId xmlns:p14="http://schemas.microsoft.com/office/powerpoint/2010/main" val="10980025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988418"/>
            <a:ext cx="8022233" cy="472480"/>
          </a:xfrm>
          <a:prstGeom prst="rect">
            <a:avLst/>
          </a:prstGeom>
          <a:noFill/>
          <a:ln/>
        </p:spPr>
        <p:txBody>
          <a:bodyPr wrap="none" lIns="0" tIns="0" rIns="0" bIns="0" rtlCol="0" anchor="t"/>
          <a:lstStyle/>
          <a:p>
            <a:pPr>
              <a:lnSpc>
                <a:spcPts val="3708"/>
              </a:lnSpc>
            </a:pPr>
            <a:r>
              <a:rPr lang="en-US" sz="2958" b="1" dirty="0">
                <a:solidFill>
                  <a:srgbClr val="FF0000"/>
                </a:solidFill>
                <a:latin typeface="Arimo Bold" pitchFamily="34" charset="0"/>
                <a:ea typeface="Arimo Bold" pitchFamily="34" charset="-122"/>
                <a:cs typeface="Arimo Bold" pitchFamily="34" charset="-120"/>
              </a:rPr>
              <a:t>The Browser Revolution: Mosaic &amp; Netscape</a:t>
            </a:r>
            <a:endParaRPr lang="en-US" sz="2958" dirty="0"/>
          </a:p>
        </p:txBody>
      </p:sp>
      <p:sp>
        <p:nvSpPr>
          <p:cNvPr id="3" name="Shape 1"/>
          <p:cNvSpPr/>
          <p:nvPr/>
        </p:nvSpPr>
        <p:spPr>
          <a:xfrm>
            <a:off x="944959" y="2594967"/>
            <a:ext cx="3213398" cy="189012"/>
          </a:xfrm>
          <a:prstGeom prst="roundRect">
            <a:avLst>
              <a:gd name="adj" fmla="val 42003"/>
            </a:avLst>
          </a:prstGeom>
          <a:solidFill>
            <a:srgbClr val="CCEAFF"/>
          </a:solidFill>
          <a:ln w="7620">
            <a:solidFill>
              <a:srgbClr val="B2D0E5"/>
            </a:solidFill>
            <a:prstDash val="solid"/>
          </a:ln>
        </p:spPr>
      </p:sp>
      <p:sp>
        <p:nvSpPr>
          <p:cNvPr id="4" name="Shape 2"/>
          <p:cNvSpPr/>
          <p:nvPr/>
        </p:nvSpPr>
        <p:spPr>
          <a:xfrm>
            <a:off x="661492" y="2405906"/>
            <a:ext cx="567035" cy="567035"/>
          </a:xfrm>
          <a:prstGeom prst="roundRect">
            <a:avLst>
              <a:gd name="adj" fmla="val 67192"/>
            </a:avLst>
          </a:prstGeom>
          <a:solidFill>
            <a:srgbClr val="CCEAFF"/>
          </a:solidFill>
          <a:ln w="7620">
            <a:solidFill>
              <a:srgbClr val="B2D0E5"/>
            </a:solidFill>
            <a:prstDash val="solid"/>
          </a:ln>
        </p:spPr>
      </p:sp>
      <p:sp>
        <p:nvSpPr>
          <p:cNvPr id="6" name="Text 3"/>
          <p:cNvSpPr/>
          <p:nvPr/>
        </p:nvSpPr>
        <p:spPr>
          <a:xfrm>
            <a:off x="850503" y="3162003"/>
            <a:ext cx="3118942" cy="590550"/>
          </a:xfrm>
          <a:prstGeom prst="rect">
            <a:avLst/>
          </a:prstGeom>
          <a:noFill/>
          <a:ln/>
        </p:spPr>
        <p:txBody>
          <a:bodyPr wrap="square" lIns="0" tIns="0" rIns="0" bIns="0" rtlCol="0" anchor="t"/>
          <a:lstStyle/>
          <a:p>
            <a:pPr>
              <a:lnSpc>
                <a:spcPts val="2292"/>
              </a:lnSpc>
            </a:pPr>
            <a:r>
              <a:rPr lang="en-US" sz="1833" b="1" dirty="0">
                <a:solidFill>
                  <a:srgbClr val="000000"/>
                </a:solidFill>
                <a:latin typeface="Arimo Bold" pitchFamily="34" charset="0"/>
                <a:ea typeface="Arimo Bold" pitchFamily="34" charset="-122"/>
                <a:cs typeface="Arimo Bold" pitchFamily="34" charset="-120"/>
              </a:rPr>
              <a:t>Mosaic Arrives (February 1993)</a:t>
            </a:r>
            <a:endParaRPr lang="en-US" sz="1833" dirty="0"/>
          </a:p>
        </p:txBody>
      </p:sp>
      <p:sp>
        <p:nvSpPr>
          <p:cNvPr id="7" name="Text 4"/>
          <p:cNvSpPr/>
          <p:nvPr/>
        </p:nvSpPr>
        <p:spPr>
          <a:xfrm>
            <a:off x="850503" y="3865959"/>
            <a:ext cx="3118942" cy="1814513"/>
          </a:xfrm>
          <a:prstGeom prst="rect">
            <a:avLst/>
          </a:prstGeom>
          <a:noFill/>
          <a:ln/>
        </p:spPr>
        <p:txBody>
          <a:bodyPr wrap="square" lIns="0" tIns="0" rIns="0" bIns="0" rtlCol="0" anchor="t"/>
          <a:lstStyle/>
          <a:p>
            <a:pPr>
              <a:lnSpc>
                <a:spcPts val="2375"/>
              </a:lnSpc>
            </a:pPr>
            <a:r>
              <a:rPr lang="en-US" sz="1458" dirty="0">
                <a:solidFill>
                  <a:srgbClr val="000000"/>
                </a:solidFill>
                <a:latin typeface="Arimo" pitchFamily="34" charset="0"/>
                <a:ea typeface="Arimo" pitchFamily="34" charset="-122"/>
                <a:cs typeface="Arimo" pitchFamily="34" charset="-120"/>
              </a:rPr>
              <a:t>Four years after the Web's discovery, Mosaic was released with versions for Macintosh and Windows—the first consistent, point-and-click graphical interface across major operating systems.</a:t>
            </a:r>
            <a:endParaRPr lang="en-US" sz="1458" dirty="0"/>
          </a:p>
        </p:txBody>
      </p:sp>
      <p:sp>
        <p:nvSpPr>
          <p:cNvPr id="8" name="Shape 5"/>
          <p:cNvSpPr/>
          <p:nvPr/>
        </p:nvSpPr>
        <p:spPr>
          <a:xfrm>
            <a:off x="4630936" y="2311400"/>
            <a:ext cx="3213398" cy="189012"/>
          </a:xfrm>
          <a:prstGeom prst="roundRect">
            <a:avLst>
              <a:gd name="adj" fmla="val 42003"/>
            </a:avLst>
          </a:prstGeom>
          <a:solidFill>
            <a:srgbClr val="CCEAFF"/>
          </a:solidFill>
          <a:ln w="7620">
            <a:solidFill>
              <a:srgbClr val="B2D0E5"/>
            </a:solidFill>
            <a:prstDash val="solid"/>
          </a:ln>
        </p:spPr>
      </p:sp>
      <p:sp>
        <p:nvSpPr>
          <p:cNvPr id="9" name="Shape 6"/>
          <p:cNvSpPr/>
          <p:nvPr/>
        </p:nvSpPr>
        <p:spPr>
          <a:xfrm>
            <a:off x="4347468" y="2122338"/>
            <a:ext cx="567035" cy="567035"/>
          </a:xfrm>
          <a:prstGeom prst="roundRect">
            <a:avLst>
              <a:gd name="adj" fmla="val 67192"/>
            </a:avLst>
          </a:prstGeom>
          <a:solidFill>
            <a:srgbClr val="CCEAFF"/>
          </a:solidFill>
          <a:ln w="7620">
            <a:solidFill>
              <a:srgbClr val="B2D0E5"/>
            </a:solidFill>
            <a:prstDash val="solid"/>
          </a:ln>
        </p:spPr>
      </p:sp>
      <p:sp>
        <p:nvSpPr>
          <p:cNvPr id="11" name="Text 7"/>
          <p:cNvSpPr/>
          <p:nvPr/>
        </p:nvSpPr>
        <p:spPr>
          <a:xfrm>
            <a:off x="4536480" y="2878435"/>
            <a:ext cx="2362696" cy="295275"/>
          </a:xfrm>
          <a:prstGeom prst="rect">
            <a:avLst/>
          </a:prstGeom>
          <a:noFill/>
          <a:ln/>
        </p:spPr>
        <p:txBody>
          <a:bodyPr wrap="none" lIns="0" tIns="0" rIns="0" bIns="0" rtlCol="0" anchor="t"/>
          <a:lstStyle/>
          <a:p>
            <a:pPr>
              <a:lnSpc>
                <a:spcPts val="2292"/>
              </a:lnSpc>
            </a:pPr>
            <a:r>
              <a:rPr lang="en-US" sz="1833" b="1" dirty="0">
                <a:solidFill>
                  <a:srgbClr val="000000"/>
                </a:solidFill>
                <a:latin typeface="Arimo Bold" pitchFamily="34" charset="0"/>
                <a:ea typeface="Arimo Bold" pitchFamily="34" charset="-122"/>
                <a:cs typeface="Arimo Bold" pitchFamily="34" charset="-120"/>
              </a:rPr>
              <a:t>Netscape Released</a:t>
            </a:r>
            <a:endParaRPr lang="en-US" sz="1833" dirty="0"/>
          </a:p>
        </p:txBody>
      </p:sp>
      <p:sp>
        <p:nvSpPr>
          <p:cNvPr id="12" name="Text 8"/>
          <p:cNvSpPr/>
          <p:nvPr/>
        </p:nvSpPr>
        <p:spPr>
          <a:xfrm>
            <a:off x="4536480" y="3287118"/>
            <a:ext cx="3118942" cy="1512094"/>
          </a:xfrm>
          <a:prstGeom prst="rect">
            <a:avLst/>
          </a:prstGeom>
          <a:noFill/>
          <a:ln/>
        </p:spPr>
        <p:txBody>
          <a:bodyPr wrap="square" lIns="0" tIns="0" rIns="0" bIns="0" rtlCol="0" anchor="t"/>
          <a:lstStyle/>
          <a:p>
            <a:pPr>
              <a:lnSpc>
                <a:spcPts val="2375"/>
              </a:lnSpc>
            </a:pPr>
            <a:r>
              <a:rPr lang="en-US" sz="1458" dirty="0">
                <a:solidFill>
                  <a:srgbClr val="000000"/>
                </a:solidFill>
                <a:latin typeface="Arimo" pitchFamily="34" charset="0"/>
                <a:ea typeface="Arimo" pitchFamily="34" charset="-122"/>
                <a:cs typeface="Arimo" pitchFamily="34" charset="-120"/>
              </a:rPr>
              <a:t>Within months, the Netscape browser launched to the public, triggering the explosive growth of the Web and making it accessible to millions.</a:t>
            </a:r>
            <a:endParaRPr lang="en-US" sz="1458" dirty="0"/>
          </a:p>
        </p:txBody>
      </p:sp>
      <p:sp>
        <p:nvSpPr>
          <p:cNvPr id="13" name="Shape 9"/>
          <p:cNvSpPr/>
          <p:nvPr/>
        </p:nvSpPr>
        <p:spPr>
          <a:xfrm>
            <a:off x="8316913" y="2027932"/>
            <a:ext cx="3213398" cy="189012"/>
          </a:xfrm>
          <a:prstGeom prst="roundRect">
            <a:avLst>
              <a:gd name="adj" fmla="val 42003"/>
            </a:avLst>
          </a:prstGeom>
          <a:solidFill>
            <a:srgbClr val="CCEAFF"/>
          </a:solidFill>
          <a:ln w="7620">
            <a:solidFill>
              <a:srgbClr val="B2D0E5"/>
            </a:solidFill>
            <a:prstDash val="solid"/>
          </a:ln>
        </p:spPr>
      </p:sp>
      <p:sp>
        <p:nvSpPr>
          <p:cNvPr id="14" name="Shape 10"/>
          <p:cNvSpPr/>
          <p:nvPr/>
        </p:nvSpPr>
        <p:spPr>
          <a:xfrm>
            <a:off x="8033444" y="1838871"/>
            <a:ext cx="567035" cy="567035"/>
          </a:xfrm>
          <a:prstGeom prst="roundRect">
            <a:avLst>
              <a:gd name="adj" fmla="val 67192"/>
            </a:avLst>
          </a:prstGeom>
          <a:solidFill>
            <a:srgbClr val="CCEAFF"/>
          </a:solidFill>
          <a:ln w="7620">
            <a:solidFill>
              <a:srgbClr val="B2D0E5"/>
            </a:solidFill>
            <a:prstDash val="solid"/>
          </a:ln>
        </p:spPr>
      </p:sp>
      <p:sp>
        <p:nvSpPr>
          <p:cNvPr id="16" name="Text 11"/>
          <p:cNvSpPr/>
          <p:nvPr/>
        </p:nvSpPr>
        <p:spPr>
          <a:xfrm>
            <a:off x="8222457" y="2594968"/>
            <a:ext cx="3118942" cy="590550"/>
          </a:xfrm>
          <a:prstGeom prst="rect">
            <a:avLst/>
          </a:prstGeom>
          <a:noFill/>
          <a:ln/>
        </p:spPr>
        <p:txBody>
          <a:bodyPr wrap="square" lIns="0" tIns="0" rIns="0" bIns="0" rtlCol="0" anchor="t"/>
          <a:lstStyle/>
          <a:p>
            <a:pPr>
              <a:lnSpc>
                <a:spcPts val="2292"/>
              </a:lnSpc>
            </a:pPr>
            <a:r>
              <a:rPr lang="en-US" sz="1833" b="1" dirty="0">
                <a:solidFill>
                  <a:srgbClr val="000000"/>
                </a:solidFill>
                <a:latin typeface="Arimo Bold" pitchFamily="34" charset="0"/>
                <a:ea typeface="Arimo Bold" pitchFamily="34" charset="-122"/>
                <a:cs typeface="Arimo Bold" pitchFamily="34" charset="-120"/>
              </a:rPr>
              <a:t>Internet Explorer (August 1995)</a:t>
            </a:r>
            <a:endParaRPr lang="en-US" sz="1833" dirty="0"/>
          </a:p>
        </p:txBody>
      </p:sp>
      <p:sp>
        <p:nvSpPr>
          <p:cNvPr id="17" name="Text 12"/>
          <p:cNvSpPr/>
          <p:nvPr/>
        </p:nvSpPr>
        <p:spPr>
          <a:xfrm>
            <a:off x="8222457" y="3298924"/>
            <a:ext cx="3118942" cy="1209675"/>
          </a:xfrm>
          <a:prstGeom prst="rect">
            <a:avLst/>
          </a:prstGeom>
          <a:noFill/>
          <a:ln/>
        </p:spPr>
        <p:txBody>
          <a:bodyPr wrap="square" lIns="0" tIns="0" rIns="0" bIns="0" rtlCol="0" anchor="t"/>
          <a:lstStyle/>
          <a:p>
            <a:pPr>
              <a:lnSpc>
                <a:spcPts val="2375"/>
              </a:lnSpc>
            </a:pPr>
            <a:r>
              <a:rPr lang="en-US" sz="1458" dirty="0">
                <a:solidFill>
                  <a:srgbClr val="000000"/>
                </a:solidFill>
                <a:latin typeface="Arimo" pitchFamily="34" charset="0"/>
                <a:ea typeface="Arimo" pitchFamily="34" charset="-122"/>
                <a:cs typeface="Arimo" pitchFamily="34" charset="-120"/>
              </a:rPr>
              <a:t>Microsoft entered the market with Internet Explorer, beginning the famous "browser wars" and further popularizing Web access.</a:t>
            </a:r>
            <a:endParaRPr lang="en-US" sz="1458" dirty="0"/>
          </a:p>
        </p:txBody>
      </p:sp>
    </p:spTree>
    <p:extLst>
      <p:ext uri="{BB962C8B-B14F-4D97-AF65-F5344CB8AC3E}">
        <p14:creationId xmlns:p14="http://schemas.microsoft.com/office/powerpoint/2010/main" val="39367810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10343" y="1115810"/>
            <a:ext cx="9479902" cy="5232202"/>
          </a:xfrm>
          <a:prstGeom prst="rect">
            <a:avLst/>
          </a:prstGeom>
        </p:spPr>
        <p:txBody>
          <a:bodyPr wrap="square">
            <a:spAutoFit/>
          </a:bodyPr>
          <a:lstStyle/>
          <a:p>
            <a:r>
              <a:rPr lang="en-US" sz="2800" b="1" dirty="0">
                <a:solidFill>
                  <a:srgbClr val="FF0000"/>
                </a:solidFill>
                <a:latin typeface="Times New Roman" panose="02020603050405020304" pitchFamily="18" charset="0"/>
                <a:cs typeface="Times New Roman" panose="02020603050405020304" pitchFamily="18" charset="0"/>
              </a:rPr>
              <a:t>World Wide </a:t>
            </a:r>
            <a:r>
              <a:rPr lang="en-US" sz="2800" b="1" dirty="0" smtClean="0">
                <a:solidFill>
                  <a:srgbClr val="FF0000"/>
                </a:solidFill>
                <a:latin typeface="Times New Roman" panose="02020603050405020304" pitchFamily="18" charset="0"/>
                <a:cs typeface="Times New Roman" panose="02020603050405020304" pitchFamily="18" charset="0"/>
              </a:rPr>
              <a:t>Web</a:t>
            </a:r>
          </a:p>
          <a:p>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World Wide Web is officially defined as a </a:t>
            </a:r>
            <a:r>
              <a:rPr lang="en-US" b="1" dirty="0">
                <a:latin typeface="Times New Roman" panose="02020603050405020304" pitchFamily="18" charset="0"/>
                <a:cs typeface="Times New Roman" panose="02020603050405020304" pitchFamily="18" charset="0"/>
              </a:rPr>
              <a:t>“wide-area hypermedia information retrieval initiative aiming to give universal access to a large universe of documents.”</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simple terms, the Web is an </a:t>
            </a:r>
            <a:r>
              <a:rPr lang="en-US" b="1" dirty="0">
                <a:latin typeface="Times New Roman" panose="02020603050405020304" pitchFamily="18" charset="0"/>
                <a:cs typeface="Times New Roman" panose="02020603050405020304" pitchFamily="18" charset="0"/>
              </a:rPr>
              <a:t>Internet-based computer network</a:t>
            </a:r>
            <a:r>
              <a:rPr lang="en-US" dirty="0">
                <a:latin typeface="Times New Roman" panose="02020603050405020304" pitchFamily="18" charset="0"/>
                <a:cs typeface="Times New Roman" panose="02020603050405020304" pitchFamily="18" charset="0"/>
              </a:rPr>
              <a:t> that enables users on one computer to access information stored on another computer via the Internet.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Web follows a standard </a:t>
            </a:r>
            <a:r>
              <a:rPr lang="en-US" b="1" dirty="0">
                <a:latin typeface="Times New Roman" panose="02020603050405020304" pitchFamily="18" charset="0"/>
                <a:cs typeface="Times New Roman" panose="02020603050405020304" pitchFamily="18" charset="0"/>
              </a:rPr>
              <a:t>client–server model</a:t>
            </a:r>
            <a:r>
              <a:rPr lang="en-US" dirty="0">
                <a:latin typeface="Times New Roman" panose="02020603050405020304" pitchFamily="18" charset="0"/>
                <a:cs typeface="Times New Roman" panose="02020603050405020304" pitchFamily="18" charset="0"/>
              </a:rPr>
              <a:t>:</a:t>
            </a:r>
          </a:p>
          <a:p>
            <a:pPr lvl="1"/>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client</a:t>
            </a:r>
            <a:r>
              <a:rPr lang="en-US" dirty="0">
                <a:latin typeface="Times New Roman" panose="02020603050405020304" pitchFamily="18" charset="0"/>
                <a:cs typeface="Times New Roman" panose="02020603050405020304" pitchFamily="18" charset="0"/>
              </a:rPr>
              <a:t> is the program used by the user to connect to remote machines.</a:t>
            </a:r>
          </a:p>
          <a:p>
            <a:pPr lvl="1"/>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server</a:t>
            </a:r>
            <a:r>
              <a:rPr lang="en-US" dirty="0">
                <a:latin typeface="Times New Roman" panose="02020603050405020304" pitchFamily="18" charset="0"/>
                <a:cs typeface="Times New Roman" panose="02020603050405020304" pitchFamily="18" charset="0"/>
              </a:rPr>
              <a:t> is the remote machine where the data is stored.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Navigation on the Web is done using a </a:t>
            </a:r>
            <a:r>
              <a:rPr lang="en-US" b="1" dirty="0">
                <a:latin typeface="Times New Roman" panose="02020603050405020304" pitchFamily="18" charset="0"/>
                <a:cs typeface="Times New Roman" panose="02020603050405020304" pitchFamily="18" charset="0"/>
              </a:rPr>
              <a:t>web browser</a:t>
            </a:r>
            <a:r>
              <a:rPr lang="en-US" dirty="0">
                <a:latin typeface="Times New Roman" panose="02020603050405020304" pitchFamily="18" charset="0"/>
                <a:cs typeface="Times New Roman" panose="02020603050405020304" pitchFamily="18" charset="0"/>
              </a:rPr>
              <a:t> (client program), such as:</a:t>
            </a:r>
          </a:p>
          <a:p>
            <a:pPr lvl="1"/>
            <a:r>
              <a:rPr lang="en-US" dirty="0">
                <a:latin typeface="Times New Roman" panose="02020603050405020304" pitchFamily="18" charset="0"/>
                <a:cs typeface="Times New Roman" panose="02020603050405020304" pitchFamily="18" charset="0"/>
              </a:rPr>
              <a:t>Netscape</a:t>
            </a:r>
          </a:p>
          <a:p>
            <a:pPr lvl="1"/>
            <a:r>
              <a:rPr lang="en-US" dirty="0">
                <a:latin typeface="Times New Roman" panose="02020603050405020304" pitchFamily="18" charset="0"/>
                <a:cs typeface="Times New Roman" panose="02020603050405020304" pitchFamily="18" charset="0"/>
              </a:rPr>
              <a:t>Internet Explorer</a:t>
            </a:r>
          </a:p>
          <a:p>
            <a:pPr lvl="1"/>
            <a:r>
              <a:rPr lang="en-US" dirty="0">
                <a:latin typeface="Times New Roman" panose="02020603050405020304" pitchFamily="18" charset="0"/>
                <a:cs typeface="Times New Roman" panose="02020603050405020304" pitchFamily="18" charset="0"/>
              </a:rPr>
              <a:t>Firefox</a:t>
            </a:r>
          </a:p>
          <a:p>
            <a:pPr lvl="1"/>
            <a:r>
              <a:rPr lang="en-US" dirty="0">
                <a:latin typeface="Times New Roman" panose="02020603050405020304" pitchFamily="18" charset="0"/>
                <a:cs typeface="Times New Roman" panose="02020603050405020304" pitchFamily="18" charset="0"/>
              </a:rPr>
              <a:t>Chrome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Web browsers work by:</a:t>
            </a:r>
          </a:p>
          <a:p>
            <a:pPr lvl="1"/>
            <a:r>
              <a:rPr lang="en-US" dirty="0">
                <a:latin typeface="Times New Roman" panose="02020603050405020304" pitchFamily="18" charset="0"/>
                <a:cs typeface="Times New Roman" panose="02020603050405020304" pitchFamily="18" charset="0"/>
              </a:rPr>
              <a:t>Sending </a:t>
            </a:r>
            <a:r>
              <a:rPr lang="en-US" b="1" dirty="0">
                <a:latin typeface="Times New Roman" panose="02020603050405020304" pitchFamily="18" charset="0"/>
                <a:cs typeface="Times New Roman" panose="02020603050405020304" pitchFamily="18" charset="0"/>
              </a:rPr>
              <a:t>requests</a:t>
            </a:r>
            <a:r>
              <a:rPr lang="en-US" dirty="0">
                <a:latin typeface="Times New Roman" panose="02020603050405020304" pitchFamily="18" charset="0"/>
                <a:cs typeface="Times New Roman" panose="02020603050405020304" pitchFamily="18" charset="0"/>
              </a:rPr>
              <a:t> to remote servers for information.</a:t>
            </a:r>
          </a:p>
          <a:p>
            <a:pPr lvl="1"/>
            <a:r>
              <a:rPr lang="en-US" b="1" dirty="0">
                <a:latin typeface="Times New Roman" panose="02020603050405020304" pitchFamily="18" charset="0"/>
                <a:cs typeface="Times New Roman" panose="02020603050405020304" pitchFamily="18" charset="0"/>
              </a:rPr>
              <a:t>Interpreting and displaying</a:t>
            </a:r>
            <a:r>
              <a:rPr lang="en-US" dirty="0">
                <a:latin typeface="Times New Roman" panose="02020603050405020304" pitchFamily="18" charset="0"/>
                <a:cs typeface="Times New Roman" panose="02020603050405020304" pitchFamily="18" charset="0"/>
              </a:rPr>
              <a:t> the information retrieved from those servers.</a:t>
            </a:r>
          </a:p>
          <a:p>
            <a:endParaRPr lang="en-US" b="1"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18441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22051" y="1350921"/>
            <a:ext cx="9281581" cy="3139321"/>
          </a:xfrm>
          <a:prstGeom prst="rect">
            <a:avLst/>
          </a:prstGeom>
        </p:spPr>
        <p:txBody>
          <a:bodyPr wrap="square">
            <a:spAutoFit/>
          </a:bodyPr>
          <a:lstStyle/>
          <a:p>
            <a:r>
              <a:rPr lang="en-US" b="1" dirty="0">
                <a:solidFill>
                  <a:srgbClr val="FF0000"/>
                </a:solidFill>
              </a:rPr>
              <a:t>Hypertext and Web </a:t>
            </a:r>
            <a:r>
              <a:rPr lang="en-US" b="1" dirty="0" smtClean="0">
                <a:solidFill>
                  <a:srgbClr val="FF0000"/>
                </a:solidFill>
              </a:rPr>
              <a:t>Operation</a:t>
            </a:r>
            <a:endParaRPr lang="en-US" b="1" dirty="0">
              <a:solidFill>
                <a:srgbClr val="FF0000"/>
              </a:solidFill>
            </a:endParaRPr>
          </a:p>
          <a:p>
            <a:pPr>
              <a:lnSpc>
                <a:spcPct val="250000"/>
              </a:lnSpc>
              <a:buFont typeface="Arial" panose="020B0604020202020204" pitchFamily="34" charset="0"/>
              <a:buChar char="•"/>
            </a:pPr>
            <a:r>
              <a:rPr lang="en-US" dirty="0"/>
              <a:t>The Web operates based on the structure of </a:t>
            </a:r>
            <a:r>
              <a:rPr lang="en-US" b="1" dirty="0"/>
              <a:t>hypertext documents</a:t>
            </a:r>
            <a:r>
              <a:rPr lang="en-US" dirty="0"/>
              <a:t>.</a:t>
            </a:r>
          </a:p>
          <a:p>
            <a:pPr>
              <a:lnSpc>
                <a:spcPct val="250000"/>
              </a:lnSpc>
              <a:buFont typeface="Arial" panose="020B0604020202020204" pitchFamily="34" charset="0"/>
              <a:buChar char="•"/>
            </a:pPr>
            <a:r>
              <a:rPr lang="en-US" b="1" dirty="0"/>
              <a:t>Hypertext</a:t>
            </a:r>
            <a:r>
              <a:rPr lang="en-US" dirty="0"/>
              <a:t> enables authors to link one document to other related documents across the world.</a:t>
            </a:r>
          </a:p>
          <a:p>
            <a:pPr>
              <a:lnSpc>
                <a:spcPct val="250000"/>
              </a:lnSpc>
              <a:buFont typeface="Arial" panose="020B0604020202020204" pitchFamily="34" charset="0"/>
              <a:buChar char="•"/>
            </a:pPr>
            <a:r>
              <a:rPr lang="en-US" dirty="0"/>
              <a:t>These linked documents can reside on </a:t>
            </a:r>
            <a:r>
              <a:rPr lang="en-US" b="1" dirty="0"/>
              <a:t>any computer connected to the Internet</a:t>
            </a:r>
            <a:r>
              <a:rPr lang="en-US" dirty="0"/>
              <a:t>.</a:t>
            </a:r>
          </a:p>
          <a:p>
            <a:pPr>
              <a:lnSpc>
                <a:spcPct val="250000"/>
              </a:lnSpc>
              <a:buFont typeface="Arial" panose="020B0604020202020204" pitchFamily="34" charset="0"/>
              <a:buChar char="•"/>
            </a:pPr>
            <a:r>
              <a:rPr lang="en-US" dirty="0"/>
              <a:t>Users can access the related documents simply by following </a:t>
            </a:r>
            <a:r>
              <a:rPr lang="en-US" b="1" dirty="0"/>
              <a:t>hyperlinks</a:t>
            </a:r>
            <a:r>
              <a:rPr lang="en-US" dirty="0"/>
              <a:t> (links within the page).</a:t>
            </a:r>
          </a:p>
        </p:txBody>
      </p:sp>
    </p:spTree>
    <p:extLst>
      <p:ext uri="{BB962C8B-B14F-4D97-AF65-F5344CB8AC3E}">
        <p14:creationId xmlns:p14="http://schemas.microsoft.com/office/powerpoint/2010/main" val="3146312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18458" y="1498190"/>
            <a:ext cx="10562252" cy="5016758"/>
          </a:xfrm>
          <a:prstGeom prst="rect">
            <a:avLst/>
          </a:prstGeom>
        </p:spPr>
        <p:txBody>
          <a:bodyPr wrap="square">
            <a:spAutoFit/>
          </a:bodyPr>
          <a:lstStyle/>
          <a:p>
            <a:r>
              <a:rPr lang="en-US" sz="3200" b="1" dirty="0">
                <a:solidFill>
                  <a:srgbClr val="FF0000"/>
                </a:solidFill>
                <a:latin typeface="Times New Roman" panose="02020603050405020304" pitchFamily="18" charset="0"/>
                <a:cs typeface="Times New Roman" panose="02020603050405020304" pitchFamily="18" charset="0"/>
              </a:rPr>
              <a:t>History of the Web and the Internet</a:t>
            </a:r>
          </a:p>
          <a:p>
            <a:pPr>
              <a:buFont typeface="Arial" panose="020B0604020202020204" pitchFamily="34" charset="0"/>
              <a:buChar char="•"/>
            </a:pPr>
            <a:endParaRPr lang="en-IN" b="1" dirty="0" smtClean="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IN" sz="2000" b="1" dirty="0" smtClean="0">
                <a:latin typeface="Times New Roman" panose="02020603050405020304" pitchFamily="18" charset="0"/>
                <a:cs typeface="Times New Roman" panose="02020603050405020304" pitchFamily="18" charset="0"/>
              </a:rPr>
              <a:t>1989</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Tim Berners-Lee created the Web at CERN; introduced </a:t>
            </a:r>
            <a:r>
              <a:rPr lang="en-IN" sz="2000" b="1" dirty="0">
                <a:latin typeface="Times New Roman" panose="02020603050405020304" pitchFamily="18" charset="0"/>
                <a:cs typeface="Times New Roman" panose="02020603050405020304" pitchFamily="18" charset="0"/>
              </a:rPr>
              <a:t>HTTP, HTML, URL</a:t>
            </a:r>
            <a:r>
              <a:rPr lang="en-IN" sz="2000" dirty="0">
                <a:latin typeface="Times New Roman" panose="02020603050405020304" pitchFamily="18" charset="0"/>
                <a:cs typeface="Times New Roman" panose="02020603050405020304" pitchFamily="18" charset="0"/>
              </a:rPr>
              <a:t>, first server &amp; browser</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1993:</a:t>
            </a:r>
            <a:r>
              <a:rPr lang="en-IN" sz="2000" dirty="0">
                <a:latin typeface="Times New Roman" panose="02020603050405020304" pitchFamily="18" charset="0"/>
                <a:cs typeface="Times New Roman" panose="02020603050405020304" pitchFamily="18" charset="0"/>
              </a:rPr>
              <a:t> Mosaic browser released → first graphical, cross-platform Web browser</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1994:</a:t>
            </a:r>
            <a:r>
              <a:rPr lang="en-IN" sz="2000" dirty="0">
                <a:latin typeface="Times New Roman" panose="02020603050405020304" pitchFamily="18" charset="0"/>
                <a:cs typeface="Times New Roman" panose="02020603050405020304" pitchFamily="18" charset="0"/>
              </a:rPr>
              <a:t> Netscape founded; Web usage exploded</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1995:</a:t>
            </a:r>
            <a:r>
              <a:rPr lang="en-IN" sz="2000" dirty="0">
                <a:latin typeface="Times New Roman" panose="02020603050405020304" pitchFamily="18" charset="0"/>
                <a:cs typeface="Times New Roman" panose="02020603050405020304" pitchFamily="18" charset="0"/>
              </a:rPr>
              <a:t> Microsoft launched Internet Explorer → browser wars</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Internet origins:</a:t>
            </a:r>
            <a:r>
              <a:rPr lang="en-IN" sz="2000" dirty="0">
                <a:latin typeface="Times New Roman" panose="02020603050405020304" pitchFamily="18" charset="0"/>
                <a:cs typeface="Times New Roman" panose="02020603050405020304" pitchFamily="18" charset="0"/>
              </a:rPr>
              <a:t> Began as </a:t>
            </a:r>
            <a:r>
              <a:rPr lang="en-IN" sz="2000" b="1" dirty="0">
                <a:latin typeface="Times New Roman" panose="02020603050405020304" pitchFamily="18" charset="0"/>
                <a:cs typeface="Times New Roman" panose="02020603050405020304" pitchFamily="18" charset="0"/>
              </a:rPr>
              <a:t>ARPANET</a:t>
            </a:r>
            <a:r>
              <a:rPr lang="en-IN" sz="2000" dirty="0">
                <a:latin typeface="Times New Roman" panose="02020603050405020304" pitchFamily="18" charset="0"/>
                <a:cs typeface="Times New Roman" panose="02020603050405020304" pitchFamily="18" charset="0"/>
              </a:rPr>
              <a:t> (1969); </a:t>
            </a:r>
            <a:r>
              <a:rPr lang="en-IN" sz="2000" b="1" dirty="0">
                <a:latin typeface="Times New Roman" panose="02020603050405020304" pitchFamily="18" charset="0"/>
                <a:cs typeface="Times New Roman" panose="02020603050405020304" pitchFamily="18" charset="0"/>
              </a:rPr>
              <a:t>TCP/IP</a:t>
            </a:r>
            <a:r>
              <a:rPr lang="en-IN" sz="2000" dirty="0">
                <a:latin typeface="Times New Roman" panose="02020603050405020304" pitchFamily="18" charset="0"/>
                <a:cs typeface="Times New Roman" panose="02020603050405020304" pitchFamily="18" charset="0"/>
              </a:rPr>
              <a:t> developed by Cerf &amp; Kahn (1973–82); Internet born in 1982.</a:t>
            </a:r>
          </a:p>
          <a:p>
            <a:pPr>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Search engines:</a:t>
            </a:r>
            <a:r>
              <a:rPr lang="en-IN" sz="2000" dirty="0">
                <a:latin typeface="Times New Roman" panose="02020603050405020304" pitchFamily="18" charset="0"/>
                <a:cs typeface="Times New Roman" panose="02020603050405020304" pitchFamily="18" charset="0"/>
              </a:rPr>
              <a:t> Excite (1993), Yahoo! (1994), Google (1998), MSN/Bing (2005).</a:t>
            </a:r>
          </a:p>
          <a:p>
            <a:pPr>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W3C (1994):</a:t>
            </a:r>
            <a:r>
              <a:rPr lang="en-IN" sz="2000" dirty="0">
                <a:latin typeface="Times New Roman" panose="02020603050405020304" pitchFamily="18" charset="0"/>
                <a:cs typeface="Times New Roman" panose="02020603050405020304" pitchFamily="18" charset="0"/>
              </a:rPr>
              <a:t> Sets standards for Web technologies.</a:t>
            </a:r>
          </a:p>
        </p:txBody>
      </p:sp>
    </p:spTree>
    <p:extLst>
      <p:ext uri="{BB962C8B-B14F-4D97-AF65-F5344CB8AC3E}">
        <p14:creationId xmlns:p14="http://schemas.microsoft.com/office/powerpoint/2010/main" val="28942948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232055" y="2071375"/>
            <a:ext cx="9806473" cy="3831818"/>
          </a:xfrm>
          <a:prstGeom prst="rect">
            <a:avLst/>
          </a:prstGeom>
        </p:spPr>
        <p:txBody>
          <a:bodyPr wrap="square">
            <a:spAutoFit/>
          </a:bodyPr>
          <a:lstStyle/>
          <a:p>
            <a:pPr>
              <a:lnSpc>
                <a:spcPct val="150000"/>
              </a:lnSpc>
            </a:pPr>
            <a:r>
              <a:rPr lang="en-US" dirty="0"/>
              <a:t>Data mining is also called </a:t>
            </a:r>
            <a:r>
              <a:rPr lang="en-US" b="1" dirty="0">
                <a:solidFill>
                  <a:srgbClr val="FF0000"/>
                </a:solidFill>
              </a:rPr>
              <a:t>knowledge discovery in databases (KDD)</a:t>
            </a:r>
            <a:r>
              <a:rPr lang="en-US" dirty="0"/>
              <a:t>.</a:t>
            </a:r>
          </a:p>
          <a:p>
            <a:pPr>
              <a:lnSpc>
                <a:spcPct val="150000"/>
              </a:lnSpc>
            </a:pPr>
            <a:r>
              <a:rPr lang="en-US" dirty="0"/>
              <a:t> It is commonly defined as the process of discovering useful patterns or knowledge from data sources, e.g., databases, texts, images, the Web, etc. </a:t>
            </a:r>
          </a:p>
          <a:p>
            <a:pPr>
              <a:lnSpc>
                <a:spcPct val="150000"/>
              </a:lnSpc>
            </a:pPr>
            <a:r>
              <a:rPr lang="en-US" dirty="0"/>
              <a:t>Data mining is a multi-disciplinary field involving machine learning, statistics, databases, artificial intelligence, information retrieval, and visualization. </a:t>
            </a:r>
          </a:p>
          <a:p>
            <a:pPr>
              <a:lnSpc>
                <a:spcPct val="150000"/>
              </a:lnSpc>
            </a:pPr>
            <a:r>
              <a:rPr lang="en-US" dirty="0"/>
              <a:t>There are many data mining tasks. Some of the common ones are </a:t>
            </a:r>
            <a:endParaRPr lang="en-US" dirty="0" smtClean="0"/>
          </a:p>
          <a:p>
            <a:pPr>
              <a:lnSpc>
                <a:spcPct val="150000"/>
              </a:lnSpc>
            </a:pPr>
            <a:r>
              <a:rPr lang="en-US" dirty="0"/>
              <a:t>	1.Supervised learning (or classification), </a:t>
            </a:r>
          </a:p>
          <a:p>
            <a:pPr>
              <a:lnSpc>
                <a:spcPct val="150000"/>
              </a:lnSpc>
            </a:pPr>
            <a:r>
              <a:rPr lang="en-US" dirty="0"/>
              <a:t>	2.Unsupervised learning (or clustering), </a:t>
            </a:r>
          </a:p>
          <a:p>
            <a:pPr>
              <a:lnSpc>
                <a:spcPct val="150000"/>
              </a:lnSpc>
            </a:pPr>
            <a:r>
              <a:rPr lang="en-US" dirty="0"/>
              <a:t>	3.Association rule mining, and sequential pattern mining. </a:t>
            </a:r>
            <a:endParaRPr lang="en-IN" dirty="0"/>
          </a:p>
        </p:txBody>
      </p:sp>
      <p:sp>
        <p:nvSpPr>
          <p:cNvPr id="4" name="Rectangle 3"/>
          <p:cNvSpPr/>
          <p:nvPr/>
        </p:nvSpPr>
        <p:spPr>
          <a:xfrm>
            <a:off x="1538820" y="1322228"/>
            <a:ext cx="4442102" cy="800219"/>
          </a:xfrm>
          <a:prstGeom prst="rect">
            <a:avLst/>
          </a:prstGeom>
        </p:spPr>
        <p:txBody>
          <a:bodyPr wrap="square">
            <a:spAutoFit/>
          </a:bodyPr>
          <a:lstStyle/>
          <a:p>
            <a:r>
              <a:rPr lang="en-US" sz="2800" b="1" dirty="0">
                <a:solidFill>
                  <a:srgbClr val="FF0000"/>
                </a:solidFill>
              </a:rPr>
              <a:t>What is Data Mining</a:t>
            </a:r>
            <a:r>
              <a:rPr lang="en-US" sz="2800" b="1" dirty="0" smtClean="0">
                <a:solidFill>
                  <a:srgbClr val="FF0000"/>
                </a:solidFill>
              </a:rPr>
              <a:t>?</a:t>
            </a:r>
          </a:p>
          <a:p>
            <a:endParaRPr lang="en-IN" dirty="0">
              <a:solidFill>
                <a:srgbClr val="FF0000"/>
              </a:solidFill>
            </a:endParaRPr>
          </a:p>
        </p:txBody>
      </p:sp>
    </p:spTree>
    <p:extLst>
      <p:ext uri="{BB962C8B-B14F-4D97-AF65-F5344CB8AC3E}">
        <p14:creationId xmlns:p14="http://schemas.microsoft.com/office/powerpoint/2010/main" val="42914435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60793" y="1373085"/>
            <a:ext cx="10177321" cy="4339650"/>
          </a:xfrm>
          <a:prstGeom prst="rect">
            <a:avLst/>
          </a:prstGeom>
        </p:spPr>
        <p:txBody>
          <a:bodyPr wrap="square">
            <a:spAutoFit/>
          </a:bodyPr>
          <a:lstStyle/>
          <a:p>
            <a:endParaRPr lang="en-US" b="1" dirty="0" smtClean="0">
              <a:solidFill>
                <a:srgbClr val="FF0000"/>
              </a:solidFill>
              <a:latin typeface="Calibri" panose="020F0502020204030204" pitchFamily="34" charset="0"/>
            </a:endParaRPr>
          </a:p>
          <a:p>
            <a:r>
              <a:rPr lang="en-US" sz="2400" b="1" dirty="0" smtClean="0">
                <a:solidFill>
                  <a:srgbClr val="FF0000"/>
                </a:solidFill>
                <a:latin typeface="Calibri" panose="020F0502020204030204" pitchFamily="34" charset="0"/>
              </a:rPr>
              <a:t>Data </a:t>
            </a:r>
            <a:r>
              <a:rPr lang="en-US" sz="2400" b="1" dirty="0">
                <a:solidFill>
                  <a:srgbClr val="FF0000"/>
                </a:solidFill>
                <a:latin typeface="Calibri" panose="020F0502020204030204" pitchFamily="34" charset="0"/>
              </a:rPr>
              <a:t>mining can be performed,  in three main steps: </a:t>
            </a:r>
            <a:endParaRPr lang="en-US" sz="2400" b="1" dirty="0" smtClean="0">
              <a:solidFill>
                <a:srgbClr val="FF0000"/>
              </a:solidFill>
              <a:latin typeface="Calibri" panose="020F0502020204030204" pitchFamily="34" charset="0"/>
            </a:endParaRPr>
          </a:p>
          <a:p>
            <a:r>
              <a:rPr lang="en-US" b="1" dirty="0">
                <a:solidFill>
                  <a:srgbClr val="000000"/>
                </a:solidFill>
                <a:latin typeface="Calibri" panose="020F0502020204030204" pitchFamily="34" charset="0"/>
              </a:rPr>
              <a:t/>
            </a:r>
            <a:br>
              <a:rPr lang="en-US" b="1" dirty="0">
                <a:solidFill>
                  <a:srgbClr val="000000"/>
                </a:solidFill>
                <a:latin typeface="Calibri" panose="020F0502020204030204" pitchFamily="34" charset="0"/>
              </a:rPr>
            </a:br>
            <a:endParaRPr lang="en-US" b="1" dirty="0" smtClean="0">
              <a:solidFill>
                <a:srgbClr val="000000"/>
              </a:solidFill>
              <a:latin typeface="Calibri" panose="020F0502020204030204" pitchFamily="34" charset="0"/>
            </a:endParaRPr>
          </a:p>
          <a:p>
            <a:r>
              <a:rPr lang="en-US" b="1" dirty="0"/>
              <a:t>1.Pre-processing: </a:t>
            </a:r>
            <a:r>
              <a:rPr lang="en-US" dirty="0"/>
              <a:t>The raw data is usually not suitable for mining due to various reasons. It may need to be cleaned to remove noises or abnormalities. The data may also be too large and/or involve many irrelevant attributes, which call for data reduction through sampling and attribute or feature selection. </a:t>
            </a:r>
            <a:endParaRPr lang="en-US" dirty="0" smtClean="0"/>
          </a:p>
          <a:p>
            <a:endParaRPr lang="en-US" dirty="0"/>
          </a:p>
          <a:p>
            <a:r>
              <a:rPr lang="en-US" dirty="0"/>
              <a:t>2.  </a:t>
            </a:r>
            <a:r>
              <a:rPr lang="en-US" b="1" dirty="0"/>
              <a:t>Data mining: </a:t>
            </a:r>
            <a:r>
              <a:rPr lang="en-US" dirty="0"/>
              <a:t>The processed data is then fed to a data mining   </a:t>
            </a:r>
          </a:p>
          <a:p>
            <a:r>
              <a:rPr lang="en-US" dirty="0"/>
              <a:t>   algorithm which will produce patterns or knowledge</a:t>
            </a:r>
            <a:r>
              <a:rPr lang="en-US" dirty="0" smtClean="0"/>
              <a:t>.</a:t>
            </a:r>
          </a:p>
          <a:p>
            <a:endParaRPr lang="en-US" dirty="0"/>
          </a:p>
          <a:p>
            <a:r>
              <a:rPr lang="en-US" dirty="0"/>
              <a:t>3. </a:t>
            </a:r>
            <a:r>
              <a:rPr lang="en-US" b="1" dirty="0"/>
              <a:t>Post-processing: </a:t>
            </a:r>
            <a:r>
              <a:rPr lang="en-US" dirty="0"/>
              <a:t>In many applications, not all discovered patterns are useful. This step identifies those useful ones for applications. Various evaluation and visualization techniques are used to make the decision. </a:t>
            </a:r>
          </a:p>
          <a:p>
            <a:r>
              <a:rPr lang="en-US" dirty="0"/>
              <a:t/>
            </a:r>
            <a:br>
              <a:rPr lang="en-US" dirty="0"/>
            </a:br>
            <a:endParaRPr lang="en-IN" dirty="0"/>
          </a:p>
        </p:txBody>
      </p:sp>
    </p:spTree>
    <p:extLst>
      <p:ext uri="{BB962C8B-B14F-4D97-AF65-F5344CB8AC3E}">
        <p14:creationId xmlns:p14="http://schemas.microsoft.com/office/powerpoint/2010/main" val="5323960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88571" y="1276848"/>
            <a:ext cx="9072466" cy="3570208"/>
          </a:xfrm>
          <a:prstGeom prst="rect">
            <a:avLst/>
          </a:prstGeom>
        </p:spPr>
        <p:txBody>
          <a:bodyPr wrap="square">
            <a:spAutoFit/>
          </a:bodyPr>
          <a:lstStyle/>
          <a:p>
            <a:r>
              <a:rPr lang="en-IN" sz="2800" b="1" dirty="0">
                <a:solidFill>
                  <a:srgbClr val="FF0000"/>
                </a:solidFill>
                <a:latin typeface="Calibri" panose="020F0502020204030204" pitchFamily="34" charset="0"/>
              </a:rPr>
              <a:t>Applications</a:t>
            </a:r>
            <a:r>
              <a:rPr lang="en-IN" sz="2800" b="1" dirty="0" smtClean="0">
                <a:solidFill>
                  <a:srgbClr val="FF0000"/>
                </a:solidFill>
                <a:latin typeface="Calibri" panose="020F0502020204030204" pitchFamily="34" charset="0"/>
              </a:rPr>
              <a:t>:</a:t>
            </a:r>
          </a:p>
          <a:p>
            <a:endParaRPr lang="en-IN" b="1" dirty="0" smtClean="0">
              <a:solidFill>
                <a:srgbClr val="000000"/>
              </a:solidFill>
              <a:latin typeface="Calibri" panose="020F0502020204030204" pitchFamily="34" charset="0"/>
            </a:endParaRPr>
          </a:p>
          <a:p>
            <a:pPr fontAlgn="base"/>
            <a:r>
              <a:rPr lang="en-US" dirty="0"/>
              <a:t>Data mining has a wide range of applications across various industries, including </a:t>
            </a:r>
          </a:p>
          <a:p>
            <a:pPr marL="285750" indent="-285750" fontAlgn="base">
              <a:buFont typeface="Arial" panose="020B0604020202020204" pitchFamily="34" charset="0"/>
              <a:buChar char="•"/>
            </a:pPr>
            <a:r>
              <a:rPr lang="en-US" dirty="0"/>
              <a:t>Marketing, </a:t>
            </a:r>
          </a:p>
          <a:p>
            <a:pPr marL="285750" indent="-285750" fontAlgn="base">
              <a:buFont typeface="Arial" panose="020B0604020202020204" pitchFamily="34" charset="0"/>
              <a:buChar char="•"/>
            </a:pPr>
            <a:r>
              <a:rPr lang="en-US" dirty="0"/>
              <a:t>Finance, </a:t>
            </a:r>
          </a:p>
          <a:p>
            <a:pPr marL="285750" indent="-285750" fontAlgn="base">
              <a:buFont typeface="Arial" panose="020B0604020202020204" pitchFamily="34" charset="0"/>
              <a:buChar char="•"/>
            </a:pPr>
            <a:r>
              <a:rPr lang="en-US" dirty="0"/>
              <a:t>Healthcare, and </a:t>
            </a:r>
          </a:p>
          <a:p>
            <a:pPr marL="285750" indent="-285750" fontAlgn="base">
              <a:buFont typeface="Arial" panose="020B0604020202020204" pitchFamily="34" charset="0"/>
              <a:buChar char="•"/>
            </a:pPr>
            <a:r>
              <a:rPr lang="en-US" dirty="0"/>
              <a:t>Telecommunications. </a:t>
            </a:r>
          </a:p>
          <a:p>
            <a:pPr fontAlgn="base"/>
            <a:r>
              <a:rPr lang="en-US" dirty="0"/>
              <a:t>For example, in healthcare, it can be used to identify risk factors for diseases and develop personalized treatment plans.</a:t>
            </a:r>
          </a:p>
          <a:p>
            <a:endParaRPr lang="en-IN" dirty="0"/>
          </a:p>
          <a:p>
            <a:r>
              <a:rPr lang="en-IN" dirty="0"/>
              <a:t/>
            </a:r>
            <a:br>
              <a:rPr lang="en-IN" dirty="0"/>
            </a:br>
            <a:endParaRPr lang="en-IN" dirty="0"/>
          </a:p>
        </p:txBody>
      </p:sp>
    </p:spTree>
    <p:extLst>
      <p:ext uri="{BB962C8B-B14F-4D97-AF65-F5344CB8AC3E}">
        <p14:creationId xmlns:p14="http://schemas.microsoft.com/office/powerpoint/2010/main" val="1515937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85407" y="1284906"/>
            <a:ext cx="9244248" cy="3570208"/>
          </a:xfrm>
          <a:prstGeom prst="rect">
            <a:avLst/>
          </a:prstGeom>
        </p:spPr>
        <p:txBody>
          <a:bodyPr wrap="square">
            <a:spAutoFit/>
          </a:bodyPr>
          <a:lstStyle/>
          <a:p>
            <a:r>
              <a:rPr lang="en-IN" sz="2800" b="1" dirty="0">
                <a:solidFill>
                  <a:srgbClr val="FF0000"/>
                </a:solidFill>
              </a:rPr>
              <a:t>What is Web Mining</a:t>
            </a:r>
            <a:r>
              <a:rPr lang="en-IN" sz="2800" b="1" dirty="0" smtClean="0">
                <a:solidFill>
                  <a:srgbClr val="FF0000"/>
                </a:solidFill>
              </a:rPr>
              <a:t>?</a:t>
            </a:r>
          </a:p>
          <a:p>
            <a:endParaRPr lang="en-US" b="1" dirty="0"/>
          </a:p>
          <a:p>
            <a:r>
              <a:rPr lang="en-US" dirty="0"/>
              <a:t>Web mining aims to discover useful information or knowledge from the Web hyperlink structure, page content, and usage data</a:t>
            </a:r>
            <a:r>
              <a:rPr lang="en-US" dirty="0" smtClean="0"/>
              <a:t>.</a:t>
            </a:r>
          </a:p>
          <a:p>
            <a:endParaRPr lang="en-US" dirty="0"/>
          </a:p>
          <a:p>
            <a:pPr>
              <a:lnSpc>
                <a:spcPct val="150000"/>
              </a:lnSpc>
            </a:pPr>
            <a:r>
              <a:rPr lang="en-US" dirty="0"/>
              <a:t>Web mining can be broadly divided into three different types of techniques of mining:</a:t>
            </a:r>
          </a:p>
          <a:p>
            <a:pPr marL="514350" indent="-514350">
              <a:lnSpc>
                <a:spcPct val="150000"/>
              </a:lnSpc>
              <a:buAutoNum type="arabicPeriod"/>
            </a:pPr>
            <a:r>
              <a:rPr lang="en-US" dirty="0"/>
              <a:t>Web Structure Mining, </a:t>
            </a:r>
          </a:p>
          <a:p>
            <a:pPr marL="514350" indent="-514350">
              <a:lnSpc>
                <a:spcPct val="150000"/>
              </a:lnSpc>
              <a:buFont typeface="Arial" panose="020B0604020202020204" pitchFamily="34" charset="0"/>
              <a:buAutoNum type="arabicPeriod"/>
            </a:pPr>
            <a:r>
              <a:rPr lang="en-US" dirty="0"/>
              <a:t>Web Content Mining, and </a:t>
            </a:r>
          </a:p>
          <a:p>
            <a:pPr marL="514350" indent="-514350">
              <a:lnSpc>
                <a:spcPct val="150000"/>
              </a:lnSpc>
              <a:buAutoNum type="arabicPeriod"/>
            </a:pPr>
            <a:r>
              <a:rPr lang="en-US" dirty="0"/>
              <a:t>Web Usage Mining.</a:t>
            </a:r>
            <a:endParaRPr lang="en-IN" dirty="0"/>
          </a:p>
          <a:p>
            <a:endParaRPr lang="en-IN" dirty="0"/>
          </a:p>
        </p:txBody>
      </p:sp>
    </p:spTree>
    <p:extLst>
      <p:ext uri="{BB962C8B-B14F-4D97-AF65-F5344CB8AC3E}">
        <p14:creationId xmlns:p14="http://schemas.microsoft.com/office/powerpoint/2010/main" val="9536143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media.geeksforgeeks.org/wp-content/uploads/20221129202522/Screenshot2022112920243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1331" y="1129551"/>
            <a:ext cx="6623638" cy="52418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87970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92254" y="1407850"/>
            <a:ext cx="9895806" cy="4262705"/>
          </a:xfrm>
          <a:prstGeom prst="rect">
            <a:avLst/>
          </a:prstGeom>
        </p:spPr>
        <p:txBody>
          <a:bodyPr wrap="square">
            <a:spAutoFit/>
          </a:bodyPr>
          <a:lstStyle/>
          <a:p>
            <a:r>
              <a:rPr lang="en-US" sz="2800" b="1" dirty="0">
                <a:solidFill>
                  <a:srgbClr val="FF0000"/>
                </a:solidFill>
              </a:rPr>
              <a:t>Web Structure Mining</a:t>
            </a:r>
            <a:r>
              <a:rPr lang="en-US" sz="2800" b="1" dirty="0" smtClean="0">
                <a:solidFill>
                  <a:srgbClr val="FF0000"/>
                </a:solidFill>
              </a:rPr>
              <a:t>:</a:t>
            </a:r>
          </a:p>
          <a:p>
            <a:endParaRPr lang="en-US" b="1" dirty="0" smtClean="0"/>
          </a:p>
          <a:p>
            <a:pPr marL="285750" indent="-285750" fontAlgn="base">
              <a:lnSpc>
                <a:spcPct val="150000"/>
              </a:lnSpc>
              <a:buFont typeface="Arial" panose="020B0604020202020204" pitchFamily="34" charset="0"/>
              <a:buChar char="•"/>
            </a:pPr>
            <a:r>
              <a:rPr lang="en-US" dirty="0"/>
              <a:t>Web structure mining is the application of discovering structure information from the web. </a:t>
            </a:r>
          </a:p>
          <a:p>
            <a:pPr marL="285750" indent="-285750" fontAlgn="base">
              <a:lnSpc>
                <a:spcPct val="150000"/>
              </a:lnSpc>
              <a:buFont typeface="Arial" panose="020B0604020202020204" pitchFamily="34" charset="0"/>
              <a:buChar char="•"/>
            </a:pPr>
            <a:r>
              <a:rPr lang="en-US" dirty="0"/>
              <a:t>The structure of the web graph consists of web pages as nodes, and hyperlinks as edges connecting related pages. </a:t>
            </a:r>
          </a:p>
          <a:p>
            <a:pPr marL="285750" indent="-285750" fontAlgn="base">
              <a:lnSpc>
                <a:spcPct val="150000"/>
              </a:lnSpc>
              <a:buFont typeface="Arial" panose="020B0604020202020204" pitchFamily="34" charset="0"/>
              <a:buChar char="•"/>
            </a:pPr>
            <a:r>
              <a:rPr lang="en-US" dirty="0"/>
              <a:t>Structure mining basically shows the structured summary of a particular website.</a:t>
            </a:r>
          </a:p>
          <a:p>
            <a:pPr marL="285750" indent="-285750" fontAlgn="base">
              <a:lnSpc>
                <a:spcPct val="150000"/>
              </a:lnSpc>
              <a:buFont typeface="Arial" panose="020B0604020202020204" pitchFamily="34" charset="0"/>
              <a:buChar char="•"/>
            </a:pPr>
            <a:r>
              <a:rPr lang="en-US" dirty="0"/>
              <a:t>For example, from the links, we can discover important Web pages, which is a key technology used in </a:t>
            </a:r>
            <a:r>
              <a:rPr lang="en-US" dirty="0">
                <a:solidFill>
                  <a:schemeClr val="accent2"/>
                </a:solidFill>
              </a:rPr>
              <a:t>search engines</a:t>
            </a:r>
            <a:r>
              <a:rPr lang="en-US" dirty="0"/>
              <a:t>. </a:t>
            </a:r>
          </a:p>
          <a:p>
            <a:pPr marL="285750" indent="-285750" fontAlgn="base">
              <a:lnSpc>
                <a:spcPct val="150000"/>
              </a:lnSpc>
              <a:buFont typeface="Arial" panose="020B0604020202020204" pitchFamily="34" charset="0"/>
              <a:buChar char="•"/>
            </a:pPr>
            <a:r>
              <a:rPr lang="en-US" dirty="0"/>
              <a:t>We can also discover communities of users who share common interests</a:t>
            </a:r>
          </a:p>
          <a:p>
            <a:pPr marL="285750" indent="-285750">
              <a:buFont typeface="Arial" panose="020B0604020202020204" pitchFamily="34" charset="0"/>
              <a:buChar char="•"/>
            </a:pPr>
            <a:endParaRPr lang="en-US" b="1" dirty="0" smtClean="0"/>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7756447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98601" y="1185013"/>
            <a:ext cx="9440933" cy="4262705"/>
          </a:xfrm>
          <a:prstGeom prst="rect">
            <a:avLst/>
          </a:prstGeom>
        </p:spPr>
        <p:txBody>
          <a:bodyPr wrap="square">
            <a:spAutoFit/>
          </a:bodyPr>
          <a:lstStyle/>
          <a:p>
            <a:r>
              <a:rPr lang="en-US" sz="2800" b="1" dirty="0">
                <a:solidFill>
                  <a:srgbClr val="FF0000"/>
                </a:solidFill>
              </a:rPr>
              <a:t>Web Content Mining</a:t>
            </a:r>
            <a:r>
              <a:rPr lang="en-US" sz="2800" b="1" dirty="0" smtClean="0">
                <a:solidFill>
                  <a:srgbClr val="FF0000"/>
                </a:solidFill>
              </a:rPr>
              <a:t>:</a:t>
            </a:r>
          </a:p>
          <a:p>
            <a:pPr marL="285750" indent="-285750">
              <a:lnSpc>
                <a:spcPct val="150000"/>
              </a:lnSpc>
              <a:buFont typeface="Arial" panose="020B0604020202020204" pitchFamily="34" charset="0"/>
              <a:buChar char="•"/>
            </a:pPr>
            <a:r>
              <a:rPr lang="en-US" dirty="0"/>
              <a:t>Web content mining is the application of extracting useful information from the content of the web documents. </a:t>
            </a:r>
          </a:p>
          <a:p>
            <a:pPr marL="285750" indent="-285750">
              <a:lnSpc>
                <a:spcPct val="150000"/>
              </a:lnSpc>
              <a:buFont typeface="Arial" panose="020B0604020202020204" pitchFamily="34" charset="0"/>
              <a:buChar char="•"/>
            </a:pPr>
            <a:r>
              <a:rPr lang="en-US" dirty="0"/>
              <a:t>Web content consist of several types of data – text, image, audio, video etc. </a:t>
            </a:r>
          </a:p>
          <a:p>
            <a:pPr marL="285750" indent="-285750">
              <a:lnSpc>
                <a:spcPct val="150000"/>
              </a:lnSpc>
              <a:buFont typeface="Arial" panose="020B0604020202020204" pitchFamily="34" charset="0"/>
              <a:buChar char="•"/>
            </a:pPr>
            <a:r>
              <a:rPr lang="en-US" dirty="0"/>
              <a:t>Content data is the group of facts that a web page is designed. It can provide effective and interesting patterns about user needs. </a:t>
            </a:r>
          </a:p>
          <a:p>
            <a:pPr marL="285750" indent="-285750">
              <a:lnSpc>
                <a:spcPct val="150000"/>
              </a:lnSpc>
              <a:buFont typeface="Arial" panose="020B0604020202020204" pitchFamily="34" charset="0"/>
              <a:buChar char="•"/>
            </a:pPr>
            <a:r>
              <a:rPr lang="en-US" dirty="0"/>
              <a:t>Text documents are related to text mining, machine learning and natural language processing. </a:t>
            </a:r>
          </a:p>
          <a:p>
            <a:pPr marL="285750" indent="-285750">
              <a:lnSpc>
                <a:spcPct val="150000"/>
              </a:lnSpc>
              <a:buFont typeface="Arial" panose="020B0604020202020204" pitchFamily="34" charset="0"/>
              <a:buChar char="•"/>
            </a:pPr>
            <a:r>
              <a:rPr lang="en-US" dirty="0"/>
              <a:t>This mining is also known as text mining. This type of mining performs scanning and mining of the text, images and groups of web pages according to the content of the input.</a:t>
            </a:r>
          </a:p>
          <a:p>
            <a:pPr marL="285750" indent="-285750">
              <a:lnSpc>
                <a:spcPct val="150000"/>
              </a:lnSpc>
              <a:buFont typeface="Arial" panose="020B0604020202020204" pitchFamily="34" charset="0"/>
              <a:buChar char="•"/>
            </a:pPr>
            <a:endParaRPr lang="en-IN" dirty="0"/>
          </a:p>
        </p:txBody>
      </p:sp>
    </p:spTree>
    <p:extLst>
      <p:ext uri="{BB962C8B-B14F-4D97-AF65-F5344CB8AC3E}">
        <p14:creationId xmlns:p14="http://schemas.microsoft.com/office/powerpoint/2010/main" val="32968094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94741" y="1169645"/>
            <a:ext cx="9432826" cy="4539704"/>
          </a:xfrm>
          <a:prstGeom prst="rect">
            <a:avLst/>
          </a:prstGeom>
        </p:spPr>
        <p:txBody>
          <a:bodyPr wrap="square">
            <a:spAutoFit/>
          </a:bodyPr>
          <a:lstStyle/>
          <a:p>
            <a:r>
              <a:rPr lang="en-IN" sz="2800" b="1" dirty="0">
                <a:solidFill>
                  <a:srgbClr val="FF0000"/>
                </a:solidFill>
              </a:rPr>
              <a:t>Web Usage Mining</a:t>
            </a:r>
            <a:r>
              <a:rPr lang="en-IN" sz="2800" b="1" dirty="0" smtClean="0">
                <a:solidFill>
                  <a:srgbClr val="FF0000"/>
                </a:solidFill>
              </a:rPr>
              <a:t>:</a:t>
            </a:r>
          </a:p>
          <a:p>
            <a:endParaRPr lang="en-US" b="1" dirty="0"/>
          </a:p>
          <a:p>
            <a:pPr marL="285750" indent="-285750">
              <a:lnSpc>
                <a:spcPct val="150000"/>
              </a:lnSpc>
              <a:buFont typeface="Arial" panose="020B0604020202020204" pitchFamily="34" charset="0"/>
              <a:buChar char="•"/>
            </a:pPr>
            <a:r>
              <a:rPr lang="en-US" dirty="0"/>
              <a:t>Web usage mining involves analyzing user behavior on the web, including clickstream data, search queries, and other interactions with web pages. </a:t>
            </a:r>
          </a:p>
          <a:p>
            <a:pPr marL="285750" indent="-285750">
              <a:lnSpc>
                <a:spcPct val="150000"/>
              </a:lnSpc>
              <a:buFont typeface="Arial" panose="020B0604020202020204" pitchFamily="34" charset="0"/>
              <a:buChar char="•"/>
            </a:pPr>
            <a:r>
              <a:rPr lang="en-US" dirty="0"/>
              <a:t>Web usage mining can help identify user preferences, behavior patterns, and trends. </a:t>
            </a:r>
          </a:p>
          <a:p>
            <a:pPr marL="285750" indent="-285750">
              <a:lnSpc>
                <a:spcPct val="150000"/>
              </a:lnSpc>
              <a:buFont typeface="Arial" panose="020B0604020202020204" pitchFamily="34" charset="0"/>
              <a:buChar char="•"/>
            </a:pPr>
            <a:r>
              <a:rPr lang="en-US" dirty="0"/>
              <a:t>This information can be used to personalize content, improve website design, and target advertising. </a:t>
            </a:r>
          </a:p>
          <a:p>
            <a:pPr marL="285750" indent="-285750">
              <a:lnSpc>
                <a:spcPct val="150000"/>
              </a:lnSpc>
              <a:buFont typeface="Arial" panose="020B0604020202020204" pitchFamily="34" charset="0"/>
              <a:buChar char="•"/>
            </a:pPr>
            <a:r>
              <a:rPr lang="en-US" dirty="0"/>
              <a:t>Web usage mining can also be used for security purposes, such as detecting fraud and identifying potential security threats.</a:t>
            </a:r>
            <a:endParaRPr lang="en-IN" dirty="0"/>
          </a:p>
          <a:p>
            <a:pPr>
              <a:lnSpc>
                <a:spcPct val="150000"/>
              </a:lnSpc>
            </a:pPr>
            <a:endParaRPr lang="en-IN" b="1" dirty="0" smtClean="0"/>
          </a:p>
          <a:p>
            <a:pPr>
              <a:lnSpc>
                <a:spcPct val="150000"/>
              </a:lnSpc>
            </a:pPr>
            <a:endParaRPr lang="en-IN" dirty="0"/>
          </a:p>
        </p:txBody>
      </p:sp>
    </p:spTree>
    <p:extLst>
      <p:ext uri="{BB962C8B-B14F-4D97-AF65-F5344CB8AC3E}">
        <p14:creationId xmlns:p14="http://schemas.microsoft.com/office/powerpoint/2010/main" val="8041534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72624" y="962177"/>
            <a:ext cx="10593278" cy="6201698"/>
          </a:xfrm>
          <a:prstGeom prst="rect">
            <a:avLst/>
          </a:prstGeom>
        </p:spPr>
        <p:txBody>
          <a:bodyPr wrap="square">
            <a:spAutoFit/>
          </a:bodyPr>
          <a:lstStyle/>
          <a:p>
            <a:r>
              <a:rPr lang="en-IN" sz="2800" b="1" dirty="0">
                <a:solidFill>
                  <a:srgbClr val="FF0000"/>
                </a:solidFill>
              </a:rPr>
              <a:t>Applications of Web Mining</a:t>
            </a:r>
            <a:r>
              <a:rPr lang="en-IN" sz="2800" b="1" dirty="0" smtClean="0">
                <a:solidFill>
                  <a:srgbClr val="FF0000"/>
                </a:solidFill>
              </a:rPr>
              <a:t>:</a:t>
            </a:r>
          </a:p>
          <a:p>
            <a:endParaRPr lang="en-US" b="1" dirty="0"/>
          </a:p>
          <a:p>
            <a:pPr fontAlgn="base">
              <a:lnSpc>
                <a:spcPct val="150000"/>
              </a:lnSpc>
            </a:pPr>
            <a:r>
              <a:rPr lang="en-US" dirty="0"/>
              <a:t>The applications of web mining are wide-ranging and include:</a:t>
            </a:r>
          </a:p>
          <a:p>
            <a:pPr>
              <a:lnSpc>
                <a:spcPct val="150000"/>
              </a:lnSpc>
            </a:pPr>
            <a:r>
              <a:rPr lang="en-US" b="1" dirty="0"/>
              <a:t>E-commerce</a:t>
            </a:r>
            <a:r>
              <a:rPr lang="en-US" dirty="0"/>
              <a:t> -</a:t>
            </a:r>
            <a:br>
              <a:rPr lang="en-US" dirty="0"/>
            </a:br>
            <a:r>
              <a:rPr lang="en-US" dirty="0"/>
              <a:t>Web mining is used to analyze user behavior on e-commerce websites, including purchase history, search queries, and clickstream data. This information can be used to optimize website design, personalize product recommendations, and improve customer experience.</a:t>
            </a:r>
          </a:p>
          <a:p>
            <a:pPr fontAlgn="base">
              <a:lnSpc>
                <a:spcPct val="150000"/>
              </a:lnSpc>
            </a:pPr>
            <a:r>
              <a:rPr lang="en-US" b="1" dirty="0"/>
              <a:t>Search engine optimization: </a:t>
            </a:r>
            <a:endParaRPr lang="en-US" dirty="0"/>
          </a:p>
          <a:p>
            <a:pPr fontAlgn="base">
              <a:lnSpc>
                <a:spcPct val="150000"/>
              </a:lnSpc>
            </a:pPr>
            <a:r>
              <a:rPr lang="en-US" dirty="0"/>
              <a:t>Web mining can be used to analyze search engine queries and search engine results pages (SERPs). This information can be used to improve the visibility of websites in search engine results and increase traffic to the website.</a:t>
            </a:r>
          </a:p>
          <a:p>
            <a:pPr fontAlgn="base">
              <a:lnSpc>
                <a:spcPct val="150000"/>
              </a:lnSpc>
            </a:pPr>
            <a:r>
              <a:rPr lang="en-US" b="1" dirty="0"/>
              <a:t>Fraud detection: </a:t>
            </a:r>
            <a:endParaRPr lang="en-US" dirty="0"/>
          </a:p>
          <a:p>
            <a:pPr fontAlgn="base">
              <a:lnSpc>
                <a:spcPct val="150000"/>
              </a:lnSpc>
            </a:pPr>
            <a:r>
              <a:rPr lang="en-US" dirty="0"/>
              <a:t>Web mining can be used to detect fraudulent activity on websites. This information can be used to prevent financial fraud, identity theft, and other types of online fraud.</a:t>
            </a:r>
          </a:p>
          <a:p>
            <a:pPr>
              <a:lnSpc>
                <a:spcPct val="150000"/>
              </a:lnSpc>
            </a:pPr>
            <a:endParaRPr lang="en-IN" dirty="0"/>
          </a:p>
        </p:txBody>
      </p:sp>
    </p:spTree>
    <p:extLst>
      <p:ext uri="{BB962C8B-B14F-4D97-AF65-F5344CB8AC3E}">
        <p14:creationId xmlns:p14="http://schemas.microsoft.com/office/powerpoint/2010/main" val="12059204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79271" y="864772"/>
            <a:ext cx="10392109" cy="4678204"/>
          </a:xfrm>
          <a:prstGeom prst="rect">
            <a:avLst/>
          </a:prstGeom>
        </p:spPr>
        <p:txBody>
          <a:bodyPr wrap="square">
            <a:spAutoFit/>
          </a:bodyPr>
          <a:lstStyle/>
          <a:p>
            <a:endParaRPr lang="en-US" dirty="0" smtClean="0"/>
          </a:p>
          <a:p>
            <a:endParaRPr lang="en-US" dirty="0" smtClean="0"/>
          </a:p>
          <a:p>
            <a:r>
              <a:rPr lang="en-US" sz="2800" dirty="0" smtClean="0">
                <a:solidFill>
                  <a:srgbClr val="FF0000"/>
                </a:solidFill>
              </a:rPr>
              <a:t>The </a:t>
            </a:r>
            <a:r>
              <a:rPr lang="en-US" sz="2800" dirty="0">
                <a:solidFill>
                  <a:srgbClr val="FF0000"/>
                </a:solidFill>
              </a:rPr>
              <a:t>process of web mining typically involves the following steps -</a:t>
            </a:r>
          </a:p>
          <a:p>
            <a:pPr marL="285750" indent="-285750">
              <a:buFont typeface="Arial" panose="020B0604020202020204" pitchFamily="34" charset="0"/>
              <a:buChar char="•"/>
            </a:pPr>
            <a:r>
              <a:rPr lang="en-US" b="1" dirty="0"/>
              <a:t>Data collection</a:t>
            </a:r>
            <a:r>
              <a:rPr lang="en-US" dirty="0"/>
              <a:t> -</a:t>
            </a:r>
            <a:br>
              <a:rPr lang="en-US" dirty="0"/>
            </a:br>
            <a:r>
              <a:rPr lang="en-US" dirty="0"/>
              <a:t>Web data is collected from various sources, including web pages, databases, and APIs.</a:t>
            </a:r>
          </a:p>
          <a:p>
            <a:pPr marL="285750" indent="-285750">
              <a:buFont typeface="Arial" panose="020B0604020202020204" pitchFamily="34" charset="0"/>
              <a:buChar char="•"/>
            </a:pPr>
            <a:r>
              <a:rPr lang="en-US" b="1" dirty="0"/>
              <a:t>Data pre-processing</a:t>
            </a:r>
            <a:r>
              <a:rPr lang="en-US" dirty="0"/>
              <a:t> -</a:t>
            </a:r>
            <a:br>
              <a:rPr lang="en-US" dirty="0"/>
            </a:br>
            <a:r>
              <a:rPr lang="en-US" dirty="0"/>
              <a:t>The collected data is pre-processed to remove irrelevant information, such as advertisements and duplicate content.</a:t>
            </a:r>
          </a:p>
          <a:p>
            <a:pPr marL="285750" indent="-285750">
              <a:buFont typeface="Arial" panose="020B0604020202020204" pitchFamily="34" charset="0"/>
              <a:buChar char="•"/>
            </a:pPr>
            <a:r>
              <a:rPr lang="en-US" b="1" dirty="0"/>
              <a:t>Data integration</a:t>
            </a:r>
            <a:r>
              <a:rPr lang="en-US" dirty="0"/>
              <a:t> -</a:t>
            </a:r>
            <a:br>
              <a:rPr lang="en-US" dirty="0"/>
            </a:br>
            <a:r>
              <a:rPr lang="en-US" dirty="0"/>
              <a:t>The pre-processed data is integrated and transformed into a structured format for analysis.</a:t>
            </a:r>
          </a:p>
          <a:p>
            <a:pPr marL="285750" indent="-285750">
              <a:buFont typeface="Arial" panose="020B0604020202020204" pitchFamily="34" charset="0"/>
              <a:buChar char="•"/>
            </a:pPr>
            <a:r>
              <a:rPr lang="en-US" b="1" dirty="0"/>
              <a:t>Pattern discovery</a:t>
            </a:r>
            <a:r>
              <a:rPr lang="en-US" dirty="0"/>
              <a:t> -</a:t>
            </a:r>
            <a:br>
              <a:rPr lang="en-US" dirty="0"/>
            </a:br>
            <a:r>
              <a:rPr lang="en-US" dirty="0"/>
              <a:t>Web mining techniques are applied to identify patterns, trends, and relationships.</a:t>
            </a:r>
          </a:p>
          <a:p>
            <a:pPr marL="285750" indent="-285750">
              <a:buFont typeface="Arial" panose="020B0604020202020204" pitchFamily="34" charset="0"/>
              <a:buChar char="•"/>
            </a:pPr>
            <a:r>
              <a:rPr lang="en-US" b="1" dirty="0"/>
              <a:t>Evaluation</a:t>
            </a:r>
            <a:r>
              <a:rPr lang="en-US" dirty="0"/>
              <a:t> -</a:t>
            </a:r>
            <a:br>
              <a:rPr lang="en-US" dirty="0"/>
            </a:br>
            <a:r>
              <a:rPr lang="en-US" dirty="0"/>
              <a:t>The discovered patterns are evaluated to determine their significance and usefulness.</a:t>
            </a:r>
          </a:p>
          <a:p>
            <a:pPr marL="285750" indent="-285750">
              <a:buFont typeface="Arial" panose="020B0604020202020204" pitchFamily="34" charset="0"/>
              <a:buChar char="•"/>
            </a:pPr>
            <a:r>
              <a:rPr lang="en-US" b="1" dirty="0"/>
              <a:t>Visualization</a:t>
            </a:r>
            <a:r>
              <a:rPr lang="en-US" dirty="0"/>
              <a:t> -</a:t>
            </a:r>
            <a:br>
              <a:rPr lang="en-US" dirty="0"/>
            </a:br>
            <a:r>
              <a:rPr lang="en-US" dirty="0"/>
              <a:t>The analysis results are visualized through graphs, charts, and other visualizations.</a:t>
            </a:r>
          </a:p>
        </p:txBody>
      </p:sp>
    </p:spTree>
    <p:extLst>
      <p:ext uri="{BB962C8B-B14F-4D97-AF65-F5344CB8AC3E}">
        <p14:creationId xmlns:p14="http://schemas.microsoft.com/office/powerpoint/2010/main" val="33342726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48434" y="1238801"/>
            <a:ext cx="8364292" cy="800219"/>
          </a:xfrm>
          <a:prstGeom prst="rect">
            <a:avLst/>
          </a:prstGeom>
        </p:spPr>
        <p:txBody>
          <a:bodyPr wrap="square">
            <a:spAutoFit/>
          </a:bodyPr>
          <a:lstStyle/>
          <a:p>
            <a:r>
              <a:rPr lang="en-US" sz="2800" b="1" dirty="0">
                <a:solidFill>
                  <a:srgbClr val="FF0000"/>
                </a:solidFill>
              </a:rPr>
              <a:t>Difference Between Data Mining and Web </a:t>
            </a:r>
            <a:r>
              <a:rPr lang="en-US" sz="2800" b="1" dirty="0" smtClean="0">
                <a:solidFill>
                  <a:srgbClr val="FF0000"/>
                </a:solidFill>
              </a:rPr>
              <a:t>Mining</a:t>
            </a:r>
          </a:p>
          <a:p>
            <a:endParaRPr lang="en-IN" dirty="0"/>
          </a:p>
        </p:txBody>
      </p:sp>
      <p:pic>
        <p:nvPicPr>
          <p:cNvPr id="3" name="Picture 2"/>
          <p:cNvPicPr>
            <a:picLocks noChangeAspect="1"/>
          </p:cNvPicPr>
          <p:nvPr/>
        </p:nvPicPr>
        <p:blipFill>
          <a:blip r:embed="rId2"/>
          <a:stretch>
            <a:fillRect/>
          </a:stretch>
        </p:blipFill>
        <p:spPr>
          <a:xfrm>
            <a:off x="1248434" y="1663281"/>
            <a:ext cx="9731583" cy="5006774"/>
          </a:xfrm>
          <a:prstGeom prst="rect">
            <a:avLst/>
          </a:prstGeom>
        </p:spPr>
      </p:pic>
    </p:spTree>
    <p:extLst>
      <p:ext uri="{BB962C8B-B14F-4D97-AF65-F5344CB8AC3E}">
        <p14:creationId xmlns:p14="http://schemas.microsoft.com/office/powerpoint/2010/main" val="18511653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4517" y="1380956"/>
            <a:ext cx="9663933" cy="4401205"/>
          </a:xfrm>
          <a:prstGeom prst="rect">
            <a:avLst/>
          </a:prstGeom>
        </p:spPr>
        <p:txBody>
          <a:bodyPr wrap="square">
            <a:spAutoFit/>
          </a:bodyPr>
          <a:lstStyle/>
          <a:p>
            <a:r>
              <a:rPr lang="en-US" sz="2800" b="1" dirty="0">
                <a:solidFill>
                  <a:srgbClr val="FF0000"/>
                </a:solidFill>
              </a:rPr>
              <a:t>Association Rules and Sequential Patterns</a:t>
            </a:r>
            <a:r>
              <a:rPr lang="en-US" sz="2800" b="1" dirty="0" smtClean="0">
                <a:solidFill>
                  <a:srgbClr val="FF0000"/>
                </a:solidFill>
              </a:rPr>
              <a:t>:</a:t>
            </a:r>
          </a:p>
          <a:p>
            <a:pPr>
              <a:lnSpc>
                <a:spcPct val="200000"/>
              </a:lnSpc>
            </a:pPr>
            <a:r>
              <a:rPr lang="en-US" dirty="0"/>
              <a:t>Association rule is a fundamental data mining task.</a:t>
            </a:r>
          </a:p>
          <a:p>
            <a:pPr>
              <a:lnSpc>
                <a:spcPct val="200000"/>
              </a:lnSpc>
            </a:pPr>
            <a:r>
              <a:rPr lang="en-GB" dirty="0"/>
              <a:t>Proposed by </a:t>
            </a:r>
            <a:r>
              <a:rPr lang="en-GB" dirty="0">
                <a:solidFill>
                  <a:srgbClr val="FF0000"/>
                </a:solidFill>
              </a:rPr>
              <a:t>Agrawal et al in 1993</a:t>
            </a:r>
            <a:r>
              <a:rPr lang="en-GB" dirty="0"/>
              <a:t>. </a:t>
            </a:r>
          </a:p>
          <a:p>
            <a:pPr>
              <a:lnSpc>
                <a:spcPct val="200000"/>
              </a:lnSpc>
            </a:pPr>
            <a:r>
              <a:rPr lang="en-US" dirty="0"/>
              <a:t>Its objective is to find all co-occurrence relationships, called </a:t>
            </a:r>
            <a:r>
              <a:rPr lang="en-US" b="1" dirty="0"/>
              <a:t>associations</a:t>
            </a:r>
            <a:r>
              <a:rPr lang="en-US" dirty="0"/>
              <a:t>, among data items.</a:t>
            </a:r>
            <a:endParaRPr lang="en-IN" dirty="0"/>
          </a:p>
          <a:p>
            <a:pPr>
              <a:lnSpc>
                <a:spcPct val="200000"/>
              </a:lnSpc>
            </a:pPr>
            <a:r>
              <a:rPr lang="en-US" dirty="0"/>
              <a:t>The classic application of association rule mining is the </a:t>
            </a:r>
            <a:r>
              <a:rPr lang="en-US" b="1" dirty="0">
                <a:solidFill>
                  <a:srgbClr val="C00000"/>
                </a:solidFill>
              </a:rPr>
              <a:t>market basket data analysis, </a:t>
            </a:r>
          </a:p>
          <a:p>
            <a:pPr>
              <a:lnSpc>
                <a:spcPct val="200000"/>
              </a:lnSpc>
            </a:pPr>
            <a:r>
              <a:rPr lang="en-US" dirty="0"/>
              <a:t>which aims to discover how items purchased by customers in a supermarket (or a store) are associated.</a:t>
            </a:r>
            <a:endParaRPr lang="en-IN" dirty="0"/>
          </a:p>
          <a:p>
            <a:pPr>
              <a:lnSpc>
                <a:spcPct val="200000"/>
              </a:lnSpc>
            </a:pPr>
            <a:endParaRPr lang="en-IN" dirty="0"/>
          </a:p>
        </p:txBody>
      </p:sp>
    </p:spTree>
    <p:extLst>
      <p:ext uri="{BB962C8B-B14F-4D97-AF65-F5344CB8AC3E}">
        <p14:creationId xmlns:p14="http://schemas.microsoft.com/office/powerpoint/2010/main" val="491892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noChangeArrowheads="1"/>
          </p:cNvSpPr>
          <p:nvPr>
            <p:ph type="title" idx="4294967295"/>
          </p:nvPr>
        </p:nvSpPr>
        <p:spPr>
          <a:xfrm>
            <a:off x="1035698" y="607721"/>
            <a:ext cx="10515600" cy="1325563"/>
          </a:xfrm>
        </p:spPr>
        <p:txBody>
          <a:bodyPr/>
          <a:lstStyle/>
          <a:p>
            <a:pPr eaLnBrk="1" hangingPunct="1"/>
            <a:r>
              <a:rPr lang="en-GB" dirty="0" smtClean="0"/>
              <a:t/>
            </a:r>
            <a:br>
              <a:rPr lang="en-GB" dirty="0" smtClean="0"/>
            </a:br>
            <a:r>
              <a:rPr lang="en-GB" sz="2800" b="1" dirty="0" smtClean="0">
                <a:solidFill>
                  <a:srgbClr val="FF0000"/>
                </a:solidFill>
                <a:latin typeface="+mn-lt"/>
              </a:rPr>
              <a:t>Association rule mining</a:t>
            </a:r>
          </a:p>
        </p:txBody>
      </p:sp>
      <p:sp>
        <p:nvSpPr>
          <p:cNvPr id="7173" name="Rectangle 3"/>
          <p:cNvSpPr>
            <a:spLocks noGrp="1" noChangeArrowheads="1"/>
          </p:cNvSpPr>
          <p:nvPr>
            <p:ph type="body" idx="4294967295"/>
          </p:nvPr>
        </p:nvSpPr>
        <p:spPr>
          <a:xfrm>
            <a:off x="681135" y="2088778"/>
            <a:ext cx="8077200" cy="4895850"/>
          </a:xfrm>
        </p:spPr>
        <p:txBody>
          <a:bodyPr/>
          <a:lstStyle/>
          <a:p>
            <a:pPr eaLnBrk="1" hangingPunct="1"/>
            <a:r>
              <a:rPr lang="en-GB" dirty="0"/>
              <a:t>Proposed by </a:t>
            </a:r>
            <a:r>
              <a:rPr lang="en-GB" dirty="0">
                <a:solidFill>
                  <a:srgbClr val="FF0000"/>
                </a:solidFill>
              </a:rPr>
              <a:t>Agrawal et al in 1993</a:t>
            </a:r>
            <a:r>
              <a:rPr lang="en-GB" dirty="0"/>
              <a:t>. </a:t>
            </a:r>
          </a:p>
          <a:p>
            <a:pPr eaLnBrk="1" hangingPunct="1"/>
            <a:r>
              <a:rPr lang="en-GB" dirty="0"/>
              <a:t>It is an important data mining model studied extensively by the database and data mining community. </a:t>
            </a:r>
          </a:p>
          <a:p>
            <a:pPr eaLnBrk="1" hangingPunct="1">
              <a:spcBef>
                <a:spcPct val="15000"/>
              </a:spcBef>
            </a:pPr>
            <a:r>
              <a:rPr lang="en-US" dirty="0"/>
              <a:t>Assume all data are categorical.</a:t>
            </a:r>
          </a:p>
          <a:p>
            <a:pPr eaLnBrk="1" hangingPunct="1">
              <a:spcBef>
                <a:spcPct val="15000"/>
              </a:spcBef>
            </a:pPr>
            <a:r>
              <a:rPr lang="en-US" dirty="0"/>
              <a:t>No good algorithm for numeric data.</a:t>
            </a:r>
          </a:p>
          <a:p>
            <a:pPr eaLnBrk="1" hangingPunct="1">
              <a:spcBef>
                <a:spcPct val="15000"/>
              </a:spcBef>
            </a:pPr>
            <a:r>
              <a:rPr lang="en-US" dirty="0"/>
              <a:t>Initially used for </a:t>
            </a:r>
            <a:r>
              <a:rPr lang="en-US" dirty="0">
                <a:solidFill>
                  <a:srgbClr val="FF0000"/>
                </a:solidFill>
              </a:rPr>
              <a:t>Market Basket Analysis</a:t>
            </a:r>
            <a:r>
              <a:rPr lang="en-US" dirty="0"/>
              <a:t> to find how items purchased by customers are related.</a:t>
            </a:r>
          </a:p>
          <a:p>
            <a:pPr eaLnBrk="1" hangingPunct="1">
              <a:spcBef>
                <a:spcPct val="15000"/>
              </a:spcBef>
              <a:buFont typeface="Wingdings" panose="05000000000000000000" pitchFamily="2" charset="2"/>
              <a:buNone/>
            </a:pPr>
            <a:r>
              <a:rPr lang="en-GB" dirty="0"/>
              <a:t>		</a:t>
            </a:r>
          </a:p>
          <a:p>
            <a:pPr eaLnBrk="1" hangingPunct="1">
              <a:spcBef>
                <a:spcPct val="15000"/>
              </a:spcBef>
              <a:buFont typeface="Wingdings" panose="05000000000000000000" pitchFamily="2" charset="2"/>
              <a:buNone/>
            </a:pPr>
            <a:r>
              <a:rPr lang="en-GB" dirty="0"/>
              <a:t>	</a:t>
            </a:r>
            <a:r>
              <a:rPr lang="en-GB" dirty="0">
                <a:solidFill>
                  <a:srgbClr val="3333CC"/>
                </a:solidFill>
              </a:rPr>
              <a:t>Bread </a:t>
            </a:r>
            <a:r>
              <a:rPr lang="en-GB" dirty="0">
                <a:solidFill>
                  <a:srgbClr val="3333CC"/>
                </a:solidFill>
                <a:sym typeface="Symbol" panose="05050102010706020507" pitchFamily="18" charset="2"/>
              </a:rPr>
              <a:t></a:t>
            </a:r>
            <a:r>
              <a:rPr lang="en-GB" dirty="0">
                <a:solidFill>
                  <a:srgbClr val="3333CC"/>
                </a:solidFill>
              </a:rPr>
              <a:t> Milk	   [sup = 5%, </a:t>
            </a:r>
            <a:r>
              <a:rPr lang="en-GB" dirty="0" err="1">
                <a:solidFill>
                  <a:srgbClr val="3333CC"/>
                </a:solidFill>
              </a:rPr>
              <a:t>conf</a:t>
            </a:r>
            <a:r>
              <a:rPr lang="en-GB" dirty="0">
                <a:solidFill>
                  <a:srgbClr val="3333CC"/>
                </a:solidFill>
              </a:rPr>
              <a:t> = 100%]</a:t>
            </a:r>
          </a:p>
        </p:txBody>
      </p:sp>
    </p:spTree>
    <p:extLst>
      <p:ext uri="{BB962C8B-B14F-4D97-AF65-F5344CB8AC3E}">
        <p14:creationId xmlns:p14="http://schemas.microsoft.com/office/powerpoint/2010/main" val="376285741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
          <p:cNvSpPr>
            <a:spLocks noGrp="1" noChangeArrowheads="1"/>
          </p:cNvSpPr>
          <p:nvPr>
            <p:ph type="title" idx="4294967295"/>
          </p:nvPr>
        </p:nvSpPr>
        <p:spPr>
          <a:xfrm>
            <a:off x="578498" y="1300983"/>
            <a:ext cx="10515600" cy="1065033"/>
          </a:xfrm>
        </p:spPr>
        <p:txBody>
          <a:bodyPr/>
          <a:lstStyle/>
          <a:p>
            <a:pPr eaLnBrk="1" hangingPunct="1"/>
            <a:r>
              <a:rPr lang="en-US" dirty="0" smtClean="0"/>
              <a:t>The model: data</a:t>
            </a:r>
          </a:p>
        </p:txBody>
      </p:sp>
      <p:sp>
        <p:nvSpPr>
          <p:cNvPr id="8197" name="Rectangle 3"/>
          <p:cNvSpPr>
            <a:spLocks noGrp="1" noChangeArrowheads="1"/>
          </p:cNvSpPr>
          <p:nvPr>
            <p:ph type="body" idx="4294967295"/>
          </p:nvPr>
        </p:nvSpPr>
        <p:spPr>
          <a:xfrm>
            <a:off x="466531" y="2366016"/>
            <a:ext cx="8269288" cy="4500562"/>
          </a:xfrm>
        </p:spPr>
        <p:txBody>
          <a:bodyPr/>
          <a:lstStyle/>
          <a:p>
            <a:pPr eaLnBrk="1" hangingPunct="1"/>
            <a:r>
              <a:rPr lang="en-US" i="1" dirty="0" smtClean="0">
                <a:solidFill>
                  <a:srgbClr val="FF0000"/>
                </a:solidFill>
              </a:rPr>
              <a:t>I</a:t>
            </a:r>
            <a:r>
              <a:rPr lang="en-US" dirty="0" smtClean="0">
                <a:solidFill>
                  <a:srgbClr val="FF0000"/>
                </a:solidFill>
              </a:rPr>
              <a:t> = {</a:t>
            </a:r>
            <a:r>
              <a:rPr lang="en-US" i="1" dirty="0" smtClean="0">
                <a:solidFill>
                  <a:srgbClr val="FF0000"/>
                </a:solidFill>
              </a:rPr>
              <a:t>i</a:t>
            </a:r>
            <a:r>
              <a:rPr lang="en-US" baseline="-25000" dirty="0" smtClean="0">
                <a:solidFill>
                  <a:srgbClr val="FF0000"/>
                </a:solidFill>
              </a:rPr>
              <a:t>1</a:t>
            </a:r>
            <a:r>
              <a:rPr lang="en-US" dirty="0" smtClean="0">
                <a:solidFill>
                  <a:srgbClr val="FF0000"/>
                </a:solidFill>
              </a:rPr>
              <a:t>, </a:t>
            </a:r>
            <a:r>
              <a:rPr lang="en-US" i="1" dirty="0" smtClean="0">
                <a:solidFill>
                  <a:srgbClr val="FF0000"/>
                </a:solidFill>
              </a:rPr>
              <a:t>i</a:t>
            </a:r>
            <a:r>
              <a:rPr lang="en-US" baseline="-25000" dirty="0" smtClean="0">
                <a:solidFill>
                  <a:srgbClr val="FF0000"/>
                </a:solidFill>
              </a:rPr>
              <a:t>2</a:t>
            </a:r>
            <a:r>
              <a:rPr lang="en-US" dirty="0" smtClean="0">
                <a:solidFill>
                  <a:srgbClr val="FF0000"/>
                </a:solidFill>
              </a:rPr>
              <a:t>, …, </a:t>
            </a:r>
            <a:r>
              <a:rPr lang="en-US" i="1" dirty="0" err="1" smtClean="0">
                <a:solidFill>
                  <a:srgbClr val="FF0000"/>
                </a:solidFill>
              </a:rPr>
              <a:t>i</a:t>
            </a:r>
            <a:r>
              <a:rPr lang="en-US" i="1" baseline="-25000" dirty="0" err="1" smtClean="0">
                <a:solidFill>
                  <a:srgbClr val="FF0000"/>
                </a:solidFill>
              </a:rPr>
              <a:t>m</a:t>
            </a:r>
            <a:r>
              <a:rPr lang="en-US" dirty="0" smtClean="0">
                <a:solidFill>
                  <a:srgbClr val="FF0000"/>
                </a:solidFill>
              </a:rPr>
              <a:t>}</a:t>
            </a:r>
            <a:r>
              <a:rPr lang="en-US" dirty="0" smtClean="0"/>
              <a:t>: a set of </a:t>
            </a:r>
            <a:r>
              <a:rPr lang="en-US" i="1" dirty="0" smtClean="0"/>
              <a:t>items</a:t>
            </a:r>
            <a:r>
              <a:rPr lang="en-US" dirty="0" smtClean="0"/>
              <a:t>.</a:t>
            </a:r>
          </a:p>
          <a:p>
            <a:pPr eaLnBrk="1" hangingPunct="1"/>
            <a:r>
              <a:rPr lang="en-US" dirty="0" smtClean="0">
                <a:solidFill>
                  <a:srgbClr val="FF0000"/>
                </a:solidFill>
              </a:rPr>
              <a:t>Transaction</a:t>
            </a:r>
            <a:r>
              <a:rPr lang="en-US" dirty="0" smtClean="0"/>
              <a:t> </a:t>
            </a:r>
            <a:r>
              <a:rPr lang="en-US" i="1" dirty="0" smtClean="0">
                <a:solidFill>
                  <a:srgbClr val="FF0000"/>
                </a:solidFill>
              </a:rPr>
              <a:t>t</a:t>
            </a:r>
            <a:r>
              <a:rPr lang="en-US" dirty="0" smtClean="0"/>
              <a:t> : </a:t>
            </a:r>
          </a:p>
          <a:p>
            <a:pPr marL="742950" lvl="1" indent="-285750"/>
            <a:r>
              <a:rPr lang="en-US" sz="3000" i="1" dirty="0"/>
              <a:t>t</a:t>
            </a:r>
            <a:r>
              <a:rPr lang="en-US" sz="3000" dirty="0"/>
              <a:t> a set of items, and </a:t>
            </a:r>
            <a:r>
              <a:rPr lang="en-US" sz="3000" i="1" dirty="0"/>
              <a:t>t</a:t>
            </a:r>
            <a:r>
              <a:rPr lang="en-US" sz="3000" dirty="0"/>
              <a:t> </a:t>
            </a:r>
            <a:r>
              <a:rPr lang="en-US" sz="3000" dirty="0">
                <a:sym typeface="Symbol" panose="05050102010706020507" pitchFamily="18" charset="2"/>
              </a:rPr>
              <a:t></a:t>
            </a:r>
            <a:r>
              <a:rPr lang="en-US" sz="3000" dirty="0"/>
              <a:t> </a:t>
            </a:r>
            <a:r>
              <a:rPr lang="en-US" sz="3000" i="1" dirty="0"/>
              <a:t>I</a:t>
            </a:r>
            <a:r>
              <a:rPr lang="en-US" sz="3000" dirty="0"/>
              <a:t>.</a:t>
            </a:r>
          </a:p>
          <a:p>
            <a:pPr eaLnBrk="1" hangingPunct="1"/>
            <a:r>
              <a:rPr lang="en-US" dirty="0" smtClean="0">
                <a:solidFill>
                  <a:srgbClr val="FF0000"/>
                </a:solidFill>
              </a:rPr>
              <a:t>Transaction Database </a:t>
            </a:r>
            <a:r>
              <a:rPr lang="en-US" i="1" dirty="0" smtClean="0">
                <a:solidFill>
                  <a:srgbClr val="FF0000"/>
                </a:solidFill>
              </a:rPr>
              <a:t>T</a:t>
            </a:r>
            <a:r>
              <a:rPr lang="en-US" dirty="0" smtClean="0">
                <a:solidFill>
                  <a:srgbClr val="FF0000"/>
                </a:solidFill>
              </a:rPr>
              <a:t>:</a:t>
            </a:r>
            <a:r>
              <a:rPr lang="en-US" dirty="0" smtClean="0"/>
              <a:t> a set of transactions </a:t>
            </a:r>
            <a:r>
              <a:rPr lang="en-US" i="1" dirty="0" smtClean="0"/>
              <a:t>T</a:t>
            </a:r>
            <a:r>
              <a:rPr lang="en-US" dirty="0" smtClean="0"/>
              <a:t> = {t</a:t>
            </a:r>
            <a:r>
              <a:rPr lang="en-US" baseline="-25000" dirty="0" smtClean="0"/>
              <a:t>1</a:t>
            </a:r>
            <a:r>
              <a:rPr lang="en-US" dirty="0" smtClean="0"/>
              <a:t>, t</a:t>
            </a:r>
            <a:r>
              <a:rPr lang="en-US" baseline="-25000" dirty="0" smtClean="0"/>
              <a:t>2</a:t>
            </a:r>
            <a:r>
              <a:rPr lang="en-US" dirty="0" smtClean="0"/>
              <a:t>, …, </a:t>
            </a:r>
            <a:r>
              <a:rPr lang="en-US" dirty="0" err="1" smtClean="0"/>
              <a:t>t</a:t>
            </a:r>
            <a:r>
              <a:rPr lang="en-US" baseline="-25000" dirty="0" err="1" smtClean="0"/>
              <a:t>n</a:t>
            </a:r>
            <a:r>
              <a:rPr lang="en-US" dirty="0" smtClean="0"/>
              <a:t>}.</a:t>
            </a:r>
          </a:p>
          <a:p>
            <a:pPr eaLnBrk="1" hangingPunct="1"/>
            <a:endParaRPr lang="en-US" dirty="0" smtClean="0"/>
          </a:p>
        </p:txBody>
      </p:sp>
    </p:spTree>
    <p:extLst>
      <p:ext uri="{BB962C8B-B14F-4D97-AF65-F5344CB8AC3E}">
        <p14:creationId xmlns:p14="http://schemas.microsoft.com/office/powerpoint/2010/main" val="335568659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Grp="1" noChangeArrowheads="1"/>
          </p:cNvSpPr>
          <p:nvPr>
            <p:ph type="title" idx="4294967295"/>
          </p:nvPr>
        </p:nvSpPr>
        <p:spPr>
          <a:xfrm>
            <a:off x="998376" y="589059"/>
            <a:ext cx="10254342" cy="1325563"/>
          </a:xfrm>
        </p:spPr>
        <p:txBody>
          <a:bodyPr>
            <a:normAutofit/>
          </a:bodyPr>
          <a:lstStyle/>
          <a:p>
            <a:pPr eaLnBrk="1" hangingPunct="1"/>
            <a:r>
              <a:rPr lang="en-US" sz="2800" b="1" dirty="0" smtClean="0">
                <a:solidFill>
                  <a:srgbClr val="FF0000"/>
                </a:solidFill>
                <a:latin typeface="+mn-lt"/>
              </a:rPr>
              <a:t/>
            </a:r>
            <a:br>
              <a:rPr lang="en-US" sz="2800" b="1" dirty="0" smtClean="0">
                <a:solidFill>
                  <a:srgbClr val="FF0000"/>
                </a:solidFill>
                <a:latin typeface="+mn-lt"/>
              </a:rPr>
            </a:br>
            <a:r>
              <a:rPr lang="en-US" sz="2800" b="1" dirty="0" smtClean="0">
                <a:solidFill>
                  <a:srgbClr val="FF0000"/>
                </a:solidFill>
                <a:latin typeface="+mn-lt"/>
              </a:rPr>
              <a:t>Transaction data: supermarket data</a:t>
            </a:r>
          </a:p>
        </p:txBody>
      </p:sp>
      <p:sp>
        <p:nvSpPr>
          <p:cNvPr id="9221" name="Rectangle 3"/>
          <p:cNvSpPr>
            <a:spLocks noGrp="1" noChangeArrowheads="1"/>
          </p:cNvSpPr>
          <p:nvPr>
            <p:ph type="body" idx="4294967295"/>
          </p:nvPr>
        </p:nvSpPr>
        <p:spPr>
          <a:xfrm>
            <a:off x="886408" y="1960563"/>
            <a:ext cx="10944808" cy="4897437"/>
          </a:xfrm>
        </p:spPr>
        <p:txBody>
          <a:bodyPr/>
          <a:lstStyle/>
          <a:p>
            <a:pPr eaLnBrk="1" hangingPunct="1">
              <a:lnSpc>
                <a:spcPct val="90000"/>
              </a:lnSpc>
            </a:pPr>
            <a:r>
              <a:rPr lang="en-US" dirty="0" smtClean="0"/>
              <a:t>Market basket transactions:</a:t>
            </a:r>
          </a:p>
          <a:p>
            <a:pPr lvl="1" eaLnBrk="1" hangingPunct="1">
              <a:lnSpc>
                <a:spcPct val="90000"/>
              </a:lnSpc>
              <a:buFont typeface="Wingdings" panose="05000000000000000000" pitchFamily="2" charset="2"/>
              <a:buNone/>
            </a:pPr>
            <a:r>
              <a:rPr lang="en-US" dirty="0" smtClean="0"/>
              <a:t>	t1: </a:t>
            </a:r>
            <a:r>
              <a:rPr lang="en-US" dirty="0" smtClean="0">
                <a:solidFill>
                  <a:srgbClr val="FF0000"/>
                </a:solidFill>
              </a:rPr>
              <a:t>{bread, cheese, milk}</a:t>
            </a:r>
          </a:p>
          <a:p>
            <a:pPr lvl="1" eaLnBrk="1" hangingPunct="1">
              <a:lnSpc>
                <a:spcPct val="90000"/>
              </a:lnSpc>
              <a:buFont typeface="Wingdings" panose="05000000000000000000" pitchFamily="2" charset="2"/>
              <a:buNone/>
            </a:pPr>
            <a:r>
              <a:rPr lang="en-US" dirty="0" smtClean="0"/>
              <a:t>	t2: </a:t>
            </a:r>
            <a:r>
              <a:rPr lang="en-US" dirty="0" smtClean="0">
                <a:solidFill>
                  <a:srgbClr val="FF0000"/>
                </a:solidFill>
              </a:rPr>
              <a:t>{apple, eggs, salt, yogurt}</a:t>
            </a:r>
          </a:p>
          <a:p>
            <a:pPr lvl="1" eaLnBrk="1" hangingPunct="1">
              <a:lnSpc>
                <a:spcPct val="90000"/>
              </a:lnSpc>
              <a:buFont typeface="Wingdings" panose="05000000000000000000" pitchFamily="2" charset="2"/>
              <a:buNone/>
            </a:pPr>
            <a:r>
              <a:rPr lang="en-US" dirty="0" smtClean="0"/>
              <a:t>	… 		</a:t>
            </a:r>
            <a:r>
              <a:rPr lang="en-US" dirty="0" smtClean="0">
                <a:solidFill>
                  <a:srgbClr val="FF0000"/>
                </a:solidFill>
              </a:rPr>
              <a:t>…</a:t>
            </a:r>
          </a:p>
          <a:p>
            <a:pPr lvl="1" eaLnBrk="1" hangingPunct="1">
              <a:lnSpc>
                <a:spcPct val="90000"/>
              </a:lnSpc>
              <a:buFont typeface="Wingdings" panose="05000000000000000000" pitchFamily="2" charset="2"/>
              <a:buNone/>
            </a:pPr>
            <a:r>
              <a:rPr lang="en-US" dirty="0" smtClean="0"/>
              <a:t>	</a:t>
            </a:r>
            <a:r>
              <a:rPr lang="en-US" dirty="0" err="1" smtClean="0"/>
              <a:t>tn</a:t>
            </a:r>
            <a:r>
              <a:rPr lang="en-US" dirty="0" smtClean="0"/>
              <a:t>: </a:t>
            </a:r>
            <a:r>
              <a:rPr lang="en-US" dirty="0" smtClean="0">
                <a:solidFill>
                  <a:srgbClr val="FF0000"/>
                </a:solidFill>
              </a:rPr>
              <a:t>{biscuit, eggs, milk}</a:t>
            </a:r>
          </a:p>
          <a:p>
            <a:pPr eaLnBrk="1" hangingPunct="1">
              <a:lnSpc>
                <a:spcPct val="90000"/>
              </a:lnSpc>
            </a:pPr>
            <a:r>
              <a:rPr lang="en-US" dirty="0" smtClean="0"/>
              <a:t>Concepts:</a:t>
            </a:r>
          </a:p>
          <a:p>
            <a:pPr lvl="1" eaLnBrk="1" hangingPunct="1">
              <a:lnSpc>
                <a:spcPct val="90000"/>
              </a:lnSpc>
            </a:pPr>
            <a:r>
              <a:rPr lang="en-US" dirty="0" smtClean="0">
                <a:solidFill>
                  <a:srgbClr val="FF0000"/>
                </a:solidFill>
              </a:rPr>
              <a:t>An </a:t>
            </a:r>
            <a:r>
              <a:rPr lang="en-US" i="1" dirty="0" smtClean="0">
                <a:solidFill>
                  <a:srgbClr val="FF0000"/>
                </a:solidFill>
              </a:rPr>
              <a:t>item</a:t>
            </a:r>
            <a:r>
              <a:rPr lang="en-US" dirty="0" smtClean="0">
                <a:solidFill>
                  <a:srgbClr val="FF0000"/>
                </a:solidFill>
              </a:rPr>
              <a:t>:</a:t>
            </a:r>
            <a:r>
              <a:rPr lang="en-US" dirty="0" smtClean="0"/>
              <a:t>  an item/article in a basket</a:t>
            </a:r>
          </a:p>
          <a:p>
            <a:pPr lvl="1" eaLnBrk="1" hangingPunct="1">
              <a:lnSpc>
                <a:spcPct val="90000"/>
              </a:lnSpc>
            </a:pPr>
            <a:r>
              <a:rPr lang="en-US" i="1" dirty="0" smtClean="0">
                <a:solidFill>
                  <a:srgbClr val="FF0000"/>
                </a:solidFill>
              </a:rPr>
              <a:t>I</a:t>
            </a:r>
            <a:r>
              <a:rPr lang="en-US" dirty="0" smtClean="0">
                <a:solidFill>
                  <a:srgbClr val="FF0000"/>
                </a:solidFill>
              </a:rPr>
              <a:t>:</a:t>
            </a:r>
            <a:r>
              <a:rPr lang="en-US" dirty="0" smtClean="0">
                <a:solidFill>
                  <a:schemeClr val="hlink"/>
                </a:solidFill>
              </a:rPr>
              <a:t> </a:t>
            </a:r>
            <a:r>
              <a:rPr lang="en-US" dirty="0" smtClean="0"/>
              <a:t>the set of all items sold in the store</a:t>
            </a:r>
          </a:p>
          <a:p>
            <a:pPr lvl="1" eaLnBrk="1" hangingPunct="1">
              <a:lnSpc>
                <a:spcPct val="90000"/>
              </a:lnSpc>
            </a:pPr>
            <a:r>
              <a:rPr lang="en-US" dirty="0" smtClean="0">
                <a:solidFill>
                  <a:srgbClr val="FF0000"/>
                </a:solidFill>
              </a:rPr>
              <a:t>A </a:t>
            </a:r>
            <a:r>
              <a:rPr lang="en-US" i="1" dirty="0" smtClean="0">
                <a:solidFill>
                  <a:srgbClr val="FF0000"/>
                </a:solidFill>
              </a:rPr>
              <a:t>transaction</a:t>
            </a:r>
            <a:r>
              <a:rPr lang="en-US" dirty="0" smtClean="0">
                <a:solidFill>
                  <a:srgbClr val="FF0000"/>
                </a:solidFill>
              </a:rPr>
              <a:t>:</a:t>
            </a:r>
            <a:r>
              <a:rPr lang="en-US" dirty="0" smtClean="0"/>
              <a:t> items purchased in a basket; it may have TID (transaction ID)</a:t>
            </a:r>
          </a:p>
          <a:p>
            <a:pPr lvl="1" eaLnBrk="1" hangingPunct="1">
              <a:lnSpc>
                <a:spcPct val="90000"/>
              </a:lnSpc>
            </a:pPr>
            <a:r>
              <a:rPr lang="en-US" dirty="0" smtClean="0">
                <a:solidFill>
                  <a:srgbClr val="FF0000"/>
                </a:solidFill>
              </a:rPr>
              <a:t>A </a:t>
            </a:r>
            <a:r>
              <a:rPr lang="en-US" i="1" dirty="0" smtClean="0">
                <a:solidFill>
                  <a:srgbClr val="FF0000"/>
                </a:solidFill>
              </a:rPr>
              <a:t>transactional</a:t>
            </a:r>
            <a:r>
              <a:rPr lang="en-US" dirty="0" smtClean="0">
                <a:solidFill>
                  <a:srgbClr val="FF0000"/>
                </a:solidFill>
              </a:rPr>
              <a:t> </a:t>
            </a:r>
            <a:r>
              <a:rPr lang="en-US" i="1" dirty="0" smtClean="0">
                <a:solidFill>
                  <a:srgbClr val="FF0000"/>
                </a:solidFill>
              </a:rPr>
              <a:t>dataset</a:t>
            </a:r>
            <a:r>
              <a:rPr lang="en-US" dirty="0" smtClean="0"/>
              <a:t>: A set of transactions</a:t>
            </a:r>
          </a:p>
        </p:txBody>
      </p:sp>
    </p:spTree>
    <p:extLst>
      <p:ext uri="{BB962C8B-B14F-4D97-AF65-F5344CB8AC3E}">
        <p14:creationId xmlns:p14="http://schemas.microsoft.com/office/powerpoint/2010/main" val="213369736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2"/>
          <p:cNvSpPr>
            <a:spLocks noGrp="1" noChangeArrowheads="1"/>
          </p:cNvSpPr>
          <p:nvPr>
            <p:ph type="title" idx="4294967295"/>
          </p:nvPr>
        </p:nvSpPr>
        <p:spPr>
          <a:xfrm>
            <a:off x="825758" y="1014525"/>
            <a:ext cx="10515600" cy="1325563"/>
          </a:xfrm>
        </p:spPr>
        <p:txBody>
          <a:bodyPr>
            <a:normAutofit/>
          </a:bodyPr>
          <a:lstStyle/>
          <a:p>
            <a:pPr eaLnBrk="1" hangingPunct="1"/>
            <a:r>
              <a:rPr lang="en-US" sz="3600" b="1" dirty="0" smtClean="0">
                <a:solidFill>
                  <a:srgbClr val="FF0000"/>
                </a:solidFill>
              </a:rPr>
              <a:t>The model: rules</a:t>
            </a:r>
            <a:endParaRPr lang="en-US" sz="3600" b="1" dirty="0">
              <a:solidFill>
                <a:srgbClr val="FF0000"/>
              </a:solidFill>
            </a:endParaRPr>
          </a:p>
        </p:txBody>
      </p:sp>
      <p:sp>
        <p:nvSpPr>
          <p:cNvPr id="11269" name="Rectangle 3"/>
          <p:cNvSpPr>
            <a:spLocks noGrp="1" noChangeArrowheads="1"/>
          </p:cNvSpPr>
          <p:nvPr>
            <p:ph type="body" idx="4294967295"/>
          </p:nvPr>
        </p:nvSpPr>
        <p:spPr>
          <a:xfrm>
            <a:off x="746449" y="1978090"/>
            <a:ext cx="10674219" cy="4077477"/>
          </a:xfrm>
        </p:spPr>
        <p:txBody>
          <a:bodyPr/>
          <a:lstStyle/>
          <a:p>
            <a:pPr eaLnBrk="1" hangingPunct="1">
              <a:lnSpc>
                <a:spcPct val="90000"/>
              </a:lnSpc>
            </a:pPr>
            <a:r>
              <a:rPr lang="en-US" dirty="0" smtClean="0"/>
              <a:t>A transaction </a:t>
            </a:r>
            <a:r>
              <a:rPr lang="en-US" i="1" dirty="0" smtClean="0">
                <a:solidFill>
                  <a:srgbClr val="FF0000"/>
                </a:solidFill>
              </a:rPr>
              <a:t>t</a:t>
            </a:r>
            <a:r>
              <a:rPr lang="en-US" dirty="0" smtClean="0">
                <a:solidFill>
                  <a:srgbClr val="FF0000"/>
                </a:solidFill>
              </a:rPr>
              <a:t> contains </a:t>
            </a:r>
            <a:r>
              <a:rPr lang="en-US" i="1" dirty="0" smtClean="0">
                <a:solidFill>
                  <a:srgbClr val="FF0000"/>
                </a:solidFill>
              </a:rPr>
              <a:t>X</a:t>
            </a:r>
            <a:r>
              <a:rPr lang="en-US" dirty="0" smtClean="0"/>
              <a:t>, a set of items (</a:t>
            </a:r>
            <a:r>
              <a:rPr lang="en-US" dirty="0" err="1" smtClean="0">
                <a:solidFill>
                  <a:srgbClr val="3333CC"/>
                </a:solidFill>
              </a:rPr>
              <a:t>itemset</a:t>
            </a:r>
            <a:r>
              <a:rPr lang="en-US" dirty="0" smtClean="0"/>
              <a:t>) in </a:t>
            </a:r>
            <a:r>
              <a:rPr lang="en-US" i="1" dirty="0" smtClean="0"/>
              <a:t>I</a:t>
            </a:r>
            <a:r>
              <a:rPr lang="en-US" dirty="0" smtClean="0"/>
              <a:t>, if </a:t>
            </a:r>
            <a:r>
              <a:rPr lang="en-US" i="1" dirty="0" smtClean="0"/>
              <a:t>X</a:t>
            </a:r>
            <a:r>
              <a:rPr lang="en-US" dirty="0" smtClean="0"/>
              <a:t> </a:t>
            </a:r>
            <a:r>
              <a:rPr lang="en-US" dirty="0" smtClean="0">
                <a:sym typeface="Symbol" panose="05050102010706020507" pitchFamily="18" charset="2"/>
              </a:rPr>
              <a:t></a:t>
            </a:r>
            <a:r>
              <a:rPr lang="en-US" dirty="0" smtClean="0"/>
              <a:t> </a:t>
            </a:r>
            <a:r>
              <a:rPr lang="en-US" i="1" dirty="0" smtClean="0"/>
              <a:t>t</a:t>
            </a:r>
            <a:r>
              <a:rPr lang="en-US" dirty="0" smtClean="0"/>
              <a:t>.</a:t>
            </a:r>
          </a:p>
          <a:p>
            <a:pPr eaLnBrk="1" hangingPunct="1">
              <a:lnSpc>
                <a:spcPct val="90000"/>
              </a:lnSpc>
            </a:pPr>
            <a:r>
              <a:rPr lang="en-US" dirty="0" smtClean="0"/>
              <a:t>An </a:t>
            </a:r>
            <a:r>
              <a:rPr lang="en-US" dirty="0" smtClean="0">
                <a:solidFill>
                  <a:srgbClr val="FF0000"/>
                </a:solidFill>
              </a:rPr>
              <a:t>association rule</a:t>
            </a:r>
            <a:r>
              <a:rPr lang="en-US" dirty="0" smtClean="0"/>
              <a:t> is an implication of the form:</a:t>
            </a:r>
          </a:p>
          <a:p>
            <a:pPr eaLnBrk="1" hangingPunct="1">
              <a:lnSpc>
                <a:spcPct val="90000"/>
              </a:lnSpc>
              <a:spcBef>
                <a:spcPct val="10000"/>
              </a:spcBef>
              <a:buFont typeface="Wingdings" panose="05000000000000000000" pitchFamily="2" charset="2"/>
              <a:buNone/>
            </a:pPr>
            <a:r>
              <a:rPr lang="en-US" i="1" dirty="0" smtClean="0"/>
              <a:t>		X</a:t>
            </a:r>
            <a:r>
              <a:rPr lang="en-US" dirty="0" smtClean="0"/>
              <a:t> </a:t>
            </a:r>
            <a:r>
              <a:rPr lang="en-US" dirty="0" smtClean="0">
                <a:sym typeface="Symbol" panose="05050102010706020507" pitchFamily="18" charset="2"/>
              </a:rPr>
              <a:t> </a:t>
            </a:r>
            <a:r>
              <a:rPr lang="en-US" i="1" dirty="0" smtClean="0">
                <a:sym typeface="Symbol" panose="05050102010706020507" pitchFamily="18" charset="2"/>
              </a:rPr>
              <a:t>Y</a:t>
            </a:r>
            <a:r>
              <a:rPr lang="en-US" dirty="0" smtClean="0">
                <a:sym typeface="Symbol" panose="05050102010706020507" pitchFamily="18" charset="2"/>
              </a:rPr>
              <a:t>, where </a:t>
            </a:r>
            <a:r>
              <a:rPr lang="en-US" i="1" dirty="0" smtClean="0">
                <a:sym typeface="Symbol" panose="05050102010706020507" pitchFamily="18" charset="2"/>
              </a:rPr>
              <a:t>X</a:t>
            </a:r>
            <a:r>
              <a:rPr lang="en-US" dirty="0" smtClean="0">
                <a:sym typeface="Symbol" panose="05050102010706020507" pitchFamily="18" charset="2"/>
              </a:rPr>
              <a:t>, </a:t>
            </a:r>
            <a:r>
              <a:rPr lang="en-US" i="1" dirty="0" smtClean="0">
                <a:sym typeface="Symbol" panose="05050102010706020507" pitchFamily="18" charset="2"/>
              </a:rPr>
              <a:t>Y</a:t>
            </a:r>
            <a:r>
              <a:rPr lang="en-US" dirty="0" smtClean="0">
                <a:sym typeface="Symbol" panose="05050102010706020507" pitchFamily="18" charset="2"/>
              </a:rPr>
              <a:t>  </a:t>
            </a:r>
            <a:r>
              <a:rPr lang="en-US" i="1" dirty="0" smtClean="0">
                <a:sym typeface="Symbol" panose="05050102010706020507" pitchFamily="18" charset="2"/>
              </a:rPr>
              <a:t>I, and X </a:t>
            </a:r>
            <a:r>
              <a:rPr lang="en-US" dirty="0" smtClean="0">
                <a:sym typeface="Symbol" panose="05050102010706020507" pitchFamily="18" charset="2"/>
              </a:rPr>
              <a:t></a:t>
            </a:r>
            <a:r>
              <a:rPr lang="en-US" i="1" dirty="0" smtClean="0">
                <a:sym typeface="Symbol" panose="05050102010706020507" pitchFamily="18" charset="2"/>
              </a:rPr>
              <a:t>Y</a:t>
            </a:r>
            <a:r>
              <a:rPr lang="en-US" dirty="0" smtClean="0">
                <a:sym typeface="Symbol" panose="05050102010706020507" pitchFamily="18" charset="2"/>
              </a:rPr>
              <a:t>  = </a:t>
            </a:r>
          </a:p>
          <a:p>
            <a:pPr eaLnBrk="1" hangingPunct="1">
              <a:lnSpc>
                <a:spcPct val="90000"/>
              </a:lnSpc>
              <a:spcBef>
                <a:spcPct val="10000"/>
              </a:spcBef>
              <a:buFont typeface="Wingdings" panose="05000000000000000000" pitchFamily="2" charset="2"/>
              <a:buNone/>
            </a:pPr>
            <a:endParaRPr lang="en-US" i="1" dirty="0" smtClean="0">
              <a:sym typeface="Symbol" panose="05050102010706020507" pitchFamily="18" charset="2"/>
            </a:endParaRPr>
          </a:p>
          <a:p>
            <a:pPr eaLnBrk="1" hangingPunct="1">
              <a:lnSpc>
                <a:spcPct val="90000"/>
              </a:lnSpc>
            </a:pPr>
            <a:r>
              <a:rPr lang="en-US" dirty="0" smtClean="0"/>
              <a:t>An </a:t>
            </a:r>
            <a:r>
              <a:rPr lang="en-US" dirty="0" err="1" smtClean="0">
                <a:solidFill>
                  <a:srgbClr val="FF0000"/>
                </a:solidFill>
              </a:rPr>
              <a:t>itemset</a:t>
            </a:r>
            <a:r>
              <a:rPr lang="en-US" dirty="0" smtClean="0">
                <a:solidFill>
                  <a:schemeClr val="hlink"/>
                </a:solidFill>
              </a:rPr>
              <a:t> </a:t>
            </a:r>
            <a:r>
              <a:rPr lang="en-US" dirty="0" smtClean="0"/>
              <a:t>is a set of items.</a:t>
            </a:r>
          </a:p>
          <a:p>
            <a:pPr marL="742950" lvl="1" indent="-285750"/>
            <a:r>
              <a:rPr lang="en-US" dirty="0" smtClean="0"/>
              <a:t>E.g., X = {milk, bread, cereal} is an </a:t>
            </a:r>
            <a:r>
              <a:rPr lang="en-US" dirty="0" err="1" smtClean="0"/>
              <a:t>itemset</a:t>
            </a:r>
            <a:r>
              <a:rPr lang="en-US" dirty="0" smtClean="0"/>
              <a:t>.</a:t>
            </a:r>
          </a:p>
          <a:p>
            <a:pPr eaLnBrk="1" hangingPunct="1">
              <a:lnSpc>
                <a:spcPct val="90000"/>
              </a:lnSpc>
            </a:pPr>
            <a:r>
              <a:rPr lang="en-US" dirty="0" smtClean="0"/>
              <a:t>A </a:t>
            </a:r>
            <a:r>
              <a:rPr lang="en-US" i="1" dirty="0" smtClean="0">
                <a:solidFill>
                  <a:srgbClr val="FF0000"/>
                </a:solidFill>
              </a:rPr>
              <a:t>k</a:t>
            </a:r>
            <a:r>
              <a:rPr lang="en-US" dirty="0" smtClean="0">
                <a:solidFill>
                  <a:srgbClr val="FF0000"/>
                </a:solidFill>
              </a:rPr>
              <a:t>-</a:t>
            </a:r>
            <a:r>
              <a:rPr lang="en-US" dirty="0" err="1" smtClean="0">
                <a:solidFill>
                  <a:srgbClr val="FF0000"/>
                </a:solidFill>
              </a:rPr>
              <a:t>itemset</a:t>
            </a:r>
            <a:r>
              <a:rPr lang="en-US" dirty="0" smtClean="0">
                <a:solidFill>
                  <a:srgbClr val="FF0000"/>
                </a:solidFill>
              </a:rPr>
              <a:t> </a:t>
            </a:r>
            <a:r>
              <a:rPr lang="en-US" dirty="0" smtClean="0"/>
              <a:t>is an </a:t>
            </a:r>
            <a:r>
              <a:rPr lang="en-US" dirty="0" err="1" smtClean="0"/>
              <a:t>itemset</a:t>
            </a:r>
            <a:r>
              <a:rPr lang="en-US" dirty="0" smtClean="0"/>
              <a:t> with </a:t>
            </a:r>
            <a:r>
              <a:rPr lang="en-US" i="1" dirty="0" smtClean="0"/>
              <a:t>k</a:t>
            </a:r>
            <a:r>
              <a:rPr lang="en-US" dirty="0" smtClean="0"/>
              <a:t> items.</a:t>
            </a:r>
          </a:p>
          <a:p>
            <a:pPr marL="742950" lvl="1" indent="-285750"/>
            <a:r>
              <a:rPr lang="en-US" dirty="0" smtClean="0"/>
              <a:t>E.g., {milk, bread, cereal} is a 3-itemset</a:t>
            </a:r>
          </a:p>
        </p:txBody>
      </p:sp>
    </p:spTree>
    <p:extLst>
      <p:ext uri="{BB962C8B-B14F-4D97-AF65-F5344CB8AC3E}">
        <p14:creationId xmlns:p14="http://schemas.microsoft.com/office/powerpoint/2010/main" val="29242964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p:cNvSpPr>
            <a:spLocks noGrp="1" noChangeArrowheads="1"/>
          </p:cNvSpPr>
          <p:nvPr>
            <p:ph type="title" idx="4294967295"/>
          </p:nvPr>
        </p:nvSpPr>
        <p:spPr>
          <a:xfrm>
            <a:off x="839755" y="822325"/>
            <a:ext cx="10515600" cy="1325563"/>
          </a:xfrm>
        </p:spPr>
        <p:txBody>
          <a:bodyPr/>
          <a:lstStyle/>
          <a:p>
            <a:r>
              <a:rPr lang="en-US" b="1" dirty="0" smtClean="0">
                <a:solidFill>
                  <a:srgbClr val="FF0000"/>
                </a:solidFill>
              </a:rPr>
              <a:t>Rule strength measures</a:t>
            </a:r>
            <a:r>
              <a:rPr lang="en-US" dirty="0">
                <a:solidFill>
                  <a:srgbClr val="FF0000"/>
                </a:solidFill>
              </a:rPr>
              <a:t> :</a:t>
            </a:r>
            <a:endParaRPr lang="en-US" b="1" dirty="0" smtClean="0">
              <a:solidFill>
                <a:srgbClr val="FF0000"/>
              </a:solidFill>
            </a:endParaRPr>
          </a:p>
        </p:txBody>
      </p:sp>
      <p:sp>
        <p:nvSpPr>
          <p:cNvPr id="12293" name="Rectangle 3"/>
          <p:cNvSpPr>
            <a:spLocks noGrp="1" noChangeArrowheads="1"/>
          </p:cNvSpPr>
          <p:nvPr>
            <p:ph type="body" idx="4294967295"/>
          </p:nvPr>
        </p:nvSpPr>
        <p:spPr>
          <a:xfrm>
            <a:off x="606490" y="2228235"/>
            <a:ext cx="9993086" cy="4128115"/>
          </a:xfrm>
        </p:spPr>
        <p:txBody>
          <a:bodyPr/>
          <a:lstStyle/>
          <a:p>
            <a:pPr eaLnBrk="1" hangingPunct="1">
              <a:lnSpc>
                <a:spcPct val="90000"/>
              </a:lnSpc>
            </a:pPr>
            <a:r>
              <a:rPr lang="en-US" dirty="0" smtClean="0">
                <a:solidFill>
                  <a:srgbClr val="FF0000"/>
                </a:solidFill>
              </a:rPr>
              <a:t>Support:</a:t>
            </a:r>
            <a:r>
              <a:rPr lang="en-US" dirty="0" smtClean="0"/>
              <a:t> The rule holds with </a:t>
            </a:r>
            <a:r>
              <a:rPr lang="en-US" dirty="0" smtClean="0">
                <a:solidFill>
                  <a:srgbClr val="3333CC"/>
                </a:solidFill>
              </a:rPr>
              <a:t>support</a:t>
            </a:r>
            <a:r>
              <a:rPr lang="en-US" dirty="0" smtClean="0"/>
              <a:t> </a:t>
            </a:r>
            <a:r>
              <a:rPr lang="en-US" i="1" dirty="0" smtClean="0"/>
              <a:t>sup</a:t>
            </a:r>
            <a:r>
              <a:rPr lang="en-US" dirty="0" smtClean="0"/>
              <a:t> in </a:t>
            </a:r>
            <a:r>
              <a:rPr lang="en-US" i="1" dirty="0" smtClean="0"/>
              <a:t>T</a:t>
            </a:r>
            <a:r>
              <a:rPr lang="en-US" dirty="0" smtClean="0"/>
              <a:t> (the transaction data set) if sup% of transactions</a:t>
            </a:r>
            <a:r>
              <a:rPr lang="en-US" i="1" dirty="0" smtClean="0"/>
              <a:t> </a:t>
            </a:r>
            <a:r>
              <a:rPr lang="en-US" dirty="0" smtClean="0"/>
              <a:t>contain </a:t>
            </a:r>
            <a:r>
              <a:rPr lang="en-US" i="1" dirty="0" smtClean="0"/>
              <a:t>X</a:t>
            </a:r>
            <a:r>
              <a:rPr lang="en-US" dirty="0" smtClean="0"/>
              <a:t> </a:t>
            </a:r>
            <a:r>
              <a:rPr lang="en-US" dirty="0" smtClean="0">
                <a:sym typeface="Symbol" panose="05050102010706020507" pitchFamily="18" charset="2"/>
              </a:rPr>
              <a:t> </a:t>
            </a:r>
            <a:r>
              <a:rPr lang="en-US" i="1" dirty="0" smtClean="0">
                <a:sym typeface="Symbol" panose="05050102010706020507" pitchFamily="18" charset="2"/>
              </a:rPr>
              <a:t>Y</a:t>
            </a:r>
            <a:r>
              <a:rPr lang="en-US" dirty="0" smtClean="0">
                <a:sym typeface="Symbol" panose="05050102010706020507" pitchFamily="18" charset="2"/>
              </a:rPr>
              <a:t>. </a:t>
            </a:r>
          </a:p>
          <a:p>
            <a:pPr lvl="1" eaLnBrk="1" hangingPunct="1">
              <a:lnSpc>
                <a:spcPct val="90000"/>
              </a:lnSpc>
            </a:pPr>
            <a:r>
              <a:rPr lang="en-US" i="1" dirty="0" smtClean="0">
                <a:solidFill>
                  <a:srgbClr val="3333CC"/>
                </a:solidFill>
                <a:sym typeface="Symbol" panose="05050102010706020507" pitchFamily="18" charset="2"/>
              </a:rPr>
              <a:t>sup</a:t>
            </a:r>
            <a:r>
              <a:rPr lang="en-US" dirty="0" smtClean="0">
                <a:solidFill>
                  <a:srgbClr val="3333CC"/>
                </a:solidFill>
                <a:sym typeface="Symbol" panose="05050102010706020507" pitchFamily="18" charset="2"/>
              </a:rPr>
              <a:t> = </a:t>
            </a:r>
            <a:r>
              <a:rPr lang="en-US" dirty="0" err="1" smtClean="0">
                <a:solidFill>
                  <a:srgbClr val="3333CC"/>
                </a:solidFill>
                <a:sym typeface="Symbol" panose="05050102010706020507" pitchFamily="18" charset="2"/>
              </a:rPr>
              <a:t>Pr</a:t>
            </a:r>
            <a:r>
              <a:rPr lang="en-US" dirty="0" smtClean="0">
                <a:solidFill>
                  <a:srgbClr val="3333CC"/>
                </a:solidFill>
                <a:sym typeface="Symbol" panose="05050102010706020507" pitchFamily="18" charset="2"/>
              </a:rPr>
              <a:t>(</a:t>
            </a:r>
            <a:r>
              <a:rPr lang="en-US" i="1" dirty="0" smtClean="0">
                <a:solidFill>
                  <a:srgbClr val="3333CC"/>
                </a:solidFill>
              </a:rPr>
              <a:t>X</a:t>
            </a:r>
            <a:r>
              <a:rPr lang="en-US" dirty="0" smtClean="0">
                <a:solidFill>
                  <a:srgbClr val="3333CC"/>
                </a:solidFill>
              </a:rPr>
              <a:t> </a:t>
            </a:r>
            <a:r>
              <a:rPr lang="en-US" dirty="0" smtClean="0">
                <a:solidFill>
                  <a:srgbClr val="3333CC"/>
                </a:solidFill>
                <a:sym typeface="Symbol" panose="05050102010706020507" pitchFamily="18" charset="2"/>
              </a:rPr>
              <a:t> </a:t>
            </a:r>
            <a:r>
              <a:rPr lang="en-US" i="1" dirty="0" smtClean="0">
                <a:solidFill>
                  <a:srgbClr val="3333CC"/>
                </a:solidFill>
                <a:sym typeface="Symbol" panose="05050102010706020507" pitchFamily="18" charset="2"/>
              </a:rPr>
              <a:t>Y</a:t>
            </a:r>
            <a:r>
              <a:rPr lang="en-US" dirty="0" smtClean="0">
                <a:solidFill>
                  <a:srgbClr val="3333CC"/>
                </a:solidFill>
                <a:sym typeface="Symbol" panose="05050102010706020507" pitchFamily="18" charset="2"/>
              </a:rPr>
              <a:t>)</a:t>
            </a:r>
            <a:r>
              <a:rPr lang="en-US" i="1" dirty="0" smtClean="0">
                <a:solidFill>
                  <a:srgbClr val="3333CC"/>
                </a:solidFill>
                <a:sym typeface="Symbol" panose="05050102010706020507" pitchFamily="18" charset="2"/>
              </a:rPr>
              <a:t>.</a:t>
            </a:r>
            <a:r>
              <a:rPr lang="en-US" i="1" dirty="0" smtClean="0">
                <a:sym typeface="Symbol" panose="05050102010706020507" pitchFamily="18" charset="2"/>
              </a:rPr>
              <a:t> </a:t>
            </a:r>
            <a:endParaRPr lang="en-US" dirty="0" smtClean="0"/>
          </a:p>
          <a:p>
            <a:pPr eaLnBrk="1" hangingPunct="1">
              <a:lnSpc>
                <a:spcPct val="90000"/>
              </a:lnSpc>
            </a:pPr>
            <a:r>
              <a:rPr lang="en-US" dirty="0" smtClean="0">
                <a:solidFill>
                  <a:srgbClr val="FF0000"/>
                </a:solidFill>
              </a:rPr>
              <a:t>Confidence:</a:t>
            </a:r>
            <a:r>
              <a:rPr lang="en-US" dirty="0" smtClean="0"/>
              <a:t> The rule holds in </a:t>
            </a:r>
            <a:r>
              <a:rPr lang="en-US" i="1" dirty="0" smtClean="0"/>
              <a:t>T</a:t>
            </a:r>
            <a:r>
              <a:rPr lang="en-US" dirty="0" smtClean="0"/>
              <a:t> with </a:t>
            </a:r>
            <a:r>
              <a:rPr lang="en-US" dirty="0" smtClean="0">
                <a:solidFill>
                  <a:srgbClr val="3333CC"/>
                </a:solidFill>
              </a:rPr>
              <a:t>confidence </a:t>
            </a:r>
            <a:r>
              <a:rPr lang="en-US" i="1" dirty="0" err="1" smtClean="0"/>
              <a:t>conf</a:t>
            </a:r>
            <a:r>
              <a:rPr lang="en-US" dirty="0" smtClean="0"/>
              <a:t> if </a:t>
            </a:r>
            <a:r>
              <a:rPr lang="en-US" i="1" dirty="0" err="1" smtClean="0"/>
              <a:t>conf</a:t>
            </a:r>
            <a:r>
              <a:rPr lang="en-US" dirty="0" smtClean="0"/>
              <a:t>% of </a:t>
            </a:r>
            <a:r>
              <a:rPr lang="en-US" dirty="0" err="1" smtClean="0"/>
              <a:t>tranactions</a:t>
            </a:r>
            <a:r>
              <a:rPr lang="en-US" dirty="0" smtClean="0"/>
              <a:t> that contain </a:t>
            </a:r>
            <a:r>
              <a:rPr lang="en-US" i="1" dirty="0" smtClean="0"/>
              <a:t>X</a:t>
            </a:r>
            <a:r>
              <a:rPr lang="en-US" dirty="0" smtClean="0"/>
              <a:t> also contain </a:t>
            </a:r>
            <a:r>
              <a:rPr lang="en-US" i="1" dirty="0" smtClean="0"/>
              <a:t>Y.</a:t>
            </a:r>
          </a:p>
          <a:p>
            <a:pPr lvl="1" eaLnBrk="1" hangingPunct="1">
              <a:lnSpc>
                <a:spcPct val="90000"/>
              </a:lnSpc>
            </a:pPr>
            <a:r>
              <a:rPr lang="en-US" i="1" dirty="0" err="1" smtClean="0">
                <a:solidFill>
                  <a:srgbClr val="3333CC"/>
                </a:solidFill>
              </a:rPr>
              <a:t>conf</a:t>
            </a:r>
            <a:r>
              <a:rPr lang="en-US" dirty="0" smtClean="0">
                <a:solidFill>
                  <a:srgbClr val="3333CC"/>
                </a:solidFill>
              </a:rPr>
              <a:t> = </a:t>
            </a:r>
            <a:r>
              <a:rPr lang="en-US" dirty="0" err="1" smtClean="0">
                <a:solidFill>
                  <a:srgbClr val="3333CC"/>
                </a:solidFill>
              </a:rPr>
              <a:t>Pr</a:t>
            </a:r>
            <a:r>
              <a:rPr lang="en-US" dirty="0" smtClean="0">
                <a:solidFill>
                  <a:srgbClr val="3333CC"/>
                </a:solidFill>
              </a:rPr>
              <a:t>(</a:t>
            </a:r>
            <a:r>
              <a:rPr lang="en-US" i="1" dirty="0" smtClean="0">
                <a:solidFill>
                  <a:srgbClr val="3333CC"/>
                </a:solidFill>
              </a:rPr>
              <a:t>Y</a:t>
            </a:r>
            <a:r>
              <a:rPr lang="en-US" dirty="0" smtClean="0">
                <a:solidFill>
                  <a:srgbClr val="3333CC"/>
                </a:solidFill>
              </a:rPr>
              <a:t> | </a:t>
            </a:r>
            <a:r>
              <a:rPr lang="en-US" i="1" dirty="0" smtClean="0">
                <a:solidFill>
                  <a:srgbClr val="3333CC"/>
                </a:solidFill>
              </a:rPr>
              <a:t>X</a:t>
            </a:r>
            <a:r>
              <a:rPr lang="en-US" dirty="0" smtClean="0">
                <a:solidFill>
                  <a:srgbClr val="3333CC"/>
                </a:solidFill>
              </a:rPr>
              <a:t>)</a:t>
            </a:r>
          </a:p>
          <a:p>
            <a:pPr eaLnBrk="1" hangingPunct="1">
              <a:lnSpc>
                <a:spcPct val="90000"/>
              </a:lnSpc>
            </a:pPr>
            <a:r>
              <a:rPr lang="en-US" dirty="0" smtClean="0">
                <a:sym typeface="Symbol" panose="05050102010706020507" pitchFamily="18" charset="2"/>
              </a:rPr>
              <a:t>An association rule is a pattern that states when </a:t>
            </a:r>
            <a:r>
              <a:rPr lang="en-US" i="1" dirty="0" smtClean="0">
                <a:sym typeface="Symbol" panose="05050102010706020507" pitchFamily="18" charset="2"/>
              </a:rPr>
              <a:t>X</a:t>
            </a:r>
            <a:r>
              <a:rPr lang="en-US" dirty="0" smtClean="0">
                <a:sym typeface="Symbol" panose="05050102010706020507" pitchFamily="18" charset="2"/>
              </a:rPr>
              <a:t> occurs, </a:t>
            </a:r>
            <a:r>
              <a:rPr lang="en-US" i="1" dirty="0" smtClean="0">
                <a:sym typeface="Symbol" panose="05050102010706020507" pitchFamily="18" charset="2"/>
              </a:rPr>
              <a:t>Y</a:t>
            </a:r>
            <a:r>
              <a:rPr lang="en-US" dirty="0" smtClean="0">
                <a:sym typeface="Symbol" panose="05050102010706020507" pitchFamily="18" charset="2"/>
              </a:rPr>
              <a:t> occurs with certain probability. </a:t>
            </a:r>
            <a:endParaRPr lang="en-US" dirty="0" smtClean="0"/>
          </a:p>
        </p:txBody>
      </p:sp>
    </p:spTree>
    <p:extLst>
      <p:ext uri="{BB962C8B-B14F-4D97-AF65-F5344CB8AC3E}">
        <p14:creationId xmlns:p14="http://schemas.microsoft.com/office/powerpoint/2010/main" val="424735701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
          <p:cNvSpPr>
            <a:spLocks noGrp="1" noChangeArrowheads="1"/>
          </p:cNvSpPr>
          <p:nvPr>
            <p:ph type="title" idx="4294967295"/>
          </p:nvPr>
        </p:nvSpPr>
        <p:spPr>
          <a:xfrm>
            <a:off x="886408" y="1101012"/>
            <a:ext cx="7951658" cy="906362"/>
          </a:xfrm>
        </p:spPr>
        <p:txBody>
          <a:bodyPr/>
          <a:lstStyle/>
          <a:p>
            <a:r>
              <a:rPr lang="en-US" b="1" dirty="0" smtClean="0">
                <a:solidFill>
                  <a:srgbClr val="FF0000"/>
                </a:solidFill>
              </a:rPr>
              <a:t>Support and </a:t>
            </a:r>
            <a:r>
              <a:rPr lang="en-US" b="1" dirty="0">
                <a:solidFill>
                  <a:srgbClr val="FF0000"/>
                </a:solidFill>
              </a:rPr>
              <a:t>Confidence </a:t>
            </a:r>
            <a:r>
              <a:rPr lang="en-US" dirty="0">
                <a:solidFill>
                  <a:srgbClr val="FF0000"/>
                </a:solidFill>
              </a:rPr>
              <a:t>:</a:t>
            </a:r>
            <a:endParaRPr lang="en-US" dirty="0" smtClean="0">
              <a:solidFill>
                <a:srgbClr val="FF0000"/>
              </a:solidFill>
            </a:endParaRPr>
          </a:p>
        </p:txBody>
      </p:sp>
      <p:sp>
        <p:nvSpPr>
          <p:cNvPr id="13317" name="Rectangle 3"/>
          <p:cNvSpPr>
            <a:spLocks noGrp="1" noChangeArrowheads="1"/>
          </p:cNvSpPr>
          <p:nvPr>
            <p:ph type="body" idx="4294967295"/>
          </p:nvPr>
        </p:nvSpPr>
        <p:spPr>
          <a:xfrm>
            <a:off x="793101" y="2007374"/>
            <a:ext cx="10254343" cy="4471987"/>
          </a:xfrm>
        </p:spPr>
        <p:txBody>
          <a:bodyPr/>
          <a:lstStyle/>
          <a:p>
            <a:pPr eaLnBrk="1" hangingPunct="1"/>
            <a:r>
              <a:rPr lang="en-US" dirty="0" smtClean="0">
                <a:solidFill>
                  <a:srgbClr val="FF0000"/>
                </a:solidFill>
              </a:rPr>
              <a:t>Support count</a:t>
            </a:r>
            <a:r>
              <a:rPr lang="en-US" dirty="0" smtClean="0"/>
              <a:t>: The support count of an </a:t>
            </a:r>
            <a:r>
              <a:rPr lang="en-US" dirty="0" err="1" smtClean="0"/>
              <a:t>itemset</a:t>
            </a:r>
            <a:r>
              <a:rPr lang="en-US" dirty="0" smtClean="0"/>
              <a:t> </a:t>
            </a:r>
            <a:r>
              <a:rPr lang="en-US" i="1" dirty="0" smtClean="0"/>
              <a:t>X</a:t>
            </a:r>
            <a:r>
              <a:rPr lang="en-US" dirty="0" smtClean="0"/>
              <a:t>, denoted by </a:t>
            </a:r>
            <a:r>
              <a:rPr lang="en-US" i="1" dirty="0" err="1" smtClean="0">
                <a:solidFill>
                  <a:srgbClr val="FF0000"/>
                </a:solidFill>
              </a:rPr>
              <a:t>X.count</a:t>
            </a:r>
            <a:r>
              <a:rPr lang="en-US" dirty="0" smtClean="0"/>
              <a:t>, in a data set </a:t>
            </a:r>
            <a:r>
              <a:rPr lang="en-US" i="1" dirty="0" smtClean="0"/>
              <a:t>T</a:t>
            </a:r>
            <a:r>
              <a:rPr lang="en-US" dirty="0" smtClean="0"/>
              <a:t> is the number of transactions in </a:t>
            </a:r>
            <a:r>
              <a:rPr lang="en-US" i="1" dirty="0" smtClean="0"/>
              <a:t>T</a:t>
            </a:r>
            <a:r>
              <a:rPr lang="en-US" dirty="0" smtClean="0"/>
              <a:t> that contain </a:t>
            </a:r>
            <a:r>
              <a:rPr lang="en-US" i="1" dirty="0" smtClean="0"/>
              <a:t>X</a:t>
            </a:r>
            <a:r>
              <a:rPr lang="en-US" dirty="0" smtClean="0"/>
              <a:t>. Assume </a:t>
            </a:r>
            <a:r>
              <a:rPr lang="en-US" i="1" dirty="0" smtClean="0"/>
              <a:t>T</a:t>
            </a:r>
            <a:r>
              <a:rPr lang="en-US" dirty="0" smtClean="0"/>
              <a:t> has </a:t>
            </a:r>
            <a:r>
              <a:rPr lang="en-US" i="1" dirty="0" smtClean="0"/>
              <a:t>n</a:t>
            </a:r>
            <a:r>
              <a:rPr lang="en-US" dirty="0" smtClean="0"/>
              <a:t> transactions. </a:t>
            </a:r>
          </a:p>
          <a:p>
            <a:pPr eaLnBrk="1" hangingPunct="1"/>
            <a:r>
              <a:rPr lang="en-US" dirty="0" smtClean="0"/>
              <a:t>Then, </a:t>
            </a:r>
          </a:p>
          <a:p>
            <a:pPr eaLnBrk="1" hangingPunct="1"/>
            <a:endParaRPr lang="en-US" dirty="0" smtClean="0"/>
          </a:p>
        </p:txBody>
      </p:sp>
      <p:sp>
        <p:nvSpPr>
          <p:cNvPr id="13318" name="Rectangle 5"/>
          <p:cNvSpPr>
            <a:spLocks noChangeArrowheads="1"/>
          </p:cNvSpPr>
          <p:nvPr/>
        </p:nvSpPr>
        <p:spPr bwMode="auto">
          <a:xfrm>
            <a:off x="1524000" y="-276999"/>
            <a:ext cx="370614"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endParaRPr lang="en-IN"/>
          </a:p>
        </p:txBody>
      </p:sp>
      <p:graphicFrame>
        <p:nvGraphicFramePr>
          <p:cNvPr id="13319" name="Object 4"/>
          <p:cNvGraphicFramePr>
            <a:graphicFrameLocks noChangeAspect="1"/>
          </p:cNvGraphicFramePr>
          <p:nvPr>
            <p:extLst>
              <p:ext uri="{D42A27DB-BD31-4B8C-83A1-F6EECF244321}">
                <p14:modId xmlns:p14="http://schemas.microsoft.com/office/powerpoint/2010/main" val="496392247"/>
              </p:ext>
            </p:extLst>
          </p:nvPr>
        </p:nvGraphicFramePr>
        <p:xfrm>
          <a:off x="2911086" y="3793480"/>
          <a:ext cx="4427538" cy="1079500"/>
        </p:xfrm>
        <a:graphic>
          <a:graphicData uri="http://schemas.openxmlformats.org/presentationml/2006/ole">
            <mc:AlternateContent xmlns:mc="http://schemas.openxmlformats.org/markup-compatibility/2006">
              <mc:Choice xmlns:v="urn:schemas-microsoft-com:vml" Requires="v">
                <p:oleObj spid="_x0000_s1058" name="Equation" r:id="rId3" imgW="1460500" imgH="368300" progId="Equation.3">
                  <p:embed/>
                </p:oleObj>
              </mc:Choice>
              <mc:Fallback>
                <p:oleObj name="Equation" r:id="rId3" imgW="1460500" imgH="3683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1086" y="3793480"/>
                        <a:ext cx="4427538"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20" name="Rectangle 7"/>
          <p:cNvSpPr>
            <a:spLocks noChangeArrowheads="1"/>
          </p:cNvSpPr>
          <p:nvPr/>
        </p:nvSpPr>
        <p:spPr bwMode="auto">
          <a:xfrm>
            <a:off x="1524000" y="2966264"/>
            <a:ext cx="370614"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endParaRPr lang="en-IN"/>
          </a:p>
        </p:txBody>
      </p:sp>
      <p:graphicFrame>
        <p:nvGraphicFramePr>
          <p:cNvPr id="13321" name="Object 6"/>
          <p:cNvGraphicFramePr>
            <a:graphicFrameLocks noChangeAspect="1"/>
          </p:cNvGraphicFramePr>
          <p:nvPr>
            <p:extLst>
              <p:ext uri="{D42A27DB-BD31-4B8C-83A1-F6EECF244321}">
                <p14:modId xmlns:p14="http://schemas.microsoft.com/office/powerpoint/2010/main" val="3348513689"/>
              </p:ext>
            </p:extLst>
          </p:nvPr>
        </p:nvGraphicFramePr>
        <p:xfrm>
          <a:off x="3020657" y="5134530"/>
          <a:ext cx="4608513" cy="1079500"/>
        </p:xfrm>
        <a:graphic>
          <a:graphicData uri="http://schemas.openxmlformats.org/presentationml/2006/ole">
            <mc:AlternateContent xmlns:mc="http://schemas.openxmlformats.org/markup-compatibility/2006">
              <mc:Choice xmlns:v="urn:schemas-microsoft-com:vml" Requires="v">
                <p:oleObj spid="_x0000_s1059" name="Equation" r:id="rId5" imgW="1612900" imgH="368300" progId="Equation.3">
                  <p:embed/>
                </p:oleObj>
              </mc:Choice>
              <mc:Fallback>
                <p:oleObj name="Equation" r:id="rId5" imgW="1612900" imgH="3683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20657" y="5134530"/>
                        <a:ext cx="4608513"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90931176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p:cNvSpPr>
            <a:spLocks noGrp="1" noChangeArrowheads="1"/>
          </p:cNvSpPr>
          <p:nvPr>
            <p:ph type="title" idx="4294967295"/>
          </p:nvPr>
        </p:nvSpPr>
        <p:spPr>
          <a:xfrm>
            <a:off x="1007706" y="899497"/>
            <a:ext cx="8229600" cy="1139825"/>
          </a:xfrm>
        </p:spPr>
        <p:txBody>
          <a:bodyPr/>
          <a:lstStyle/>
          <a:p>
            <a:pPr eaLnBrk="1" hangingPunct="1"/>
            <a:r>
              <a:rPr lang="en-US" dirty="0" smtClean="0"/>
              <a:t>Goal and key features</a:t>
            </a:r>
          </a:p>
        </p:txBody>
      </p:sp>
      <p:sp>
        <p:nvSpPr>
          <p:cNvPr id="14341" name="Rectangle 3"/>
          <p:cNvSpPr>
            <a:spLocks noGrp="1" noChangeArrowheads="1"/>
          </p:cNvSpPr>
          <p:nvPr>
            <p:ph type="body" idx="4294967295"/>
          </p:nvPr>
        </p:nvSpPr>
        <p:spPr>
          <a:xfrm>
            <a:off x="942392" y="2232267"/>
            <a:ext cx="10487608" cy="4503738"/>
          </a:xfrm>
        </p:spPr>
        <p:txBody>
          <a:bodyPr/>
          <a:lstStyle/>
          <a:p>
            <a:pPr eaLnBrk="1" hangingPunct="1">
              <a:spcAft>
                <a:spcPct val="50000"/>
              </a:spcAft>
            </a:pPr>
            <a:r>
              <a:rPr lang="en-US" b="1" dirty="0" smtClean="0">
                <a:solidFill>
                  <a:srgbClr val="FF0000"/>
                </a:solidFill>
              </a:rPr>
              <a:t>Goal:</a:t>
            </a:r>
            <a:r>
              <a:rPr lang="en-US" dirty="0" smtClean="0"/>
              <a:t> Find all rules that satisfy the user-specified </a:t>
            </a:r>
            <a:r>
              <a:rPr lang="en-US" i="1" dirty="0" smtClean="0">
                <a:solidFill>
                  <a:srgbClr val="FF0000"/>
                </a:solidFill>
              </a:rPr>
              <a:t>minimum support</a:t>
            </a:r>
            <a:r>
              <a:rPr lang="en-US" dirty="0" smtClean="0"/>
              <a:t> (</a:t>
            </a:r>
            <a:r>
              <a:rPr lang="en-US" dirty="0" err="1" smtClean="0"/>
              <a:t>minsup</a:t>
            </a:r>
            <a:r>
              <a:rPr lang="en-US" dirty="0" smtClean="0"/>
              <a:t>) and </a:t>
            </a:r>
            <a:r>
              <a:rPr lang="en-US" i="1" dirty="0" smtClean="0">
                <a:solidFill>
                  <a:srgbClr val="FF0000"/>
                </a:solidFill>
              </a:rPr>
              <a:t>minimum confidence</a:t>
            </a:r>
            <a:r>
              <a:rPr lang="en-US" i="1" dirty="0" smtClean="0"/>
              <a:t> </a:t>
            </a:r>
            <a:r>
              <a:rPr lang="en-US" dirty="0" smtClean="0"/>
              <a:t>(</a:t>
            </a:r>
            <a:r>
              <a:rPr lang="en-US" dirty="0" err="1" smtClean="0"/>
              <a:t>minconf</a:t>
            </a:r>
            <a:r>
              <a:rPr lang="en-US" dirty="0" smtClean="0"/>
              <a:t>).</a:t>
            </a:r>
            <a:endParaRPr lang="en-US" i="1" dirty="0" smtClean="0"/>
          </a:p>
          <a:p>
            <a:pPr eaLnBrk="1" hangingPunct="1"/>
            <a:r>
              <a:rPr lang="en-US" b="1" dirty="0" smtClean="0">
                <a:solidFill>
                  <a:srgbClr val="FF0000"/>
                </a:solidFill>
              </a:rPr>
              <a:t>Key Features</a:t>
            </a:r>
          </a:p>
          <a:p>
            <a:pPr marL="742950" lvl="1" indent="-285750"/>
            <a:r>
              <a:rPr lang="en-US" dirty="0" smtClean="0">
                <a:solidFill>
                  <a:srgbClr val="FF0000"/>
                </a:solidFill>
              </a:rPr>
              <a:t>Completeness:</a:t>
            </a:r>
            <a:r>
              <a:rPr lang="en-US" dirty="0" smtClean="0"/>
              <a:t> find all rules.</a:t>
            </a:r>
          </a:p>
          <a:p>
            <a:pPr marL="742950" lvl="1" indent="-285750"/>
            <a:r>
              <a:rPr lang="en-US" dirty="0" smtClean="0">
                <a:solidFill>
                  <a:srgbClr val="FF0000"/>
                </a:solidFill>
              </a:rPr>
              <a:t>No target item(s)</a:t>
            </a:r>
            <a:r>
              <a:rPr lang="en-US" dirty="0" smtClean="0"/>
              <a:t> on the right-hand-side</a:t>
            </a:r>
          </a:p>
          <a:p>
            <a:pPr marL="742950" lvl="1" indent="-285750"/>
            <a:r>
              <a:rPr lang="en-US" dirty="0" smtClean="0"/>
              <a:t>Mining with data on </a:t>
            </a:r>
            <a:r>
              <a:rPr lang="en-US" dirty="0" smtClean="0">
                <a:solidFill>
                  <a:srgbClr val="FF0000"/>
                </a:solidFill>
              </a:rPr>
              <a:t>hard disk</a:t>
            </a:r>
            <a:r>
              <a:rPr lang="en-US" dirty="0" smtClean="0"/>
              <a:t> </a:t>
            </a:r>
            <a:r>
              <a:rPr lang="en-US" sz="2200" dirty="0"/>
              <a:t>(not in memory)</a:t>
            </a:r>
            <a:r>
              <a:rPr lang="en-US" dirty="0" smtClean="0"/>
              <a:t> </a:t>
            </a:r>
            <a:endParaRPr lang="en-US" b="1" dirty="0" smtClean="0"/>
          </a:p>
        </p:txBody>
      </p:sp>
    </p:spTree>
    <p:extLst>
      <p:ext uri="{BB962C8B-B14F-4D97-AF65-F5344CB8AC3E}">
        <p14:creationId xmlns:p14="http://schemas.microsoft.com/office/powerpoint/2010/main" val="264779476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idx="4294967295"/>
          </p:nvPr>
        </p:nvSpPr>
        <p:spPr>
          <a:xfrm>
            <a:off x="1333500" y="766700"/>
            <a:ext cx="7772400" cy="1104900"/>
          </a:xfrm>
        </p:spPr>
        <p:txBody>
          <a:bodyPr/>
          <a:lstStyle/>
          <a:p>
            <a:pPr eaLnBrk="1" hangingPunct="1"/>
            <a:r>
              <a:rPr lang="en-GB" b="1" dirty="0" smtClean="0">
                <a:solidFill>
                  <a:srgbClr val="FF0000"/>
                </a:solidFill>
              </a:rPr>
              <a:t>An example</a:t>
            </a:r>
          </a:p>
        </p:txBody>
      </p:sp>
      <p:sp>
        <p:nvSpPr>
          <p:cNvPr id="15365" name="Rectangle 3"/>
          <p:cNvSpPr>
            <a:spLocks noGrp="1" noChangeArrowheads="1"/>
          </p:cNvSpPr>
          <p:nvPr>
            <p:ph type="body" idx="4294967295"/>
          </p:nvPr>
        </p:nvSpPr>
        <p:spPr>
          <a:xfrm>
            <a:off x="0" y="1808163"/>
            <a:ext cx="7772400" cy="4429125"/>
          </a:xfrm>
        </p:spPr>
        <p:txBody>
          <a:bodyPr/>
          <a:lstStyle/>
          <a:p>
            <a:r>
              <a:rPr lang="en-GB" dirty="0" smtClean="0"/>
              <a:t>Transaction data</a:t>
            </a:r>
            <a:endParaRPr lang="en-GB" b="1" dirty="0" smtClean="0"/>
          </a:p>
          <a:p>
            <a:pPr eaLnBrk="1" hangingPunct="1">
              <a:spcBef>
                <a:spcPct val="0"/>
              </a:spcBef>
            </a:pPr>
            <a:r>
              <a:rPr lang="en-GB" dirty="0" smtClean="0"/>
              <a:t>Assume:</a:t>
            </a:r>
          </a:p>
          <a:p>
            <a:pPr eaLnBrk="1" hangingPunct="1">
              <a:spcBef>
                <a:spcPct val="0"/>
              </a:spcBef>
              <a:buFont typeface="Wingdings" panose="05000000000000000000" pitchFamily="2" charset="2"/>
              <a:buNone/>
            </a:pPr>
            <a:r>
              <a:rPr lang="en-GB" sz="2100" dirty="0"/>
              <a:t>		</a:t>
            </a:r>
            <a:r>
              <a:rPr lang="en-GB" sz="2100" dirty="0" err="1"/>
              <a:t>minsup</a:t>
            </a:r>
            <a:r>
              <a:rPr lang="en-GB" sz="2100" dirty="0"/>
              <a:t> = 30%</a:t>
            </a:r>
          </a:p>
          <a:p>
            <a:pPr eaLnBrk="1" hangingPunct="1">
              <a:spcBef>
                <a:spcPct val="0"/>
              </a:spcBef>
              <a:buFont typeface="Wingdings" panose="05000000000000000000" pitchFamily="2" charset="2"/>
              <a:buNone/>
            </a:pPr>
            <a:r>
              <a:rPr lang="en-GB" sz="2100" dirty="0"/>
              <a:t>		</a:t>
            </a:r>
            <a:r>
              <a:rPr lang="en-GB" sz="2100" dirty="0" err="1"/>
              <a:t>minconf</a:t>
            </a:r>
            <a:r>
              <a:rPr lang="en-GB" sz="2100" dirty="0"/>
              <a:t> = 80%</a:t>
            </a:r>
          </a:p>
          <a:p>
            <a:pPr eaLnBrk="1" hangingPunct="1">
              <a:spcBef>
                <a:spcPct val="0"/>
              </a:spcBef>
            </a:pPr>
            <a:r>
              <a:rPr lang="en-GB" dirty="0" smtClean="0"/>
              <a:t>An example </a:t>
            </a:r>
            <a:r>
              <a:rPr lang="en-GB" dirty="0" smtClean="0">
                <a:solidFill>
                  <a:srgbClr val="FF0000"/>
                </a:solidFill>
              </a:rPr>
              <a:t>frequent </a:t>
            </a:r>
            <a:r>
              <a:rPr lang="en-GB" i="1" dirty="0" err="1" smtClean="0">
                <a:solidFill>
                  <a:srgbClr val="FF0000"/>
                </a:solidFill>
              </a:rPr>
              <a:t>itemset</a:t>
            </a:r>
            <a:r>
              <a:rPr lang="en-GB" dirty="0" smtClean="0"/>
              <a:t>:</a:t>
            </a:r>
            <a:r>
              <a:rPr lang="en-GB" b="1" dirty="0" smtClean="0"/>
              <a:t>    </a:t>
            </a:r>
          </a:p>
          <a:p>
            <a:pPr eaLnBrk="1" hangingPunct="1">
              <a:spcBef>
                <a:spcPct val="0"/>
              </a:spcBef>
              <a:buFont typeface="Wingdings" panose="05000000000000000000" pitchFamily="2" charset="2"/>
              <a:buNone/>
            </a:pPr>
            <a:r>
              <a:rPr lang="en-GB" dirty="0" smtClean="0"/>
              <a:t>   </a:t>
            </a:r>
            <a:r>
              <a:rPr lang="en-GB" sz="2100" dirty="0"/>
              <a:t>{Chicken, Clothes, Milk}    	[sup = 3/7]</a:t>
            </a:r>
          </a:p>
          <a:p>
            <a:pPr eaLnBrk="1" hangingPunct="1">
              <a:spcBef>
                <a:spcPct val="0"/>
              </a:spcBef>
            </a:pPr>
            <a:r>
              <a:rPr lang="en-GB" dirty="0" smtClean="0">
                <a:solidFill>
                  <a:srgbClr val="FF0000"/>
                </a:solidFill>
              </a:rPr>
              <a:t>Association rules</a:t>
            </a:r>
            <a:r>
              <a:rPr lang="en-GB" dirty="0" smtClean="0">
                <a:solidFill>
                  <a:schemeClr val="accent2"/>
                </a:solidFill>
              </a:rPr>
              <a:t> </a:t>
            </a:r>
            <a:r>
              <a:rPr lang="en-GB" dirty="0" smtClean="0"/>
              <a:t>from the </a:t>
            </a:r>
            <a:r>
              <a:rPr lang="en-GB" dirty="0" err="1" smtClean="0"/>
              <a:t>itemset</a:t>
            </a:r>
            <a:r>
              <a:rPr lang="en-GB" dirty="0" smtClean="0"/>
              <a:t>:</a:t>
            </a:r>
            <a:r>
              <a:rPr lang="en-GB" b="1" dirty="0" smtClean="0"/>
              <a:t>	</a:t>
            </a:r>
          </a:p>
          <a:p>
            <a:pPr eaLnBrk="1" hangingPunct="1">
              <a:spcBef>
                <a:spcPct val="0"/>
              </a:spcBef>
              <a:buFont typeface="Wingdings" panose="05000000000000000000" pitchFamily="2" charset="2"/>
              <a:buNone/>
            </a:pPr>
            <a:r>
              <a:rPr lang="en-GB" sz="2600" dirty="0"/>
              <a:t>	 </a:t>
            </a:r>
            <a:r>
              <a:rPr lang="en-GB" sz="2100" dirty="0"/>
              <a:t>Clothes </a:t>
            </a:r>
            <a:r>
              <a:rPr lang="en-GB" sz="2600" dirty="0">
                <a:sym typeface="Symbol" panose="05050102010706020507" pitchFamily="18" charset="2"/>
              </a:rPr>
              <a:t> </a:t>
            </a:r>
            <a:r>
              <a:rPr lang="en-GB" sz="2100" dirty="0"/>
              <a:t>Milk, </a:t>
            </a:r>
            <a:r>
              <a:rPr lang="en-GB" sz="2000" dirty="0"/>
              <a:t>Chicken	</a:t>
            </a:r>
            <a:r>
              <a:rPr lang="en-GB" sz="2100" dirty="0"/>
              <a:t>[sup = 3/7, </a:t>
            </a:r>
            <a:r>
              <a:rPr lang="en-GB" sz="2100" dirty="0" err="1"/>
              <a:t>conf</a:t>
            </a:r>
            <a:r>
              <a:rPr lang="en-GB" sz="2100" dirty="0"/>
              <a:t> = 3/3]</a:t>
            </a:r>
          </a:p>
          <a:p>
            <a:pPr eaLnBrk="1" hangingPunct="1">
              <a:spcBef>
                <a:spcPct val="0"/>
              </a:spcBef>
              <a:buFont typeface="Wingdings" panose="05000000000000000000" pitchFamily="2" charset="2"/>
              <a:buNone/>
            </a:pPr>
            <a:r>
              <a:rPr lang="en-GB" sz="2600" dirty="0"/>
              <a:t>	 </a:t>
            </a:r>
            <a:r>
              <a:rPr lang="en-GB" sz="2100" dirty="0"/>
              <a:t>…				…</a:t>
            </a:r>
          </a:p>
          <a:p>
            <a:pPr eaLnBrk="1" hangingPunct="1">
              <a:spcBef>
                <a:spcPct val="0"/>
              </a:spcBef>
              <a:buFont typeface="Wingdings" panose="05000000000000000000" pitchFamily="2" charset="2"/>
              <a:buNone/>
            </a:pPr>
            <a:r>
              <a:rPr lang="en-GB" sz="2600" dirty="0"/>
              <a:t>	 </a:t>
            </a:r>
            <a:r>
              <a:rPr lang="en-GB" sz="2100" dirty="0"/>
              <a:t>Clothes, </a:t>
            </a:r>
            <a:r>
              <a:rPr lang="en-GB" sz="2000" dirty="0"/>
              <a:t>Chicken</a:t>
            </a:r>
            <a:r>
              <a:rPr lang="en-GB" sz="2100" dirty="0"/>
              <a:t> </a:t>
            </a:r>
            <a:r>
              <a:rPr lang="en-GB" sz="2600" dirty="0">
                <a:sym typeface="Symbol" panose="05050102010706020507" pitchFamily="18" charset="2"/>
              </a:rPr>
              <a:t> </a:t>
            </a:r>
            <a:r>
              <a:rPr lang="en-GB" sz="2100" dirty="0"/>
              <a:t>Milk, </a:t>
            </a:r>
            <a:r>
              <a:rPr lang="en-GB" sz="2000" dirty="0"/>
              <a:t>	</a:t>
            </a:r>
            <a:r>
              <a:rPr lang="en-GB" sz="2100" dirty="0"/>
              <a:t>[sup = 3/7, </a:t>
            </a:r>
            <a:r>
              <a:rPr lang="en-GB" sz="2100" dirty="0" err="1"/>
              <a:t>conf</a:t>
            </a:r>
            <a:r>
              <a:rPr lang="en-GB" sz="2100" dirty="0"/>
              <a:t> = 3/3]</a:t>
            </a:r>
          </a:p>
        </p:txBody>
      </p:sp>
      <p:sp>
        <p:nvSpPr>
          <p:cNvPr id="15366" name="Text Box 4"/>
          <p:cNvSpPr txBox="1">
            <a:spLocks noChangeArrowheads="1"/>
          </p:cNvSpPr>
          <p:nvPr/>
        </p:nvSpPr>
        <p:spPr bwMode="auto">
          <a:xfrm>
            <a:off x="6819690" y="1847851"/>
            <a:ext cx="3758682" cy="2640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defTabSz="6350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114300" defTabSz="63500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defTabSz="6350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defTabSz="6350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defTabSz="6350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defTabSz="6350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defTabSz="6350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defTabSz="6350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defTabSz="6350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lvl="1" eaLnBrk="1" hangingPunct="1">
              <a:buClr>
                <a:schemeClr val="accent1"/>
              </a:buClr>
              <a:buSzPct val="65000"/>
              <a:buFont typeface="Wingdings" panose="05000000000000000000" pitchFamily="2" charset="2"/>
              <a:buNone/>
            </a:pPr>
            <a:r>
              <a:rPr lang="en-US" altLang="ja-JP" sz="1800" dirty="0">
                <a:ea typeface="ＭＳ Ｐゴシック" panose="020B0600070205080204" pitchFamily="34" charset="-128"/>
              </a:rPr>
              <a:t>t1:	Beef, Chicken, Milk</a:t>
            </a:r>
          </a:p>
          <a:p>
            <a:pPr lvl="1" eaLnBrk="1" hangingPunct="1">
              <a:buClr>
                <a:schemeClr val="accent1"/>
              </a:buClr>
              <a:buSzPct val="65000"/>
              <a:buFont typeface="Wingdings" panose="05000000000000000000" pitchFamily="2" charset="2"/>
              <a:buNone/>
            </a:pPr>
            <a:r>
              <a:rPr lang="en-US" altLang="ja-JP" sz="1800" dirty="0">
                <a:ea typeface="ＭＳ Ｐゴシック" panose="020B0600070205080204" pitchFamily="34" charset="-128"/>
              </a:rPr>
              <a:t>t2:	Beef, Cheese</a:t>
            </a:r>
          </a:p>
          <a:p>
            <a:pPr lvl="1" eaLnBrk="1" hangingPunct="1">
              <a:buClr>
                <a:schemeClr val="accent1"/>
              </a:buClr>
              <a:buSzPct val="65000"/>
              <a:buFont typeface="Wingdings" panose="05000000000000000000" pitchFamily="2" charset="2"/>
              <a:buNone/>
            </a:pPr>
            <a:r>
              <a:rPr lang="en-US" altLang="ja-JP" sz="1800" dirty="0">
                <a:ea typeface="ＭＳ Ｐゴシック" panose="020B0600070205080204" pitchFamily="34" charset="-128"/>
              </a:rPr>
              <a:t>t3:	Cheese, Boots</a:t>
            </a:r>
          </a:p>
          <a:p>
            <a:pPr lvl="1" eaLnBrk="1" hangingPunct="1">
              <a:buClr>
                <a:schemeClr val="accent1"/>
              </a:buClr>
              <a:buSzPct val="65000"/>
              <a:buFont typeface="Wingdings" panose="05000000000000000000" pitchFamily="2" charset="2"/>
              <a:buNone/>
            </a:pPr>
            <a:r>
              <a:rPr lang="en-US" altLang="ja-JP" sz="1800" dirty="0">
                <a:ea typeface="ＭＳ Ｐゴシック" panose="020B0600070205080204" pitchFamily="34" charset="-128"/>
              </a:rPr>
              <a:t>t4:	Beef, Chicken, Cheese</a:t>
            </a:r>
          </a:p>
          <a:p>
            <a:pPr lvl="1" eaLnBrk="1" hangingPunct="1">
              <a:buClr>
                <a:schemeClr val="accent1"/>
              </a:buClr>
              <a:buSzPct val="65000"/>
              <a:buFont typeface="Wingdings" panose="05000000000000000000" pitchFamily="2" charset="2"/>
              <a:buNone/>
            </a:pPr>
            <a:r>
              <a:rPr lang="en-US" altLang="ja-JP" sz="1800" dirty="0">
                <a:ea typeface="ＭＳ Ｐゴシック" panose="020B0600070205080204" pitchFamily="34" charset="-128"/>
              </a:rPr>
              <a:t>t5:	Beef, Chicken, Clothes, Cheese, Milk</a:t>
            </a:r>
          </a:p>
          <a:p>
            <a:pPr lvl="1" eaLnBrk="1" hangingPunct="1">
              <a:buClr>
                <a:schemeClr val="accent1"/>
              </a:buClr>
              <a:buSzPct val="65000"/>
              <a:buFont typeface="Wingdings" panose="05000000000000000000" pitchFamily="2" charset="2"/>
              <a:buNone/>
            </a:pPr>
            <a:r>
              <a:rPr lang="en-US" altLang="ja-JP" sz="1800" dirty="0">
                <a:ea typeface="ＭＳ Ｐゴシック" panose="020B0600070205080204" pitchFamily="34" charset="-128"/>
              </a:rPr>
              <a:t>t6:	Chicken, Clothes, Milk</a:t>
            </a:r>
          </a:p>
          <a:p>
            <a:pPr lvl="1" eaLnBrk="1" hangingPunct="1">
              <a:buClr>
                <a:schemeClr val="accent1"/>
              </a:buClr>
              <a:buSzPct val="65000"/>
              <a:buFont typeface="Wingdings" panose="05000000000000000000" pitchFamily="2" charset="2"/>
              <a:buNone/>
            </a:pPr>
            <a:r>
              <a:rPr lang="en-US" altLang="ja-JP" sz="1800" dirty="0">
                <a:ea typeface="ＭＳ Ｐゴシック" panose="020B0600070205080204" pitchFamily="34" charset="-128"/>
              </a:rPr>
              <a:t>t7:	Chicken, Milk, Clothes</a:t>
            </a:r>
            <a:endParaRPr lang="en-GB" sz="1800" dirty="0">
              <a:solidFill>
                <a:schemeClr val="accent2"/>
              </a:solidFill>
            </a:endParaRPr>
          </a:p>
        </p:txBody>
      </p:sp>
      <p:sp>
        <p:nvSpPr>
          <p:cNvPr id="15367" name="Line 5"/>
          <p:cNvSpPr>
            <a:spLocks noChangeShapeType="1"/>
          </p:cNvSpPr>
          <p:nvPr/>
        </p:nvSpPr>
        <p:spPr bwMode="auto">
          <a:xfrm flipV="1">
            <a:off x="4943476" y="1160463"/>
            <a:ext cx="900113" cy="608012"/>
          </a:xfrm>
          <a:prstGeom prst="line">
            <a:avLst/>
          </a:prstGeom>
          <a:noFill/>
          <a:ln w="19050">
            <a:solidFill>
              <a:schemeClr val="tx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368" name="Rectangle 6"/>
          <p:cNvSpPr>
            <a:spLocks noChangeArrowheads="1"/>
          </p:cNvSpPr>
          <p:nvPr/>
        </p:nvSpPr>
        <p:spPr bwMode="auto">
          <a:xfrm>
            <a:off x="6495111" y="1804408"/>
            <a:ext cx="4464050" cy="2644478"/>
          </a:xfrm>
          <a:prstGeom prst="rect">
            <a:avLst/>
          </a:prstGeom>
          <a:noFill/>
          <a:ln w="12700">
            <a:solidFill>
              <a:schemeClr val="tx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endParaRPr lang="en-IN"/>
          </a:p>
        </p:txBody>
      </p:sp>
    </p:spTree>
    <p:extLst>
      <p:ext uri="{BB962C8B-B14F-4D97-AF65-F5344CB8AC3E}">
        <p14:creationId xmlns:p14="http://schemas.microsoft.com/office/powerpoint/2010/main" val="222414063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noGrp="1" noChangeArrowheads="1"/>
          </p:cNvSpPr>
          <p:nvPr>
            <p:ph type="title" idx="4294967295"/>
          </p:nvPr>
        </p:nvSpPr>
        <p:spPr>
          <a:xfrm>
            <a:off x="1222310" y="747681"/>
            <a:ext cx="10515600" cy="1325563"/>
          </a:xfrm>
        </p:spPr>
        <p:txBody>
          <a:bodyPr/>
          <a:lstStyle/>
          <a:p>
            <a:pPr eaLnBrk="1" hangingPunct="1"/>
            <a:r>
              <a:rPr lang="en-US" b="1" dirty="0" smtClean="0">
                <a:solidFill>
                  <a:srgbClr val="FF0000"/>
                </a:solidFill>
              </a:rPr>
              <a:t>Transaction data representation</a:t>
            </a:r>
          </a:p>
        </p:txBody>
      </p:sp>
      <p:sp>
        <p:nvSpPr>
          <p:cNvPr id="16389" name="Rectangle 3"/>
          <p:cNvSpPr>
            <a:spLocks noGrp="1" noChangeArrowheads="1"/>
          </p:cNvSpPr>
          <p:nvPr>
            <p:ph type="body" idx="4294967295"/>
          </p:nvPr>
        </p:nvSpPr>
        <p:spPr>
          <a:xfrm>
            <a:off x="1035698" y="2284413"/>
            <a:ext cx="8229600" cy="4573587"/>
          </a:xfrm>
        </p:spPr>
        <p:txBody>
          <a:bodyPr/>
          <a:lstStyle/>
          <a:p>
            <a:pPr eaLnBrk="1" hangingPunct="1"/>
            <a:r>
              <a:rPr lang="en-GB" altLang="ja-JP" dirty="0" smtClean="0">
                <a:ea typeface="ＭＳ Ｐゴシック" panose="020B0600070205080204" pitchFamily="34" charset="-128"/>
              </a:rPr>
              <a:t>A simplistic view of shopping baskets, </a:t>
            </a:r>
          </a:p>
          <a:p>
            <a:pPr eaLnBrk="1" hangingPunct="1"/>
            <a:r>
              <a:rPr lang="en-GB" altLang="ja-JP" dirty="0" smtClean="0">
                <a:ea typeface="ＭＳ Ｐゴシック" panose="020B0600070205080204" pitchFamily="34" charset="-128"/>
              </a:rPr>
              <a:t>Some important information not considered. </a:t>
            </a:r>
            <a:r>
              <a:rPr lang="en-GB" altLang="ja-JP" dirty="0" err="1" smtClean="0">
                <a:ea typeface="ＭＳ Ｐゴシック" panose="020B0600070205080204" pitchFamily="34" charset="-128"/>
              </a:rPr>
              <a:t>E.g</a:t>
            </a:r>
            <a:r>
              <a:rPr lang="en-GB" altLang="ja-JP" dirty="0" smtClean="0">
                <a:ea typeface="ＭＳ Ｐゴシック" panose="020B0600070205080204" pitchFamily="34" charset="-128"/>
              </a:rPr>
              <a:t>, </a:t>
            </a:r>
          </a:p>
          <a:p>
            <a:pPr lvl="1" eaLnBrk="1" hangingPunct="1"/>
            <a:r>
              <a:rPr lang="en-GB" altLang="ja-JP" dirty="0" smtClean="0">
                <a:ea typeface="ＭＳ Ｐゴシック" panose="020B0600070205080204" pitchFamily="34" charset="-128"/>
              </a:rPr>
              <a:t>the quantity of each item purchased and </a:t>
            </a:r>
          </a:p>
          <a:p>
            <a:pPr lvl="1" eaLnBrk="1" hangingPunct="1"/>
            <a:r>
              <a:rPr lang="en-GB" altLang="ja-JP" dirty="0" smtClean="0">
                <a:ea typeface="ＭＳ Ｐゴシック" panose="020B0600070205080204" pitchFamily="34" charset="-128"/>
              </a:rPr>
              <a:t>the price paid. </a:t>
            </a:r>
            <a:endParaRPr lang="en-US" dirty="0" smtClean="0"/>
          </a:p>
        </p:txBody>
      </p:sp>
    </p:spTree>
    <p:extLst>
      <p:ext uri="{BB962C8B-B14F-4D97-AF65-F5344CB8AC3E}">
        <p14:creationId xmlns:p14="http://schemas.microsoft.com/office/powerpoint/2010/main" val="162954842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p:cNvSpPr>
            <a:spLocks noGrp="1" noChangeArrowheads="1"/>
          </p:cNvSpPr>
          <p:nvPr>
            <p:ph type="title" idx="4294967295"/>
          </p:nvPr>
        </p:nvSpPr>
        <p:spPr>
          <a:xfrm>
            <a:off x="858415" y="915632"/>
            <a:ext cx="10515600" cy="1325563"/>
          </a:xfrm>
        </p:spPr>
        <p:txBody>
          <a:bodyPr/>
          <a:lstStyle/>
          <a:p>
            <a:pPr eaLnBrk="1" hangingPunct="1"/>
            <a:r>
              <a:rPr lang="en-US" b="1" dirty="0" smtClean="0">
                <a:solidFill>
                  <a:srgbClr val="FF0000"/>
                </a:solidFill>
              </a:rPr>
              <a:t>Many mining algorithms</a:t>
            </a:r>
          </a:p>
        </p:txBody>
      </p:sp>
      <p:sp>
        <p:nvSpPr>
          <p:cNvPr id="17413" name="Rectangle 3"/>
          <p:cNvSpPr>
            <a:spLocks noGrp="1" noChangeArrowheads="1"/>
          </p:cNvSpPr>
          <p:nvPr>
            <p:ph type="body" idx="4294967295"/>
          </p:nvPr>
        </p:nvSpPr>
        <p:spPr>
          <a:xfrm>
            <a:off x="858415" y="2032000"/>
            <a:ext cx="10664890" cy="4826000"/>
          </a:xfrm>
        </p:spPr>
        <p:txBody>
          <a:bodyPr/>
          <a:lstStyle/>
          <a:p>
            <a:pPr eaLnBrk="1" hangingPunct="1"/>
            <a:r>
              <a:rPr lang="en-US" sz="3200" dirty="0">
                <a:solidFill>
                  <a:srgbClr val="FF0000"/>
                </a:solidFill>
              </a:rPr>
              <a:t>There are a large number of them!!</a:t>
            </a:r>
            <a:r>
              <a:rPr lang="en-US" sz="2600" dirty="0"/>
              <a:t> </a:t>
            </a:r>
          </a:p>
          <a:p>
            <a:pPr eaLnBrk="1" hangingPunct="1"/>
            <a:r>
              <a:rPr lang="en-US" altLang="ja-JP" sz="2600" dirty="0">
                <a:ea typeface="ＭＳ Ｐゴシック" panose="020B0600070205080204" pitchFamily="34" charset="-128"/>
              </a:rPr>
              <a:t>They use different strategies and data structures. </a:t>
            </a:r>
          </a:p>
          <a:p>
            <a:pPr eaLnBrk="1" hangingPunct="1"/>
            <a:r>
              <a:rPr lang="en-US" altLang="ja-JP" sz="2600" dirty="0">
                <a:ea typeface="ＭＳ Ｐゴシック" panose="020B0600070205080204" pitchFamily="34" charset="-128"/>
              </a:rPr>
              <a:t>Their resulting sets of rules are all the same. </a:t>
            </a:r>
          </a:p>
          <a:p>
            <a:pPr lvl="1" eaLnBrk="1" hangingPunct="1"/>
            <a:r>
              <a:rPr lang="en-US" altLang="ja-JP" sz="2200" dirty="0">
                <a:solidFill>
                  <a:srgbClr val="3333CC"/>
                </a:solidFill>
                <a:ea typeface="ＭＳ Ｐゴシック" panose="020B0600070205080204" pitchFamily="34" charset="-128"/>
              </a:rPr>
              <a:t>Given a transaction data set </a:t>
            </a:r>
            <a:r>
              <a:rPr lang="en-US" altLang="ja-JP" sz="2200" i="1" dirty="0">
                <a:solidFill>
                  <a:srgbClr val="3333CC"/>
                </a:solidFill>
                <a:ea typeface="ＭＳ Ｐゴシック" panose="020B0600070205080204" pitchFamily="34" charset="-128"/>
              </a:rPr>
              <a:t>T</a:t>
            </a:r>
            <a:r>
              <a:rPr lang="en-US" altLang="ja-JP" sz="2200" dirty="0">
                <a:solidFill>
                  <a:srgbClr val="3333CC"/>
                </a:solidFill>
                <a:ea typeface="ＭＳ Ｐゴシック" panose="020B0600070205080204" pitchFamily="34" charset="-128"/>
              </a:rPr>
              <a:t>, and a minimum support and a minimum confident, the set of association rules existing in </a:t>
            </a:r>
            <a:r>
              <a:rPr lang="en-US" altLang="ja-JP" sz="2200" i="1" dirty="0">
                <a:solidFill>
                  <a:srgbClr val="3333CC"/>
                </a:solidFill>
                <a:ea typeface="ＭＳ Ｐゴシック" panose="020B0600070205080204" pitchFamily="34" charset="-128"/>
              </a:rPr>
              <a:t>T</a:t>
            </a:r>
            <a:r>
              <a:rPr lang="en-US" altLang="ja-JP" sz="2200" dirty="0">
                <a:solidFill>
                  <a:srgbClr val="3333CC"/>
                </a:solidFill>
                <a:ea typeface="ＭＳ Ｐゴシック" panose="020B0600070205080204" pitchFamily="34" charset="-128"/>
              </a:rPr>
              <a:t> is uniquely determined.</a:t>
            </a:r>
            <a:r>
              <a:rPr lang="en-US" altLang="ja-JP" sz="2200" dirty="0">
                <a:ea typeface="ＭＳ Ｐゴシック" panose="020B0600070205080204" pitchFamily="34" charset="-128"/>
              </a:rPr>
              <a:t> </a:t>
            </a:r>
          </a:p>
          <a:p>
            <a:pPr eaLnBrk="1" hangingPunct="1"/>
            <a:r>
              <a:rPr lang="en-US" altLang="ja-JP" sz="2600" dirty="0">
                <a:ea typeface="ＭＳ Ｐゴシック" panose="020B0600070205080204" pitchFamily="34" charset="-128"/>
              </a:rPr>
              <a:t>Any algorithm should find the same set of rules although their computational efficiencies and memory requirements may be different. </a:t>
            </a:r>
          </a:p>
          <a:p>
            <a:pPr eaLnBrk="1" hangingPunct="1"/>
            <a:r>
              <a:rPr lang="en-US" sz="2600" dirty="0"/>
              <a:t>We study only one: </a:t>
            </a:r>
            <a:r>
              <a:rPr lang="en-US" sz="2600" dirty="0">
                <a:solidFill>
                  <a:srgbClr val="FF0000"/>
                </a:solidFill>
              </a:rPr>
              <a:t>the </a:t>
            </a:r>
            <a:r>
              <a:rPr lang="en-US" sz="2600" dirty="0" err="1">
                <a:solidFill>
                  <a:srgbClr val="FF0000"/>
                </a:solidFill>
              </a:rPr>
              <a:t>Apriori</a:t>
            </a:r>
            <a:r>
              <a:rPr lang="en-US" sz="2600" dirty="0">
                <a:solidFill>
                  <a:srgbClr val="FF0000"/>
                </a:solidFill>
              </a:rPr>
              <a:t> Algorithm</a:t>
            </a:r>
          </a:p>
          <a:p>
            <a:pPr eaLnBrk="1" hangingPunct="1"/>
            <a:endParaRPr lang="en-US" sz="2600" dirty="0"/>
          </a:p>
        </p:txBody>
      </p:sp>
    </p:spTree>
    <p:extLst>
      <p:ext uri="{BB962C8B-B14F-4D97-AF65-F5344CB8AC3E}">
        <p14:creationId xmlns:p14="http://schemas.microsoft.com/office/powerpoint/2010/main" val="391992349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idx="4294967295"/>
          </p:nvPr>
        </p:nvSpPr>
        <p:spPr>
          <a:xfrm>
            <a:off x="0" y="365125"/>
            <a:ext cx="10515600" cy="1325563"/>
          </a:xfrm>
        </p:spPr>
        <p:txBody>
          <a:bodyPr/>
          <a:lstStyle/>
          <a:p>
            <a:pPr eaLnBrk="1" hangingPunct="1"/>
            <a:r>
              <a:rPr lang="en-US" smtClean="0"/>
              <a:t>Road map</a:t>
            </a:r>
          </a:p>
        </p:txBody>
      </p:sp>
      <p:sp>
        <p:nvSpPr>
          <p:cNvPr id="18437" name="Rectangle 3"/>
          <p:cNvSpPr>
            <a:spLocks noGrp="1" noChangeArrowheads="1"/>
          </p:cNvSpPr>
          <p:nvPr>
            <p:ph type="body" idx="4294967295"/>
          </p:nvPr>
        </p:nvSpPr>
        <p:spPr>
          <a:xfrm>
            <a:off x="0" y="1825625"/>
            <a:ext cx="10515600" cy="4351338"/>
          </a:xfrm>
        </p:spPr>
        <p:txBody>
          <a:bodyPr/>
          <a:lstStyle/>
          <a:p>
            <a:pPr eaLnBrk="1" hangingPunct="1"/>
            <a:r>
              <a:rPr lang="en-US" smtClean="0"/>
              <a:t>Basic concepts of Association Rules</a:t>
            </a:r>
          </a:p>
          <a:p>
            <a:pPr eaLnBrk="1" hangingPunct="1"/>
            <a:r>
              <a:rPr lang="en-US" smtClean="0">
                <a:solidFill>
                  <a:srgbClr val="FF0000"/>
                </a:solidFill>
              </a:rPr>
              <a:t>Apriori algorithm</a:t>
            </a:r>
          </a:p>
          <a:p>
            <a:pPr eaLnBrk="1" hangingPunct="1"/>
            <a:r>
              <a:rPr lang="en-US" smtClean="0"/>
              <a:t>Different data formats for mining</a:t>
            </a:r>
          </a:p>
          <a:p>
            <a:pPr eaLnBrk="1" hangingPunct="1"/>
            <a:r>
              <a:rPr lang="en-US" smtClean="0"/>
              <a:t>Mining with multiple minimum supports</a:t>
            </a:r>
          </a:p>
          <a:p>
            <a:pPr eaLnBrk="1" hangingPunct="1"/>
            <a:r>
              <a:rPr lang="en-US" smtClean="0"/>
              <a:t>Mining class association rules</a:t>
            </a:r>
          </a:p>
          <a:p>
            <a:pPr eaLnBrk="1" hangingPunct="1"/>
            <a:r>
              <a:rPr lang="en-US" smtClean="0"/>
              <a:t>Sequential pattern mining</a:t>
            </a:r>
          </a:p>
          <a:p>
            <a:pPr eaLnBrk="1" hangingPunct="1"/>
            <a:r>
              <a:rPr lang="en-US" smtClean="0"/>
              <a:t>Summary</a:t>
            </a:r>
          </a:p>
          <a:p>
            <a:pPr eaLnBrk="1" hangingPunct="1"/>
            <a:endParaRPr lang="en-US" smtClean="0"/>
          </a:p>
        </p:txBody>
      </p:sp>
    </p:spTree>
    <p:extLst>
      <p:ext uri="{BB962C8B-B14F-4D97-AF65-F5344CB8AC3E}">
        <p14:creationId xmlns:p14="http://schemas.microsoft.com/office/powerpoint/2010/main" val="149533065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idx="4294967295"/>
          </p:nvPr>
        </p:nvSpPr>
        <p:spPr>
          <a:xfrm>
            <a:off x="998375" y="922338"/>
            <a:ext cx="8001000" cy="990600"/>
          </a:xfrm>
          <a:noFill/>
        </p:spPr>
        <p:txBody>
          <a:bodyPr vert="horz" lIns="92075" tIns="46038" rIns="92075" bIns="46038" rtlCol="0" anchor="ctr">
            <a:normAutofit/>
          </a:bodyPr>
          <a:lstStyle/>
          <a:p>
            <a:r>
              <a:rPr lang="en-GB" b="1" dirty="0" smtClean="0">
                <a:solidFill>
                  <a:srgbClr val="FF0000"/>
                </a:solidFill>
              </a:rPr>
              <a:t>The </a:t>
            </a:r>
            <a:r>
              <a:rPr lang="en-GB" b="1" dirty="0" err="1" smtClean="0">
                <a:solidFill>
                  <a:srgbClr val="FF0000"/>
                </a:solidFill>
              </a:rPr>
              <a:t>Apriori</a:t>
            </a:r>
            <a:r>
              <a:rPr lang="en-GB" b="1" dirty="0" smtClean="0">
                <a:solidFill>
                  <a:srgbClr val="FF0000"/>
                </a:solidFill>
              </a:rPr>
              <a:t> algorithm</a:t>
            </a:r>
            <a:r>
              <a:rPr lang="en-US" dirty="0">
                <a:solidFill>
                  <a:srgbClr val="FF0000"/>
                </a:solidFill>
              </a:rPr>
              <a:t> :</a:t>
            </a:r>
            <a:endParaRPr lang="en-GB" b="1" dirty="0" smtClean="0">
              <a:solidFill>
                <a:srgbClr val="FF0000"/>
              </a:solidFill>
            </a:endParaRPr>
          </a:p>
        </p:txBody>
      </p:sp>
      <p:sp>
        <p:nvSpPr>
          <p:cNvPr id="19461" name="Rectangle 3"/>
          <p:cNvSpPr>
            <a:spLocks noGrp="1" noChangeArrowheads="1"/>
          </p:cNvSpPr>
          <p:nvPr>
            <p:ph type="body" idx="4294967295"/>
          </p:nvPr>
        </p:nvSpPr>
        <p:spPr>
          <a:xfrm>
            <a:off x="794657" y="1969084"/>
            <a:ext cx="10719318" cy="4808537"/>
          </a:xfrm>
          <a:noFill/>
        </p:spPr>
        <p:txBody>
          <a:bodyPr vert="horz" lIns="92075" tIns="46038" rIns="92075" bIns="46038" rtlCol="0">
            <a:normAutofit/>
          </a:bodyPr>
          <a:lstStyle/>
          <a:p>
            <a:pPr eaLnBrk="1" hangingPunct="1"/>
            <a:r>
              <a:rPr lang="en-GB" b="1" dirty="0" smtClean="0">
                <a:solidFill>
                  <a:srgbClr val="FF0000"/>
                </a:solidFill>
              </a:rPr>
              <a:t>The best known algorithm</a:t>
            </a:r>
          </a:p>
          <a:p>
            <a:pPr eaLnBrk="1" hangingPunct="1"/>
            <a:r>
              <a:rPr lang="en-GB" b="1" dirty="0" smtClean="0">
                <a:solidFill>
                  <a:srgbClr val="FF0000"/>
                </a:solidFill>
              </a:rPr>
              <a:t>Two steps</a:t>
            </a:r>
            <a:r>
              <a:rPr lang="en-GB" dirty="0" smtClean="0"/>
              <a:t>:</a:t>
            </a:r>
          </a:p>
          <a:p>
            <a:pPr marL="742950" lvl="1" indent="-285750"/>
            <a:r>
              <a:rPr lang="en-GB" dirty="0" smtClean="0"/>
              <a:t>Find all </a:t>
            </a:r>
            <a:r>
              <a:rPr lang="en-GB" dirty="0" err="1" smtClean="0"/>
              <a:t>itemsets</a:t>
            </a:r>
            <a:r>
              <a:rPr lang="en-GB" dirty="0" smtClean="0"/>
              <a:t> that have minimum support (</a:t>
            </a:r>
            <a:r>
              <a:rPr lang="en-GB" i="1" dirty="0" smtClean="0">
                <a:solidFill>
                  <a:srgbClr val="FF0000"/>
                </a:solidFill>
              </a:rPr>
              <a:t>frequent </a:t>
            </a:r>
            <a:r>
              <a:rPr lang="en-GB" i="1" dirty="0" err="1" smtClean="0">
                <a:solidFill>
                  <a:srgbClr val="FF0000"/>
                </a:solidFill>
              </a:rPr>
              <a:t>itemsets</a:t>
            </a:r>
            <a:r>
              <a:rPr lang="en-GB" dirty="0" smtClean="0"/>
              <a:t>, also called large </a:t>
            </a:r>
            <a:r>
              <a:rPr lang="en-GB" dirty="0" err="1" smtClean="0"/>
              <a:t>itemsets</a:t>
            </a:r>
            <a:r>
              <a:rPr lang="en-GB" dirty="0" smtClean="0"/>
              <a:t>).</a:t>
            </a:r>
          </a:p>
          <a:p>
            <a:pPr marL="742950" lvl="1" indent="-285750"/>
            <a:r>
              <a:rPr lang="en-GB" dirty="0" smtClean="0"/>
              <a:t>Use frequent </a:t>
            </a:r>
            <a:r>
              <a:rPr lang="en-GB" dirty="0" err="1" smtClean="0"/>
              <a:t>itemsets</a:t>
            </a:r>
            <a:r>
              <a:rPr lang="en-GB" dirty="0" smtClean="0"/>
              <a:t> to </a:t>
            </a:r>
            <a:r>
              <a:rPr lang="en-GB" dirty="0" smtClean="0">
                <a:solidFill>
                  <a:srgbClr val="FF0000"/>
                </a:solidFill>
              </a:rPr>
              <a:t>generate rules</a:t>
            </a:r>
            <a:r>
              <a:rPr lang="en-GB" dirty="0" smtClean="0"/>
              <a:t>. </a:t>
            </a:r>
          </a:p>
          <a:p>
            <a:pPr marL="742950" lvl="1" indent="-285750"/>
            <a:endParaRPr lang="en-GB" dirty="0" smtClean="0"/>
          </a:p>
          <a:p>
            <a:pPr eaLnBrk="1" hangingPunct="1"/>
            <a:r>
              <a:rPr lang="en-GB" dirty="0" smtClean="0"/>
              <a:t>E.g., a frequent </a:t>
            </a:r>
            <a:r>
              <a:rPr lang="en-GB" dirty="0" err="1" smtClean="0"/>
              <a:t>itemset</a:t>
            </a:r>
            <a:endParaRPr lang="en-GB" sz="2500" dirty="0"/>
          </a:p>
          <a:p>
            <a:pPr eaLnBrk="1" hangingPunct="1">
              <a:spcBef>
                <a:spcPct val="0"/>
              </a:spcBef>
              <a:buFont typeface="Wingdings" panose="05000000000000000000" pitchFamily="2" charset="2"/>
              <a:buNone/>
            </a:pPr>
            <a:r>
              <a:rPr lang="en-GB" sz="2500" dirty="0"/>
              <a:t>		{Chicken, Clothes, Milk}       [sup = 3/7]</a:t>
            </a:r>
          </a:p>
          <a:p>
            <a:pPr eaLnBrk="1" hangingPunct="1">
              <a:spcBef>
                <a:spcPct val="0"/>
              </a:spcBef>
              <a:buFont typeface="Wingdings" panose="05000000000000000000" pitchFamily="2" charset="2"/>
              <a:buNone/>
            </a:pPr>
            <a:r>
              <a:rPr lang="en-GB" dirty="0" smtClean="0"/>
              <a:t>	and one rule from the frequent </a:t>
            </a:r>
            <a:r>
              <a:rPr lang="en-GB" dirty="0" err="1" smtClean="0"/>
              <a:t>itemset</a:t>
            </a:r>
            <a:endParaRPr lang="en-GB" dirty="0" smtClean="0"/>
          </a:p>
          <a:p>
            <a:pPr marL="742950" lvl="1" indent="-285750">
              <a:buNone/>
            </a:pPr>
            <a:r>
              <a:rPr lang="en-GB" dirty="0" smtClean="0"/>
              <a:t>		Clothes </a:t>
            </a:r>
            <a:r>
              <a:rPr lang="en-GB" dirty="0" smtClean="0">
                <a:sym typeface="Symbol" panose="05050102010706020507" pitchFamily="18" charset="2"/>
              </a:rPr>
              <a:t> </a:t>
            </a:r>
            <a:r>
              <a:rPr lang="en-GB" dirty="0" smtClean="0"/>
              <a:t>Milk, Chicken	    [sup = 3/7, </a:t>
            </a:r>
            <a:r>
              <a:rPr lang="en-GB" dirty="0" err="1" smtClean="0"/>
              <a:t>conf</a:t>
            </a:r>
            <a:r>
              <a:rPr lang="en-GB" dirty="0" smtClean="0"/>
              <a:t> = 3/3]</a:t>
            </a:r>
          </a:p>
        </p:txBody>
      </p:sp>
    </p:spTree>
    <p:extLst>
      <p:ext uri="{BB962C8B-B14F-4D97-AF65-F5344CB8AC3E}">
        <p14:creationId xmlns:p14="http://schemas.microsoft.com/office/powerpoint/2010/main" val="273034884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p:cNvSpPr>
            <a:spLocks noGrp="1" noChangeArrowheads="1"/>
          </p:cNvSpPr>
          <p:nvPr>
            <p:ph type="title" idx="4294967295"/>
          </p:nvPr>
        </p:nvSpPr>
        <p:spPr>
          <a:xfrm>
            <a:off x="0" y="296863"/>
            <a:ext cx="7793038" cy="1143000"/>
          </a:xfrm>
        </p:spPr>
        <p:txBody>
          <a:bodyPr>
            <a:normAutofit fontScale="90000"/>
          </a:bodyPr>
          <a:lstStyle/>
          <a:p>
            <a:pPr eaLnBrk="1" hangingPunct="1"/>
            <a:r>
              <a:rPr lang="en-US" smtClean="0"/>
              <a:t>Step 1: Mining all frequent itemsets</a:t>
            </a:r>
            <a:endParaRPr lang="en-US" sz="3800"/>
          </a:p>
        </p:txBody>
      </p:sp>
      <p:sp>
        <p:nvSpPr>
          <p:cNvPr id="20485" name="Rectangle 3"/>
          <p:cNvSpPr>
            <a:spLocks noGrp="1" noChangeArrowheads="1"/>
          </p:cNvSpPr>
          <p:nvPr>
            <p:ph type="body" idx="4294967295"/>
          </p:nvPr>
        </p:nvSpPr>
        <p:spPr>
          <a:xfrm>
            <a:off x="908844" y="1631951"/>
            <a:ext cx="9392152" cy="2228849"/>
          </a:xfrm>
        </p:spPr>
        <p:txBody>
          <a:bodyPr/>
          <a:lstStyle/>
          <a:p>
            <a:pPr eaLnBrk="1" hangingPunct="1"/>
            <a:r>
              <a:rPr lang="en-US" dirty="0" smtClean="0"/>
              <a:t>A </a:t>
            </a:r>
            <a:r>
              <a:rPr lang="en-US" dirty="0" smtClean="0">
                <a:solidFill>
                  <a:srgbClr val="FF0000"/>
                </a:solidFill>
              </a:rPr>
              <a:t>frequent </a:t>
            </a:r>
            <a:r>
              <a:rPr lang="en-US" i="1" dirty="0" err="1" smtClean="0">
                <a:solidFill>
                  <a:srgbClr val="FF0000"/>
                </a:solidFill>
              </a:rPr>
              <a:t>itemset</a:t>
            </a:r>
            <a:r>
              <a:rPr lang="en-US" dirty="0" smtClean="0"/>
              <a:t> is an </a:t>
            </a:r>
            <a:r>
              <a:rPr lang="en-US" dirty="0" err="1" smtClean="0"/>
              <a:t>itemset</a:t>
            </a:r>
            <a:r>
              <a:rPr lang="en-US" dirty="0" smtClean="0"/>
              <a:t> whose support  is </a:t>
            </a:r>
            <a:r>
              <a:rPr lang="en-US" dirty="0" smtClean="0">
                <a:cs typeface="Times New Roman" panose="02020603050405020304" pitchFamily="18" charset="0"/>
              </a:rPr>
              <a:t>≥</a:t>
            </a:r>
            <a:r>
              <a:rPr lang="en-US" dirty="0" smtClean="0"/>
              <a:t> </a:t>
            </a:r>
            <a:r>
              <a:rPr lang="en-US" dirty="0" err="1" smtClean="0"/>
              <a:t>minsup</a:t>
            </a:r>
            <a:r>
              <a:rPr lang="en-US" dirty="0" smtClean="0"/>
              <a:t>.</a:t>
            </a:r>
          </a:p>
          <a:p>
            <a:pPr eaLnBrk="1" hangingPunct="1"/>
            <a:r>
              <a:rPr lang="en-US" dirty="0" smtClean="0">
                <a:solidFill>
                  <a:srgbClr val="FF0000"/>
                </a:solidFill>
              </a:rPr>
              <a:t>Key idea: </a:t>
            </a:r>
            <a:r>
              <a:rPr lang="en-US" dirty="0" smtClean="0">
                <a:solidFill>
                  <a:srgbClr val="3333CC"/>
                </a:solidFill>
              </a:rPr>
              <a:t>The </a:t>
            </a:r>
            <a:r>
              <a:rPr lang="en-US" dirty="0" err="1" smtClean="0">
                <a:solidFill>
                  <a:srgbClr val="3333CC"/>
                </a:solidFill>
              </a:rPr>
              <a:t>apriori</a:t>
            </a:r>
            <a:r>
              <a:rPr lang="en-US" dirty="0" smtClean="0">
                <a:solidFill>
                  <a:srgbClr val="3333CC"/>
                </a:solidFill>
              </a:rPr>
              <a:t> property</a:t>
            </a:r>
            <a:r>
              <a:rPr lang="en-US" dirty="0" smtClean="0"/>
              <a:t> (</a:t>
            </a:r>
            <a:r>
              <a:rPr lang="en-US" dirty="0" smtClean="0">
                <a:solidFill>
                  <a:srgbClr val="3333CC"/>
                </a:solidFill>
              </a:rPr>
              <a:t>downward closure property</a:t>
            </a:r>
            <a:r>
              <a:rPr lang="en-US" dirty="0" smtClean="0"/>
              <a:t>): any subsets of a frequent </a:t>
            </a:r>
            <a:r>
              <a:rPr lang="en-US" dirty="0" err="1" smtClean="0"/>
              <a:t>itemset</a:t>
            </a:r>
            <a:r>
              <a:rPr lang="en-US" dirty="0" smtClean="0"/>
              <a:t> are also frequent </a:t>
            </a:r>
            <a:r>
              <a:rPr lang="en-US" dirty="0" err="1" smtClean="0"/>
              <a:t>itemsets</a:t>
            </a:r>
            <a:endParaRPr lang="en-US" dirty="0" smtClean="0"/>
          </a:p>
        </p:txBody>
      </p:sp>
      <p:sp>
        <p:nvSpPr>
          <p:cNvPr id="20486" name="Text Box 4"/>
          <p:cNvSpPr txBox="1">
            <a:spLocks noChangeArrowheads="1"/>
          </p:cNvSpPr>
          <p:nvPr/>
        </p:nvSpPr>
        <p:spPr bwMode="auto">
          <a:xfrm>
            <a:off x="3786188" y="4851401"/>
            <a:ext cx="4038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50000"/>
              </a:spcBef>
              <a:buClrTx/>
              <a:buSzTx/>
              <a:buFontTx/>
              <a:buNone/>
            </a:pPr>
            <a:r>
              <a:rPr lang="en-US" sz="2000" dirty="0">
                <a:latin typeface="Times New Roman" panose="02020603050405020304" pitchFamily="18" charset="0"/>
              </a:rPr>
              <a:t>AB     AC    AD     BC    BD    CD</a:t>
            </a:r>
          </a:p>
        </p:txBody>
      </p:sp>
      <p:sp>
        <p:nvSpPr>
          <p:cNvPr id="20487" name="Rectangle 5"/>
          <p:cNvSpPr>
            <a:spLocks noChangeArrowheads="1"/>
          </p:cNvSpPr>
          <p:nvPr/>
        </p:nvSpPr>
        <p:spPr bwMode="auto">
          <a:xfrm>
            <a:off x="3862389" y="5765801"/>
            <a:ext cx="34956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sz="2000" dirty="0">
                <a:latin typeface="Times New Roman" panose="02020603050405020304" pitchFamily="18" charset="0"/>
              </a:rPr>
              <a:t>A          B                  C             D</a:t>
            </a:r>
          </a:p>
        </p:txBody>
      </p:sp>
      <p:sp>
        <p:nvSpPr>
          <p:cNvPr id="20488" name="Rectangle 6"/>
          <p:cNvSpPr>
            <a:spLocks noChangeArrowheads="1"/>
          </p:cNvSpPr>
          <p:nvPr/>
        </p:nvSpPr>
        <p:spPr bwMode="auto">
          <a:xfrm>
            <a:off x="3786189" y="3860801"/>
            <a:ext cx="3768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50000"/>
              </a:spcBef>
              <a:buClrTx/>
              <a:buSzTx/>
              <a:buFontTx/>
              <a:buNone/>
            </a:pPr>
            <a:r>
              <a:rPr lang="en-US" sz="2000" dirty="0">
                <a:latin typeface="Times New Roman" panose="02020603050405020304" pitchFamily="18" charset="0"/>
              </a:rPr>
              <a:t>ABC        ABD       ACD        BCD</a:t>
            </a:r>
          </a:p>
        </p:txBody>
      </p:sp>
      <p:sp>
        <p:nvSpPr>
          <p:cNvPr id="20489" name="Line 7"/>
          <p:cNvSpPr>
            <a:spLocks noChangeShapeType="1"/>
          </p:cNvSpPr>
          <p:nvPr/>
        </p:nvSpPr>
        <p:spPr bwMode="auto">
          <a:xfrm flipH="1">
            <a:off x="4167188" y="4241800"/>
            <a:ext cx="9906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490" name="Line 8"/>
          <p:cNvSpPr>
            <a:spLocks noChangeShapeType="1"/>
          </p:cNvSpPr>
          <p:nvPr/>
        </p:nvSpPr>
        <p:spPr bwMode="auto">
          <a:xfrm>
            <a:off x="5157788" y="4241800"/>
            <a:ext cx="2286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491" name="Line 9"/>
          <p:cNvSpPr>
            <a:spLocks noChangeShapeType="1"/>
          </p:cNvSpPr>
          <p:nvPr/>
        </p:nvSpPr>
        <p:spPr bwMode="auto">
          <a:xfrm>
            <a:off x="5157788" y="4241800"/>
            <a:ext cx="1447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492" name="Line 10"/>
          <p:cNvSpPr>
            <a:spLocks noChangeShapeType="1"/>
          </p:cNvSpPr>
          <p:nvPr/>
        </p:nvSpPr>
        <p:spPr bwMode="auto">
          <a:xfrm flipV="1">
            <a:off x="4014788" y="5232400"/>
            <a:ext cx="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493" name="Line 11"/>
          <p:cNvSpPr>
            <a:spLocks noChangeShapeType="1"/>
          </p:cNvSpPr>
          <p:nvPr/>
        </p:nvSpPr>
        <p:spPr bwMode="auto">
          <a:xfrm>
            <a:off x="4014788" y="5232400"/>
            <a:ext cx="838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494" name="Line 12"/>
          <p:cNvSpPr>
            <a:spLocks noChangeShapeType="1"/>
          </p:cNvSpPr>
          <p:nvPr/>
        </p:nvSpPr>
        <p:spPr bwMode="auto">
          <a:xfrm flipH="1">
            <a:off x="4014788" y="5232400"/>
            <a:ext cx="13716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495" name="Line 13"/>
          <p:cNvSpPr>
            <a:spLocks noChangeShapeType="1"/>
          </p:cNvSpPr>
          <p:nvPr/>
        </p:nvSpPr>
        <p:spPr bwMode="auto">
          <a:xfrm>
            <a:off x="5386388" y="5232400"/>
            <a:ext cx="17526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496" name="Line 14"/>
          <p:cNvSpPr>
            <a:spLocks noChangeShapeType="1"/>
          </p:cNvSpPr>
          <p:nvPr/>
        </p:nvSpPr>
        <p:spPr bwMode="auto">
          <a:xfrm flipH="1">
            <a:off x="4852988" y="5232400"/>
            <a:ext cx="1828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497" name="Line 15"/>
          <p:cNvSpPr>
            <a:spLocks noChangeShapeType="1"/>
          </p:cNvSpPr>
          <p:nvPr/>
        </p:nvSpPr>
        <p:spPr bwMode="auto">
          <a:xfrm>
            <a:off x="6681788" y="5232400"/>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Tree>
    <p:extLst>
      <p:ext uri="{BB962C8B-B14F-4D97-AF65-F5344CB8AC3E}">
        <p14:creationId xmlns:p14="http://schemas.microsoft.com/office/powerpoint/2010/main" val="356370571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p:cNvSpPr>
            <a:spLocks noGrp="1" noChangeArrowheads="1"/>
          </p:cNvSpPr>
          <p:nvPr>
            <p:ph type="title" idx="4294967295"/>
          </p:nvPr>
        </p:nvSpPr>
        <p:spPr>
          <a:xfrm>
            <a:off x="1073020" y="716740"/>
            <a:ext cx="7875037" cy="1143000"/>
          </a:xfrm>
        </p:spPr>
        <p:txBody>
          <a:bodyPr/>
          <a:lstStyle/>
          <a:p>
            <a:pPr eaLnBrk="1" hangingPunct="1"/>
            <a:r>
              <a:rPr lang="en-GB" b="1" dirty="0" smtClean="0">
                <a:solidFill>
                  <a:srgbClr val="FF0000"/>
                </a:solidFill>
              </a:rPr>
              <a:t>The Algorithm</a:t>
            </a:r>
          </a:p>
        </p:txBody>
      </p:sp>
      <p:sp>
        <p:nvSpPr>
          <p:cNvPr id="21509" name="Rectangle 3"/>
          <p:cNvSpPr>
            <a:spLocks noGrp="1" noChangeArrowheads="1"/>
          </p:cNvSpPr>
          <p:nvPr>
            <p:ph type="body" idx="4294967295"/>
          </p:nvPr>
        </p:nvSpPr>
        <p:spPr>
          <a:xfrm>
            <a:off x="914399" y="1859740"/>
            <a:ext cx="10282335" cy="5216525"/>
          </a:xfrm>
        </p:spPr>
        <p:txBody>
          <a:bodyPr/>
          <a:lstStyle/>
          <a:p>
            <a:pPr eaLnBrk="1" hangingPunct="1">
              <a:lnSpc>
                <a:spcPct val="90000"/>
              </a:lnSpc>
            </a:pPr>
            <a:r>
              <a:rPr lang="en-GB" dirty="0" smtClean="0">
                <a:solidFill>
                  <a:srgbClr val="FF0000"/>
                </a:solidFill>
              </a:rPr>
              <a:t>Iterative </a:t>
            </a:r>
            <a:r>
              <a:rPr lang="en-GB" dirty="0" err="1" smtClean="0">
                <a:solidFill>
                  <a:srgbClr val="FF0000"/>
                </a:solidFill>
              </a:rPr>
              <a:t>algo</a:t>
            </a:r>
            <a:r>
              <a:rPr lang="en-GB" dirty="0" smtClean="0">
                <a:solidFill>
                  <a:srgbClr val="FF0000"/>
                </a:solidFill>
              </a:rPr>
              <a:t>. </a:t>
            </a:r>
            <a:r>
              <a:rPr lang="en-GB" dirty="0" smtClean="0">
                <a:solidFill>
                  <a:srgbClr val="3333CC"/>
                </a:solidFill>
              </a:rPr>
              <a:t>(</a:t>
            </a:r>
            <a:r>
              <a:rPr lang="en-GB" dirty="0" smtClean="0"/>
              <a:t>also called</a:t>
            </a:r>
            <a:r>
              <a:rPr lang="en-GB" dirty="0" smtClean="0">
                <a:solidFill>
                  <a:srgbClr val="3333CC"/>
                </a:solidFill>
              </a:rPr>
              <a:t> level-wise search):</a:t>
            </a:r>
            <a:r>
              <a:rPr lang="en-GB" dirty="0" smtClean="0"/>
              <a:t>  </a:t>
            </a:r>
            <a:r>
              <a:rPr lang="en-GB" sz="2600" dirty="0"/>
              <a:t>Find all 1-item frequent </a:t>
            </a:r>
            <a:r>
              <a:rPr lang="en-GB" sz="2600" dirty="0" err="1"/>
              <a:t>itemsets</a:t>
            </a:r>
            <a:r>
              <a:rPr lang="en-GB" sz="2600" dirty="0"/>
              <a:t>; then all 2-item frequent </a:t>
            </a:r>
            <a:r>
              <a:rPr lang="en-GB" sz="2600" dirty="0" err="1"/>
              <a:t>itemsets</a:t>
            </a:r>
            <a:r>
              <a:rPr lang="en-GB" sz="2600" dirty="0"/>
              <a:t>, and so on.</a:t>
            </a:r>
          </a:p>
          <a:p>
            <a:pPr marL="742950" lvl="1" indent="-285750">
              <a:spcAft>
                <a:spcPct val="30000"/>
              </a:spcAft>
            </a:pPr>
            <a:r>
              <a:rPr lang="en-GB" dirty="0" smtClean="0"/>
              <a:t>In each iteration </a:t>
            </a:r>
            <a:r>
              <a:rPr lang="en-GB" i="1" dirty="0" smtClean="0"/>
              <a:t>k</a:t>
            </a:r>
            <a:r>
              <a:rPr lang="en-GB" dirty="0" smtClean="0"/>
              <a:t>, only consider </a:t>
            </a:r>
            <a:r>
              <a:rPr lang="en-GB" dirty="0" err="1" smtClean="0"/>
              <a:t>itemsets</a:t>
            </a:r>
            <a:r>
              <a:rPr lang="en-GB" dirty="0" smtClean="0"/>
              <a:t> that contain some </a:t>
            </a:r>
            <a:r>
              <a:rPr lang="en-GB" i="1" dirty="0" smtClean="0"/>
              <a:t>k-</a:t>
            </a:r>
            <a:r>
              <a:rPr lang="en-GB" dirty="0" smtClean="0"/>
              <a:t>1 frequent </a:t>
            </a:r>
            <a:r>
              <a:rPr lang="en-GB" dirty="0" err="1" smtClean="0"/>
              <a:t>itemset</a:t>
            </a:r>
            <a:r>
              <a:rPr lang="en-GB" dirty="0" smtClean="0"/>
              <a:t>. </a:t>
            </a:r>
          </a:p>
          <a:p>
            <a:pPr eaLnBrk="1" hangingPunct="1">
              <a:lnSpc>
                <a:spcPct val="90000"/>
              </a:lnSpc>
            </a:pPr>
            <a:r>
              <a:rPr lang="en-US" dirty="0" smtClean="0"/>
              <a:t>Find frequent </a:t>
            </a:r>
            <a:r>
              <a:rPr lang="en-US" dirty="0" err="1" smtClean="0"/>
              <a:t>itemsets</a:t>
            </a:r>
            <a:r>
              <a:rPr lang="en-US" dirty="0" smtClean="0"/>
              <a:t> of size 1: </a:t>
            </a:r>
            <a:r>
              <a:rPr lang="en-US" i="1" dirty="0" smtClean="0">
                <a:solidFill>
                  <a:srgbClr val="FF0000"/>
                </a:solidFill>
              </a:rPr>
              <a:t>F</a:t>
            </a:r>
            <a:r>
              <a:rPr lang="en-US" baseline="-25000" dirty="0" smtClean="0">
                <a:solidFill>
                  <a:srgbClr val="FF0000"/>
                </a:solidFill>
              </a:rPr>
              <a:t>1</a:t>
            </a:r>
            <a:endParaRPr lang="en-US" dirty="0" smtClean="0">
              <a:solidFill>
                <a:srgbClr val="FF0000"/>
              </a:solidFill>
            </a:endParaRPr>
          </a:p>
          <a:p>
            <a:pPr eaLnBrk="1" hangingPunct="1">
              <a:lnSpc>
                <a:spcPct val="90000"/>
              </a:lnSpc>
            </a:pPr>
            <a:r>
              <a:rPr lang="en-US" dirty="0" smtClean="0">
                <a:solidFill>
                  <a:srgbClr val="FF0000"/>
                </a:solidFill>
              </a:rPr>
              <a:t>From </a:t>
            </a:r>
            <a:r>
              <a:rPr lang="en-US" i="1" dirty="0" smtClean="0">
                <a:solidFill>
                  <a:srgbClr val="FF0000"/>
                </a:solidFill>
              </a:rPr>
              <a:t>k</a:t>
            </a:r>
            <a:r>
              <a:rPr lang="en-US" dirty="0" smtClean="0">
                <a:solidFill>
                  <a:srgbClr val="FF0000"/>
                </a:solidFill>
              </a:rPr>
              <a:t> = 2</a:t>
            </a:r>
          </a:p>
          <a:p>
            <a:pPr marL="742950" lvl="1" indent="-285750">
              <a:spcBef>
                <a:spcPct val="0"/>
              </a:spcBef>
            </a:pPr>
            <a:r>
              <a:rPr lang="en-US" i="1" dirty="0" err="1" smtClean="0">
                <a:solidFill>
                  <a:srgbClr val="FF0000"/>
                </a:solidFill>
              </a:rPr>
              <a:t>C</a:t>
            </a:r>
            <a:r>
              <a:rPr lang="en-US" sz="3000" i="1" baseline="-25000" dirty="0" err="1">
                <a:solidFill>
                  <a:srgbClr val="FF0000"/>
                </a:solidFill>
              </a:rPr>
              <a:t>k</a:t>
            </a:r>
            <a:r>
              <a:rPr lang="en-US" dirty="0" smtClean="0">
                <a:solidFill>
                  <a:schemeClr val="hlink"/>
                </a:solidFill>
              </a:rPr>
              <a:t> </a:t>
            </a:r>
            <a:r>
              <a:rPr lang="en-US" dirty="0" smtClean="0"/>
              <a:t>= candidates of size </a:t>
            </a:r>
            <a:r>
              <a:rPr lang="en-US" i="1" dirty="0" smtClean="0"/>
              <a:t>k</a:t>
            </a:r>
            <a:r>
              <a:rPr lang="en-US" dirty="0" smtClean="0"/>
              <a:t>: those </a:t>
            </a:r>
            <a:r>
              <a:rPr lang="en-US" dirty="0" err="1" smtClean="0"/>
              <a:t>itemsets</a:t>
            </a:r>
            <a:r>
              <a:rPr lang="en-US" dirty="0" smtClean="0"/>
              <a:t> of size </a:t>
            </a:r>
            <a:r>
              <a:rPr lang="en-US" i="1" dirty="0" smtClean="0"/>
              <a:t>k</a:t>
            </a:r>
            <a:r>
              <a:rPr lang="en-US" dirty="0" smtClean="0"/>
              <a:t> that could be frequent, given </a:t>
            </a:r>
            <a:r>
              <a:rPr lang="en-US" i="1" dirty="0" smtClean="0">
                <a:solidFill>
                  <a:srgbClr val="FF0000"/>
                </a:solidFill>
              </a:rPr>
              <a:t>F</a:t>
            </a:r>
            <a:r>
              <a:rPr lang="en-US" sz="3000" i="1" baseline="-25000" dirty="0">
                <a:solidFill>
                  <a:srgbClr val="FF0000"/>
                </a:solidFill>
              </a:rPr>
              <a:t>k</a:t>
            </a:r>
            <a:r>
              <a:rPr lang="en-US" sz="3000" baseline="-25000" dirty="0">
                <a:solidFill>
                  <a:srgbClr val="FF0000"/>
                </a:solidFill>
              </a:rPr>
              <a:t>-1</a:t>
            </a:r>
            <a:endParaRPr lang="en-US" dirty="0" smtClean="0">
              <a:solidFill>
                <a:srgbClr val="FF0000"/>
              </a:solidFill>
            </a:endParaRPr>
          </a:p>
          <a:p>
            <a:pPr marL="742950" lvl="1" indent="-285750"/>
            <a:r>
              <a:rPr lang="en-US" i="1" dirty="0" err="1" smtClean="0">
                <a:solidFill>
                  <a:srgbClr val="FF0000"/>
                </a:solidFill>
              </a:rPr>
              <a:t>F</a:t>
            </a:r>
            <a:r>
              <a:rPr lang="en-US" sz="3000" i="1" baseline="-25000" dirty="0" err="1">
                <a:solidFill>
                  <a:srgbClr val="FF0000"/>
                </a:solidFill>
              </a:rPr>
              <a:t>k</a:t>
            </a:r>
            <a:r>
              <a:rPr lang="en-US" dirty="0" smtClean="0">
                <a:solidFill>
                  <a:schemeClr val="hlink"/>
                </a:solidFill>
              </a:rPr>
              <a:t> </a:t>
            </a:r>
            <a:r>
              <a:rPr lang="en-US" dirty="0" smtClean="0"/>
              <a:t>= those </a:t>
            </a:r>
            <a:r>
              <a:rPr lang="en-US" dirty="0" err="1" smtClean="0"/>
              <a:t>itemsets</a:t>
            </a:r>
            <a:r>
              <a:rPr lang="en-US" dirty="0" smtClean="0"/>
              <a:t> that are actually frequent, </a:t>
            </a:r>
            <a:r>
              <a:rPr lang="en-US" i="1" dirty="0" err="1" smtClean="0">
                <a:solidFill>
                  <a:srgbClr val="FF0000"/>
                </a:solidFill>
              </a:rPr>
              <a:t>F</a:t>
            </a:r>
            <a:r>
              <a:rPr lang="en-US" sz="3000" i="1" baseline="-25000" dirty="0" err="1">
                <a:solidFill>
                  <a:srgbClr val="FF0000"/>
                </a:solidFill>
              </a:rPr>
              <a:t>k</a:t>
            </a:r>
            <a:r>
              <a:rPr lang="en-US" sz="3000" i="1" baseline="-25000" dirty="0">
                <a:solidFill>
                  <a:schemeClr val="hlink"/>
                </a:solidFill>
              </a:rPr>
              <a:t> </a:t>
            </a:r>
            <a:r>
              <a:rPr lang="en-US" sz="3000" dirty="0">
                <a:solidFill>
                  <a:srgbClr val="FF0000"/>
                </a:solidFill>
                <a:sym typeface="Symbol" panose="05050102010706020507" pitchFamily="18" charset="2"/>
              </a:rPr>
              <a:t> </a:t>
            </a:r>
            <a:r>
              <a:rPr lang="en-US" i="1" dirty="0" err="1" smtClean="0">
                <a:solidFill>
                  <a:srgbClr val="FF0000"/>
                </a:solidFill>
              </a:rPr>
              <a:t>C</a:t>
            </a:r>
            <a:r>
              <a:rPr lang="en-US" sz="3000" i="1" baseline="-25000" dirty="0" err="1">
                <a:solidFill>
                  <a:srgbClr val="FF0000"/>
                </a:solidFill>
              </a:rPr>
              <a:t>k</a:t>
            </a:r>
            <a:r>
              <a:rPr lang="en-US" sz="3000" i="1" baseline="-25000" dirty="0">
                <a:solidFill>
                  <a:schemeClr val="accent2"/>
                </a:solidFill>
              </a:rPr>
              <a:t> </a:t>
            </a:r>
            <a:r>
              <a:rPr lang="en-US" dirty="0" smtClean="0"/>
              <a:t>(need to scan the database once)</a:t>
            </a:r>
            <a:r>
              <a:rPr lang="en-GB" dirty="0" smtClean="0"/>
              <a:t>. </a:t>
            </a:r>
          </a:p>
        </p:txBody>
      </p:sp>
    </p:spTree>
    <p:extLst>
      <p:ext uri="{BB962C8B-B14F-4D97-AF65-F5344CB8AC3E}">
        <p14:creationId xmlns:p14="http://schemas.microsoft.com/office/powerpoint/2010/main" val="423471188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p:cNvSpPr>
            <a:spLocks noGrp="1" noChangeArrowheads="1"/>
          </p:cNvSpPr>
          <p:nvPr>
            <p:ph type="title" idx="4294967295"/>
          </p:nvPr>
        </p:nvSpPr>
        <p:spPr>
          <a:xfrm>
            <a:off x="550150" y="1280968"/>
            <a:ext cx="7877175" cy="1143000"/>
          </a:xfrm>
        </p:spPr>
        <p:txBody>
          <a:bodyPr/>
          <a:lstStyle/>
          <a:p>
            <a:pPr eaLnBrk="1" hangingPunct="1"/>
            <a:r>
              <a:rPr lang="en-US" sz="3800" dirty="0"/>
              <a:t>Example – </a:t>
            </a:r>
            <a:br>
              <a:rPr lang="en-US" sz="3800" dirty="0"/>
            </a:br>
            <a:r>
              <a:rPr lang="en-US" sz="3800" b="1" dirty="0">
                <a:solidFill>
                  <a:srgbClr val="FF0000"/>
                </a:solidFill>
              </a:rPr>
              <a:t>Finding frequent </a:t>
            </a:r>
            <a:r>
              <a:rPr lang="en-US" sz="3800" b="1" dirty="0" err="1">
                <a:solidFill>
                  <a:srgbClr val="FF0000"/>
                </a:solidFill>
              </a:rPr>
              <a:t>itemsets</a:t>
            </a:r>
            <a:endParaRPr lang="en-US" sz="3800" b="1" dirty="0">
              <a:solidFill>
                <a:srgbClr val="FF0000"/>
              </a:solidFill>
            </a:endParaRPr>
          </a:p>
        </p:txBody>
      </p:sp>
      <p:sp>
        <p:nvSpPr>
          <p:cNvPr id="23557" name="Rectangle 3"/>
          <p:cNvSpPr>
            <a:spLocks noChangeArrowheads="1"/>
          </p:cNvSpPr>
          <p:nvPr/>
        </p:nvSpPr>
        <p:spPr bwMode="auto">
          <a:xfrm>
            <a:off x="8596604" y="1460241"/>
            <a:ext cx="20574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sz="2600" dirty="0"/>
              <a:t>Dataset T</a:t>
            </a:r>
          </a:p>
          <a:p>
            <a:pPr eaLnBrk="1" hangingPunct="1">
              <a:buFont typeface="Wingdings" panose="05000000000000000000" pitchFamily="2" charset="2"/>
              <a:buNone/>
            </a:pPr>
            <a:r>
              <a:rPr lang="en-US" sz="2600" dirty="0"/>
              <a:t>	</a:t>
            </a:r>
          </a:p>
        </p:txBody>
      </p:sp>
      <p:graphicFrame>
        <p:nvGraphicFramePr>
          <p:cNvPr id="655364" name="Group 4"/>
          <p:cNvGraphicFramePr>
            <a:graphicFrameLocks noGrp="1"/>
          </p:cNvGraphicFramePr>
          <p:nvPr>
            <p:extLst>
              <p:ext uri="{D42A27DB-BD31-4B8C-83A1-F6EECF244321}">
                <p14:modId xmlns:p14="http://schemas.microsoft.com/office/powerpoint/2010/main" val="524353934"/>
              </p:ext>
            </p:extLst>
          </p:nvPr>
        </p:nvGraphicFramePr>
        <p:xfrm>
          <a:off x="8614165" y="2168640"/>
          <a:ext cx="2449286" cy="2013183"/>
        </p:xfrm>
        <a:graphic>
          <a:graphicData uri="http://schemas.openxmlformats.org/drawingml/2006/table">
            <a:tbl>
              <a:tblPr/>
              <a:tblGrid>
                <a:gridCol w="822325"/>
                <a:gridCol w="1626961"/>
              </a:tblGrid>
              <a:tr h="396136">
                <a:tc>
                  <a:txBody>
                    <a:bodyPr/>
                    <a:lstStyle>
                      <a:lvl1pPr>
                        <a:defRPr sz="2600">
                          <a:solidFill>
                            <a:schemeClr val="tx1"/>
                          </a:solidFill>
                          <a:latin typeface="Arial" panose="020B0604020202020204" pitchFamily="34" charset="0"/>
                        </a:defRPr>
                      </a:lvl1pPr>
                      <a:lvl2pPr>
                        <a:buClr>
                          <a:schemeClr val="accent2"/>
                        </a:buClr>
                        <a:buSzPct val="60000"/>
                        <a:defRPr sz="2200">
                          <a:solidFill>
                            <a:schemeClr val="tx1"/>
                          </a:solidFill>
                          <a:latin typeface="Arial" panose="020B0604020202020204" pitchFamily="34" charset="0"/>
                        </a:defRPr>
                      </a:lvl2pPr>
                      <a:lvl3pPr>
                        <a:defRPr sz="2000">
                          <a:solidFill>
                            <a:schemeClr val="tx1"/>
                          </a:solidFill>
                          <a:latin typeface="Arial" panose="020B0604020202020204" pitchFamily="34" charset="0"/>
                        </a:defRPr>
                      </a:lvl3pPr>
                      <a:lvl4pPr>
                        <a:buClr>
                          <a:schemeClr val="accent2"/>
                        </a:buClr>
                        <a:buSzPct val="70000"/>
                        <a:defRPr>
                          <a:solidFill>
                            <a:schemeClr val="tx1"/>
                          </a:solidFill>
                          <a:latin typeface="Arial" panose="020B0604020202020204" pitchFamily="34" charset="0"/>
                        </a:defRPr>
                      </a:lvl4pPr>
                      <a:lvl5pPr>
                        <a:buSzPct val="75000"/>
                        <a:defRPr>
                          <a:solidFill>
                            <a:schemeClr val="tx1"/>
                          </a:solidFill>
                          <a:latin typeface="Arial" panose="020B0604020202020204" pitchFamily="34" charset="0"/>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sz="2000" b="0" i="0" u="none" strike="noStrike" cap="none" normalizeH="0" baseline="0" smtClean="0">
                          <a:ln>
                            <a:noFill/>
                          </a:ln>
                          <a:solidFill>
                            <a:schemeClr val="tx1"/>
                          </a:solidFill>
                          <a:effectLst/>
                          <a:latin typeface="Arial" panose="020B0604020202020204" pitchFamily="34" charset="0"/>
                        </a:rPr>
                        <a:t>TID</a:t>
                      </a:r>
                    </a:p>
                  </a:txBody>
                  <a:tcPr marT="45697" marB="456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600">
                          <a:solidFill>
                            <a:schemeClr val="tx1"/>
                          </a:solidFill>
                          <a:latin typeface="Arial" panose="020B0604020202020204" pitchFamily="34" charset="0"/>
                        </a:defRPr>
                      </a:lvl1pPr>
                      <a:lvl2pPr>
                        <a:buClr>
                          <a:schemeClr val="accent2"/>
                        </a:buClr>
                        <a:buSzPct val="60000"/>
                        <a:defRPr sz="2200">
                          <a:solidFill>
                            <a:schemeClr val="tx1"/>
                          </a:solidFill>
                          <a:latin typeface="Arial" panose="020B0604020202020204" pitchFamily="34" charset="0"/>
                        </a:defRPr>
                      </a:lvl2pPr>
                      <a:lvl3pPr>
                        <a:defRPr sz="2000">
                          <a:solidFill>
                            <a:schemeClr val="tx1"/>
                          </a:solidFill>
                          <a:latin typeface="Arial" panose="020B0604020202020204" pitchFamily="34" charset="0"/>
                        </a:defRPr>
                      </a:lvl3pPr>
                      <a:lvl4pPr>
                        <a:buClr>
                          <a:schemeClr val="accent2"/>
                        </a:buClr>
                        <a:buSzPct val="70000"/>
                        <a:defRPr>
                          <a:solidFill>
                            <a:schemeClr val="tx1"/>
                          </a:solidFill>
                          <a:latin typeface="Arial" panose="020B0604020202020204" pitchFamily="34" charset="0"/>
                        </a:defRPr>
                      </a:lvl4pPr>
                      <a:lvl5pPr>
                        <a:buSzPct val="75000"/>
                        <a:defRPr>
                          <a:solidFill>
                            <a:schemeClr val="tx1"/>
                          </a:solidFill>
                          <a:latin typeface="Arial" panose="020B0604020202020204" pitchFamily="34" charset="0"/>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sz="2000" b="0" i="0" u="none" strike="noStrike" cap="none" normalizeH="0" baseline="0" smtClean="0">
                          <a:ln>
                            <a:noFill/>
                          </a:ln>
                          <a:solidFill>
                            <a:schemeClr val="tx1"/>
                          </a:solidFill>
                          <a:effectLst/>
                          <a:latin typeface="Arial" panose="020B0604020202020204" pitchFamily="34" charset="0"/>
                        </a:rPr>
                        <a:t>Items</a:t>
                      </a:r>
                    </a:p>
                  </a:txBody>
                  <a:tcPr marT="45697" marB="456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136">
                <a:tc>
                  <a:txBody>
                    <a:bodyPr/>
                    <a:lstStyle>
                      <a:lvl1pPr>
                        <a:defRPr sz="2600">
                          <a:solidFill>
                            <a:schemeClr val="tx1"/>
                          </a:solidFill>
                          <a:latin typeface="Arial" panose="020B0604020202020204" pitchFamily="34" charset="0"/>
                        </a:defRPr>
                      </a:lvl1pPr>
                      <a:lvl2pPr>
                        <a:buClr>
                          <a:schemeClr val="accent2"/>
                        </a:buClr>
                        <a:buSzPct val="60000"/>
                        <a:defRPr sz="2200">
                          <a:solidFill>
                            <a:schemeClr val="tx1"/>
                          </a:solidFill>
                          <a:latin typeface="Arial" panose="020B0604020202020204" pitchFamily="34" charset="0"/>
                        </a:defRPr>
                      </a:lvl2pPr>
                      <a:lvl3pPr>
                        <a:defRPr sz="2000">
                          <a:solidFill>
                            <a:schemeClr val="tx1"/>
                          </a:solidFill>
                          <a:latin typeface="Arial" panose="020B0604020202020204" pitchFamily="34" charset="0"/>
                        </a:defRPr>
                      </a:lvl3pPr>
                      <a:lvl4pPr>
                        <a:buClr>
                          <a:schemeClr val="accent2"/>
                        </a:buClr>
                        <a:buSzPct val="70000"/>
                        <a:defRPr>
                          <a:solidFill>
                            <a:schemeClr val="tx1"/>
                          </a:solidFill>
                          <a:latin typeface="Arial" panose="020B0604020202020204" pitchFamily="34" charset="0"/>
                        </a:defRPr>
                      </a:lvl4pPr>
                      <a:lvl5pPr>
                        <a:buSzPct val="75000"/>
                        <a:defRPr>
                          <a:solidFill>
                            <a:schemeClr val="tx1"/>
                          </a:solidFill>
                          <a:latin typeface="Arial" panose="020B0604020202020204" pitchFamily="34" charset="0"/>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sz="2000" b="0" i="0" u="none" strike="noStrike" cap="none" normalizeH="0" baseline="0" smtClean="0">
                          <a:ln>
                            <a:noFill/>
                          </a:ln>
                          <a:solidFill>
                            <a:schemeClr val="tx1"/>
                          </a:solidFill>
                          <a:effectLst/>
                          <a:latin typeface="Arial" panose="020B0604020202020204" pitchFamily="34" charset="0"/>
                        </a:rPr>
                        <a:t>T100</a:t>
                      </a:r>
                    </a:p>
                  </a:txBody>
                  <a:tcPr marT="45697" marB="456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600">
                          <a:solidFill>
                            <a:schemeClr val="tx1"/>
                          </a:solidFill>
                          <a:latin typeface="Arial" panose="020B0604020202020204" pitchFamily="34" charset="0"/>
                        </a:defRPr>
                      </a:lvl1pPr>
                      <a:lvl2pPr>
                        <a:buClr>
                          <a:schemeClr val="accent2"/>
                        </a:buClr>
                        <a:buSzPct val="60000"/>
                        <a:defRPr sz="2200">
                          <a:solidFill>
                            <a:schemeClr val="tx1"/>
                          </a:solidFill>
                          <a:latin typeface="Arial" panose="020B0604020202020204" pitchFamily="34" charset="0"/>
                        </a:defRPr>
                      </a:lvl2pPr>
                      <a:lvl3pPr>
                        <a:defRPr sz="2000">
                          <a:solidFill>
                            <a:schemeClr val="tx1"/>
                          </a:solidFill>
                          <a:latin typeface="Arial" panose="020B0604020202020204" pitchFamily="34" charset="0"/>
                        </a:defRPr>
                      </a:lvl3pPr>
                      <a:lvl4pPr>
                        <a:buClr>
                          <a:schemeClr val="accent2"/>
                        </a:buClr>
                        <a:buSzPct val="70000"/>
                        <a:defRPr>
                          <a:solidFill>
                            <a:schemeClr val="tx1"/>
                          </a:solidFill>
                          <a:latin typeface="Arial" panose="020B0604020202020204" pitchFamily="34" charset="0"/>
                        </a:defRPr>
                      </a:lvl4pPr>
                      <a:lvl5pPr>
                        <a:buSzPct val="75000"/>
                        <a:defRPr>
                          <a:solidFill>
                            <a:schemeClr val="tx1"/>
                          </a:solidFill>
                          <a:latin typeface="Arial" panose="020B0604020202020204" pitchFamily="34" charset="0"/>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sz="2000" b="0" i="0" u="none" strike="noStrike" cap="none" normalizeH="0" baseline="0" smtClean="0">
                          <a:ln>
                            <a:noFill/>
                          </a:ln>
                          <a:solidFill>
                            <a:schemeClr val="tx1"/>
                          </a:solidFill>
                          <a:effectLst/>
                          <a:latin typeface="Arial" panose="020B0604020202020204" pitchFamily="34" charset="0"/>
                        </a:rPr>
                        <a:t>1, 3, 4</a:t>
                      </a:r>
                    </a:p>
                  </a:txBody>
                  <a:tcPr marT="45697" marB="456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8407">
                <a:tc>
                  <a:txBody>
                    <a:bodyPr/>
                    <a:lstStyle>
                      <a:lvl1pPr>
                        <a:defRPr sz="2600">
                          <a:solidFill>
                            <a:schemeClr val="tx1"/>
                          </a:solidFill>
                          <a:latin typeface="Arial" panose="020B0604020202020204" pitchFamily="34" charset="0"/>
                        </a:defRPr>
                      </a:lvl1pPr>
                      <a:lvl2pPr>
                        <a:buClr>
                          <a:schemeClr val="accent2"/>
                        </a:buClr>
                        <a:buSzPct val="60000"/>
                        <a:defRPr sz="2200">
                          <a:solidFill>
                            <a:schemeClr val="tx1"/>
                          </a:solidFill>
                          <a:latin typeface="Arial" panose="020B0604020202020204" pitchFamily="34" charset="0"/>
                        </a:defRPr>
                      </a:lvl2pPr>
                      <a:lvl3pPr>
                        <a:defRPr sz="2000">
                          <a:solidFill>
                            <a:schemeClr val="tx1"/>
                          </a:solidFill>
                          <a:latin typeface="Arial" panose="020B0604020202020204" pitchFamily="34" charset="0"/>
                        </a:defRPr>
                      </a:lvl3pPr>
                      <a:lvl4pPr>
                        <a:buClr>
                          <a:schemeClr val="accent2"/>
                        </a:buClr>
                        <a:buSzPct val="70000"/>
                        <a:defRPr>
                          <a:solidFill>
                            <a:schemeClr val="tx1"/>
                          </a:solidFill>
                          <a:latin typeface="Arial" panose="020B0604020202020204" pitchFamily="34" charset="0"/>
                        </a:defRPr>
                      </a:lvl4pPr>
                      <a:lvl5pPr>
                        <a:buSzPct val="75000"/>
                        <a:defRPr>
                          <a:solidFill>
                            <a:schemeClr val="tx1"/>
                          </a:solidFill>
                          <a:latin typeface="Arial" panose="020B0604020202020204" pitchFamily="34" charset="0"/>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sz="2000" b="0" i="0" u="none" strike="noStrike" cap="none" normalizeH="0" baseline="0" smtClean="0">
                          <a:ln>
                            <a:noFill/>
                          </a:ln>
                          <a:solidFill>
                            <a:schemeClr val="tx1"/>
                          </a:solidFill>
                          <a:effectLst/>
                          <a:latin typeface="Arial" panose="020B0604020202020204" pitchFamily="34" charset="0"/>
                        </a:rPr>
                        <a:t>T200</a:t>
                      </a:r>
                    </a:p>
                  </a:txBody>
                  <a:tcPr marT="45697" marB="456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600">
                          <a:solidFill>
                            <a:schemeClr val="tx1"/>
                          </a:solidFill>
                          <a:latin typeface="Arial" panose="020B0604020202020204" pitchFamily="34" charset="0"/>
                        </a:defRPr>
                      </a:lvl1pPr>
                      <a:lvl2pPr>
                        <a:buClr>
                          <a:schemeClr val="accent2"/>
                        </a:buClr>
                        <a:buSzPct val="60000"/>
                        <a:defRPr sz="2200">
                          <a:solidFill>
                            <a:schemeClr val="tx1"/>
                          </a:solidFill>
                          <a:latin typeface="Arial" panose="020B0604020202020204" pitchFamily="34" charset="0"/>
                        </a:defRPr>
                      </a:lvl2pPr>
                      <a:lvl3pPr>
                        <a:defRPr sz="2000">
                          <a:solidFill>
                            <a:schemeClr val="tx1"/>
                          </a:solidFill>
                          <a:latin typeface="Arial" panose="020B0604020202020204" pitchFamily="34" charset="0"/>
                        </a:defRPr>
                      </a:lvl3pPr>
                      <a:lvl4pPr>
                        <a:buClr>
                          <a:schemeClr val="accent2"/>
                        </a:buClr>
                        <a:buSzPct val="70000"/>
                        <a:defRPr>
                          <a:solidFill>
                            <a:schemeClr val="tx1"/>
                          </a:solidFill>
                          <a:latin typeface="Arial" panose="020B0604020202020204" pitchFamily="34" charset="0"/>
                        </a:defRPr>
                      </a:lvl4pPr>
                      <a:lvl5pPr>
                        <a:buSzPct val="75000"/>
                        <a:defRPr>
                          <a:solidFill>
                            <a:schemeClr val="tx1"/>
                          </a:solidFill>
                          <a:latin typeface="Arial" panose="020B0604020202020204" pitchFamily="34" charset="0"/>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sz="2000" b="0" i="0" u="none" strike="noStrike" cap="none" normalizeH="0" baseline="0" smtClean="0">
                          <a:ln>
                            <a:noFill/>
                          </a:ln>
                          <a:solidFill>
                            <a:schemeClr val="tx1"/>
                          </a:solidFill>
                          <a:effectLst/>
                          <a:latin typeface="Arial" panose="020B0604020202020204" pitchFamily="34" charset="0"/>
                        </a:rPr>
                        <a:t>2, 3, 5</a:t>
                      </a:r>
                    </a:p>
                  </a:txBody>
                  <a:tcPr marT="45697" marB="456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136">
                <a:tc>
                  <a:txBody>
                    <a:bodyPr/>
                    <a:lstStyle>
                      <a:lvl1pPr>
                        <a:defRPr sz="2600">
                          <a:solidFill>
                            <a:schemeClr val="tx1"/>
                          </a:solidFill>
                          <a:latin typeface="Arial" panose="020B0604020202020204" pitchFamily="34" charset="0"/>
                        </a:defRPr>
                      </a:lvl1pPr>
                      <a:lvl2pPr>
                        <a:buClr>
                          <a:schemeClr val="accent2"/>
                        </a:buClr>
                        <a:buSzPct val="60000"/>
                        <a:defRPr sz="2200">
                          <a:solidFill>
                            <a:schemeClr val="tx1"/>
                          </a:solidFill>
                          <a:latin typeface="Arial" panose="020B0604020202020204" pitchFamily="34" charset="0"/>
                        </a:defRPr>
                      </a:lvl2pPr>
                      <a:lvl3pPr>
                        <a:defRPr sz="2000">
                          <a:solidFill>
                            <a:schemeClr val="tx1"/>
                          </a:solidFill>
                          <a:latin typeface="Arial" panose="020B0604020202020204" pitchFamily="34" charset="0"/>
                        </a:defRPr>
                      </a:lvl3pPr>
                      <a:lvl4pPr>
                        <a:buClr>
                          <a:schemeClr val="accent2"/>
                        </a:buClr>
                        <a:buSzPct val="70000"/>
                        <a:defRPr>
                          <a:solidFill>
                            <a:schemeClr val="tx1"/>
                          </a:solidFill>
                          <a:latin typeface="Arial" panose="020B0604020202020204" pitchFamily="34" charset="0"/>
                        </a:defRPr>
                      </a:lvl4pPr>
                      <a:lvl5pPr>
                        <a:buSzPct val="75000"/>
                        <a:defRPr>
                          <a:solidFill>
                            <a:schemeClr val="tx1"/>
                          </a:solidFill>
                          <a:latin typeface="Arial" panose="020B0604020202020204" pitchFamily="34" charset="0"/>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sz="2000" b="0" i="0" u="none" strike="noStrike" cap="none" normalizeH="0" baseline="0" smtClean="0">
                          <a:ln>
                            <a:noFill/>
                          </a:ln>
                          <a:solidFill>
                            <a:schemeClr val="tx1"/>
                          </a:solidFill>
                          <a:effectLst/>
                          <a:latin typeface="Arial" panose="020B0604020202020204" pitchFamily="34" charset="0"/>
                        </a:rPr>
                        <a:t>T300</a:t>
                      </a:r>
                    </a:p>
                  </a:txBody>
                  <a:tcPr marT="45697" marB="456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600">
                          <a:solidFill>
                            <a:schemeClr val="tx1"/>
                          </a:solidFill>
                          <a:latin typeface="Arial" panose="020B0604020202020204" pitchFamily="34" charset="0"/>
                        </a:defRPr>
                      </a:lvl1pPr>
                      <a:lvl2pPr>
                        <a:buClr>
                          <a:schemeClr val="accent2"/>
                        </a:buClr>
                        <a:buSzPct val="60000"/>
                        <a:defRPr sz="2200">
                          <a:solidFill>
                            <a:schemeClr val="tx1"/>
                          </a:solidFill>
                          <a:latin typeface="Arial" panose="020B0604020202020204" pitchFamily="34" charset="0"/>
                        </a:defRPr>
                      </a:lvl2pPr>
                      <a:lvl3pPr>
                        <a:defRPr sz="2000">
                          <a:solidFill>
                            <a:schemeClr val="tx1"/>
                          </a:solidFill>
                          <a:latin typeface="Arial" panose="020B0604020202020204" pitchFamily="34" charset="0"/>
                        </a:defRPr>
                      </a:lvl3pPr>
                      <a:lvl4pPr>
                        <a:buClr>
                          <a:schemeClr val="accent2"/>
                        </a:buClr>
                        <a:buSzPct val="70000"/>
                        <a:defRPr>
                          <a:solidFill>
                            <a:schemeClr val="tx1"/>
                          </a:solidFill>
                          <a:latin typeface="Arial" panose="020B0604020202020204" pitchFamily="34" charset="0"/>
                        </a:defRPr>
                      </a:lvl4pPr>
                      <a:lvl5pPr>
                        <a:buSzPct val="75000"/>
                        <a:defRPr>
                          <a:solidFill>
                            <a:schemeClr val="tx1"/>
                          </a:solidFill>
                          <a:latin typeface="Arial" panose="020B0604020202020204" pitchFamily="34" charset="0"/>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sz="2000" b="0" i="0" u="none" strike="noStrike" cap="none" normalizeH="0" baseline="0" smtClean="0">
                          <a:ln>
                            <a:noFill/>
                          </a:ln>
                          <a:solidFill>
                            <a:schemeClr val="tx1"/>
                          </a:solidFill>
                          <a:effectLst/>
                          <a:latin typeface="Arial" panose="020B0604020202020204" pitchFamily="34" charset="0"/>
                        </a:rPr>
                        <a:t>1, 2, 3, 5</a:t>
                      </a:r>
                    </a:p>
                  </a:txBody>
                  <a:tcPr marT="45697" marB="456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136">
                <a:tc>
                  <a:txBody>
                    <a:bodyPr/>
                    <a:lstStyle>
                      <a:lvl1pPr>
                        <a:defRPr sz="2600">
                          <a:solidFill>
                            <a:schemeClr val="tx1"/>
                          </a:solidFill>
                          <a:latin typeface="Arial" panose="020B0604020202020204" pitchFamily="34" charset="0"/>
                        </a:defRPr>
                      </a:lvl1pPr>
                      <a:lvl2pPr>
                        <a:buClr>
                          <a:schemeClr val="accent2"/>
                        </a:buClr>
                        <a:buSzPct val="60000"/>
                        <a:defRPr sz="2200">
                          <a:solidFill>
                            <a:schemeClr val="tx1"/>
                          </a:solidFill>
                          <a:latin typeface="Arial" panose="020B0604020202020204" pitchFamily="34" charset="0"/>
                        </a:defRPr>
                      </a:lvl2pPr>
                      <a:lvl3pPr>
                        <a:defRPr sz="2000">
                          <a:solidFill>
                            <a:schemeClr val="tx1"/>
                          </a:solidFill>
                          <a:latin typeface="Arial" panose="020B0604020202020204" pitchFamily="34" charset="0"/>
                        </a:defRPr>
                      </a:lvl3pPr>
                      <a:lvl4pPr>
                        <a:buClr>
                          <a:schemeClr val="accent2"/>
                        </a:buClr>
                        <a:buSzPct val="70000"/>
                        <a:defRPr>
                          <a:solidFill>
                            <a:schemeClr val="tx1"/>
                          </a:solidFill>
                          <a:latin typeface="Arial" panose="020B0604020202020204" pitchFamily="34" charset="0"/>
                        </a:defRPr>
                      </a:lvl4pPr>
                      <a:lvl5pPr>
                        <a:buSzPct val="75000"/>
                        <a:defRPr>
                          <a:solidFill>
                            <a:schemeClr val="tx1"/>
                          </a:solidFill>
                          <a:latin typeface="Arial" panose="020B0604020202020204" pitchFamily="34" charset="0"/>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sz="2000" b="0" i="0" u="none" strike="noStrike" cap="none" normalizeH="0" baseline="0" smtClean="0">
                          <a:ln>
                            <a:noFill/>
                          </a:ln>
                          <a:solidFill>
                            <a:schemeClr val="tx1"/>
                          </a:solidFill>
                          <a:effectLst/>
                          <a:latin typeface="Arial" panose="020B0604020202020204" pitchFamily="34" charset="0"/>
                        </a:rPr>
                        <a:t>T400</a:t>
                      </a:r>
                    </a:p>
                  </a:txBody>
                  <a:tcPr marT="45697" marB="456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600">
                          <a:solidFill>
                            <a:schemeClr val="tx1"/>
                          </a:solidFill>
                          <a:latin typeface="Arial" panose="020B0604020202020204" pitchFamily="34" charset="0"/>
                        </a:defRPr>
                      </a:lvl1pPr>
                      <a:lvl2pPr>
                        <a:buClr>
                          <a:schemeClr val="accent2"/>
                        </a:buClr>
                        <a:buSzPct val="60000"/>
                        <a:defRPr sz="2200">
                          <a:solidFill>
                            <a:schemeClr val="tx1"/>
                          </a:solidFill>
                          <a:latin typeface="Arial" panose="020B0604020202020204" pitchFamily="34" charset="0"/>
                        </a:defRPr>
                      </a:lvl2pPr>
                      <a:lvl3pPr>
                        <a:defRPr sz="2000">
                          <a:solidFill>
                            <a:schemeClr val="tx1"/>
                          </a:solidFill>
                          <a:latin typeface="Arial" panose="020B0604020202020204" pitchFamily="34" charset="0"/>
                        </a:defRPr>
                      </a:lvl3pPr>
                      <a:lvl4pPr>
                        <a:buClr>
                          <a:schemeClr val="accent2"/>
                        </a:buClr>
                        <a:buSzPct val="70000"/>
                        <a:defRPr>
                          <a:solidFill>
                            <a:schemeClr val="tx1"/>
                          </a:solidFill>
                          <a:latin typeface="Arial" panose="020B0604020202020204" pitchFamily="34" charset="0"/>
                        </a:defRPr>
                      </a:lvl4pPr>
                      <a:lvl5pPr>
                        <a:buSzPct val="75000"/>
                        <a:defRPr>
                          <a:solidFill>
                            <a:schemeClr val="tx1"/>
                          </a:solidFill>
                          <a:latin typeface="Arial" panose="020B0604020202020204" pitchFamily="34" charset="0"/>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sz="2000" b="0" i="0" u="none" strike="noStrike" cap="none" normalizeH="0" baseline="0" dirty="0" smtClean="0">
                          <a:ln>
                            <a:noFill/>
                          </a:ln>
                          <a:solidFill>
                            <a:schemeClr val="tx1"/>
                          </a:solidFill>
                          <a:effectLst/>
                          <a:latin typeface="Arial" panose="020B0604020202020204" pitchFamily="34" charset="0"/>
                        </a:rPr>
                        <a:t>2, 5</a:t>
                      </a:r>
                    </a:p>
                  </a:txBody>
                  <a:tcPr marT="45697" marB="456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3578" name="Text Box 25"/>
          <p:cNvSpPr txBox="1">
            <a:spLocks noChangeArrowheads="1"/>
          </p:cNvSpPr>
          <p:nvPr/>
        </p:nvSpPr>
        <p:spPr bwMode="auto">
          <a:xfrm>
            <a:off x="762000" y="2533765"/>
            <a:ext cx="8305800" cy="3822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914400" indent="-45720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371600" indent="-4572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828800" indent="-4572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286000" indent="-4572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743200" indent="-4572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3200400" indent="-4572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657600" indent="-4572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4114800" indent="-4572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50000"/>
              </a:spcBef>
              <a:buClrTx/>
              <a:buSzTx/>
              <a:buFontTx/>
              <a:buNone/>
            </a:pPr>
            <a:r>
              <a:rPr lang="en-US" sz="2400" dirty="0">
                <a:latin typeface="Times New Roman" panose="02020603050405020304" pitchFamily="18" charset="0"/>
              </a:rPr>
              <a:t>			   </a:t>
            </a:r>
            <a:r>
              <a:rPr lang="en-US" sz="2400" dirty="0" err="1">
                <a:latin typeface="Times New Roman" panose="02020603050405020304" pitchFamily="18" charset="0"/>
              </a:rPr>
              <a:t>itemset:count</a:t>
            </a:r>
            <a:endParaRPr lang="en-US" sz="2400" dirty="0">
              <a:latin typeface="Times New Roman" panose="02020603050405020304" pitchFamily="18" charset="0"/>
            </a:endParaRPr>
          </a:p>
          <a:p>
            <a:pPr>
              <a:spcBef>
                <a:spcPct val="30000"/>
              </a:spcBef>
              <a:buClrTx/>
              <a:buSzTx/>
              <a:buFontTx/>
              <a:buNone/>
            </a:pPr>
            <a:r>
              <a:rPr lang="en-US" sz="2400" dirty="0">
                <a:latin typeface="Times New Roman" panose="02020603050405020304" pitchFamily="18" charset="0"/>
              </a:rPr>
              <a:t>1. scan T </a:t>
            </a:r>
            <a:r>
              <a:rPr lang="en-US" sz="2400" dirty="0">
                <a:latin typeface="Times New Roman" panose="02020603050405020304" pitchFamily="18" charset="0"/>
                <a:sym typeface="Wingdings" panose="05000000000000000000" pitchFamily="2" charset="2"/>
              </a:rPr>
              <a:t> </a:t>
            </a:r>
            <a:r>
              <a:rPr lang="en-US" sz="2400" dirty="0">
                <a:latin typeface="Times New Roman" panose="02020603050405020304" pitchFamily="18" charset="0"/>
              </a:rPr>
              <a:t>C</a:t>
            </a:r>
            <a:r>
              <a:rPr lang="en-US" sz="2400" baseline="-25000" dirty="0">
                <a:latin typeface="Times New Roman" panose="02020603050405020304" pitchFamily="18" charset="0"/>
              </a:rPr>
              <a:t>1</a:t>
            </a:r>
            <a:r>
              <a:rPr lang="en-US" sz="2400" dirty="0">
                <a:latin typeface="Times New Roman" panose="02020603050405020304" pitchFamily="18" charset="0"/>
              </a:rPr>
              <a:t>: </a:t>
            </a:r>
            <a:r>
              <a:rPr lang="en-US" sz="2000" dirty="0">
                <a:latin typeface="Times New Roman" panose="02020603050405020304" pitchFamily="18" charset="0"/>
              </a:rPr>
              <a:t>{1}:2, {2}:3, {3}:3, {4}:1, {5}:3</a:t>
            </a:r>
            <a:endParaRPr lang="en-US" sz="2400" baseline="-25000" dirty="0">
              <a:latin typeface="Times New Roman" panose="02020603050405020304" pitchFamily="18" charset="0"/>
            </a:endParaRPr>
          </a:p>
          <a:p>
            <a:pPr>
              <a:spcBef>
                <a:spcPct val="30000"/>
              </a:spcBef>
              <a:buClrTx/>
              <a:buSzTx/>
              <a:buFontTx/>
              <a:buNone/>
            </a:pPr>
            <a:r>
              <a:rPr lang="en-US" sz="2400" dirty="0">
                <a:latin typeface="Times New Roman" panose="02020603050405020304" pitchFamily="18" charset="0"/>
              </a:rPr>
              <a:t>	   </a:t>
            </a:r>
            <a:r>
              <a:rPr lang="en-US" sz="2400" dirty="0">
                <a:latin typeface="Times New Roman" panose="02020603050405020304" pitchFamily="18" charset="0"/>
                <a:sym typeface="Wingdings" panose="05000000000000000000" pitchFamily="2" charset="2"/>
              </a:rPr>
              <a:t> </a:t>
            </a:r>
            <a:r>
              <a:rPr lang="en-US" sz="2400" dirty="0">
                <a:latin typeface="Times New Roman" panose="02020603050405020304" pitchFamily="18" charset="0"/>
              </a:rPr>
              <a:t>F</a:t>
            </a:r>
            <a:r>
              <a:rPr lang="en-US" sz="2400" baseline="-25000" dirty="0">
                <a:latin typeface="Times New Roman" panose="02020603050405020304" pitchFamily="18" charset="0"/>
              </a:rPr>
              <a:t>1</a:t>
            </a:r>
            <a:r>
              <a:rPr lang="en-US" sz="2400" dirty="0">
                <a:latin typeface="Times New Roman" panose="02020603050405020304" pitchFamily="18" charset="0"/>
              </a:rPr>
              <a:t>: 	   </a:t>
            </a:r>
            <a:r>
              <a:rPr lang="en-US" sz="2000" dirty="0">
                <a:latin typeface="Times New Roman" panose="02020603050405020304" pitchFamily="18" charset="0"/>
              </a:rPr>
              <a:t>{1}:2, {2}:3, {3}:3,             {5}:3</a:t>
            </a:r>
          </a:p>
          <a:p>
            <a:pPr>
              <a:spcBef>
                <a:spcPct val="30000"/>
              </a:spcBef>
              <a:buClrTx/>
              <a:buSzTx/>
              <a:buFontTx/>
              <a:buNone/>
            </a:pPr>
            <a:r>
              <a:rPr lang="en-US" sz="2400" baseline="-25000" dirty="0">
                <a:latin typeface="Times New Roman" panose="02020603050405020304" pitchFamily="18" charset="0"/>
              </a:rPr>
              <a:t>	    </a:t>
            </a:r>
            <a:r>
              <a:rPr lang="en-US" sz="2400" dirty="0">
                <a:latin typeface="Times New Roman" panose="02020603050405020304" pitchFamily="18" charset="0"/>
                <a:sym typeface="Wingdings" panose="05000000000000000000" pitchFamily="2" charset="2"/>
              </a:rPr>
              <a:t> </a:t>
            </a:r>
            <a:r>
              <a:rPr lang="en-US" sz="2400" dirty="0">
                <a:latin typeface="Times New Roman" panose="02020603050405020304" pitchFamily="18" charset="0"/>
              </a:rPr>
              <a:t>C</a:t>
            </a:r>
            <a:r>
              <a:rPr lang="en-US" sz="2400" baseline="-25000" dirty="0">
                <a:latin typeface="Times New Roman" panose="02020603050405020304" pitchFamily="18" charset="0"/>
              </a:rPr>
              <a:t>2</a:t>
            </a:r>
            <a:r>
              <a:rPr lang="en-US" sz="2400" dirty="0">
                <a:latin typeface="Times New Roman" panose="02020603050405020304" pitchFamily="18" charset="0"/>
              </a:rPr>
              <a:t>:        </a:t>
            </a:r>
            <a:r>
              <a:rPr lang="en-US" sz="2000" dirty="0">
                <a:latin typeface="Times New Roman" panose="02020603050405020304" pitchFamily="18" charset="0"/>
              </a:rPr>
              <a:t>{1,2}, {1,3}, {1,5}, {2,3}, {2,5}, {3,5}</a:t>
            </a:r>
            <a:endParaRPr lang="en-US" sz="2400" dirty="0">
              <a:latin typeface="Times New Roman" panose="02020603050405020304" pitchFamily="18" charset="0"/>
            </a:endParaRPr>
          </a:p>
          <a:p>
            <a:pPr>
              <a:spcBef>
                <a:spcPct val="30000"/>
              </a:spcBef>
              <a:buClrTx/>
              <a:buSzTx/>
              <a:buFontTx/>
              <a:buNone/>
            </a:pPr>
            <a:r>
              <a:rPr lang="en-US" sz="2400" dirty="0">
                <a:latin typeface="Times New Roman" panose="02020603050405020304" pitchFamily="18" charset="0"/>
              </a:rPr>
              <a:t>2.</a:t>
            </a:r>
            <a:r>
              <a:rPr lang="en-US" sz="2400" baseline="-25000" dirty="0">
                <a:latin typeface="Times New Roman" panose="02020603050405020304" pitchFamily="18" charset="0"/>
              </a:rPr>
              <a:t> </a:t>
            </a:r>
            <a:r>
              <a:rPr lang="en-US" sz="2400" dirty="0">
                <a:latin typeface="Times New Roman" panose="02020603050405020304" pitchFamily="18" charset="0"/>
              </a:rPr>
              <a:t>scan T </a:t>
            </a:r>
            <a:r>
              <a:rPr lang="en-US" sz="2400" dirty="0">
                <a:latin typeface="Times New Roman" panose="02020603050405020304" pitchFamily="18" charset="0"/>
                <a:sym typeface="Wingdings" panose="05000000000000000000" pitchFamily="2" charset="2"/>
              </a:rPr>
              <a:t> </a:t>
            </a:r>
            <a:r>
              <a:rPr lang="en-US" sz="2400" dirty="0">
                <a:latin typeface="Times New Roman" panose="02020603050405020304" pitchFamily="18" charset="0"/>
              </a:rPr>
              <a:t>C</a:t>
            </a:r>
            <a:r>
              <a:rPr lang="en-US" sz="2400" baseline="-25000" dirty="0">
                <a:latin typeface="Times New Roman" panose="02020603050405020304" pitchFamily="18" charset="0"/>
              </a:rPr>
              <a:t>2</a:t>
            </a:r>
            <a:r>
              <a:rPr lang="en-US" sz="2400" dirty="0">
                <a:latin typeface="Times New Roman" panose="02020603050405020304" pitchFamily="18" charset="0"/>
                <a:sym typeface="Wingdings" panose="05000000000000000000" pitchFamily="2" charset="2"/>
              </a:rPr>
              <a:t>: {</a:t>
            </a:r>
            <a:r>
              <a:rPr lang="en-US" sz="2000" dirty="0">
                <a:latin typeface="Times New Roman" panose="02020603050405020304" pitchFamily="18" charset="0"/>
              </a:rPr>
              <a:t>1,2}:1, {1,3}:2, {1,5}:1, {2,3}:2, {2,5}:3, {3,5}:2</a:t>
            </a:r>
            <a:endParaRPr lang="en-US" sz="2400" dirty="0">
              <a:latin typeface="Times New Roman" panose="02020603050405020304" pitchFamily="18" charset="0"/>
              <a:sym typeface="Wingdings" panose="05000000000000000000" pitchFamily="2" charset="2"/>
            </a:endParaRPr>
          </a:p>
          <a:p>
            <a:pPr>
              <a:spcBef>
                <a:spcPct val="30000"/>
              </a:spcBef>
              <a:buClrTx/>
              <a:buSzTx/>
              <a:buFontTx/>
              <a:buNone/>
            </a:pPr>
            <a:r>
              <a:rPr lang="en-US" sz="2400" dirty="0">
                <a:latin typeface="Times New Roman" panose="02020603050405020304" pitchFamily="18" charset="0"/>
                <a:sym typeface="Wingdings" panose="05000000000000000000" pitchFamily="2" charset="2"/>
              </a:rPr>
              <a:t>          </a:t>
            </a:r>
            <a:r>
              <a:rPr lang="en-US" sz="2400" dirty="0">
                <a:latin typeface="Times New Roman" panose="02020603050405020304" pitchFamily="18" charset="0"/>
              </a:rPr>
              <a:t>F</a:t>
            </a:r>
            <a:r>
              <a:rPr lang="en-US" sz="2400" baseline="-25000" dirty="0">
                <a:latin typeface="Times New Roman" panose="02020603050405020304" pitchFamily="18" charset="0"/>
              </a:rPr>
              <a:t>2</a:t>
            </a:r>
            <a:r>
              <a:rPr lang="en-US" sz="2400" dirty="0">
                <a:latin typeface="Times New Roman" panose="02020603050405020304" pitchFamily="18" charset="0"/>
              </a:rPr>
              <a:t>:                    {</a:t>
            </a:r>
            <a:r>
              <a:rPr lang="en-US" sz="2000" b="1" dirty="0">
                <a:latin typeface="Times New Roman" panose="02020603050405020304" pitchFamily="18" charset="0"/>
              </a:rPr>
              <a:t>1,3}</a:t>
            </a:r>
            <a:r>
              <a:rPr lang="en-US" sz="2000" dirty="0">
                <a:latin typeface="Times New Roman" panose="02020603050405020304" pitchFamily="18" charset="0"/>
              </a:rPr>
              <a:t>:2,               {</a:t>
            </a:r>
            <a:r>
              <a:rPr lang="en-US" sz="2000" b="1" dirty="0">
                <a:latin typeface="Times New Roman" panose="02020603050405020304" pitchFamily="18" charset="0"/>
              </a:rPr>
              <a:t>2,3}</a:t>
            </a:r>
            <a:r>
              <a:rPr lang="en-US" sz="2000" dirty="0">
                <a:latin typeface="Times New Roman" panose="02020603050405020304" pitchFamily="18" charset="0"/>
              </a:rPr>
              <a:t>:2, {</a:t>
            </a:r>
            <a:r>
              <a:rPr lang="en-US" sz="2000" b="1" dirty="0">
                <a:latin typeface="Times New Roman" panose="02020603050405020304" pitchFamily="18" charset="0"/>
              </a:rPr>
              <a:t>2,5}:</a:t>
            </a:r>
            <a:r>
              <a:rPr lang="en-US" sz="2000" dirty="0">
                <a:latin typeface="Times New Roman" panose="02020603050405020304" pitchFamily="18" charset="0"/>
              </a:rPr>
              <a:t>3, {</a:t>
            </a:r>
            <a:r>
              <a:rPr lang="en-US" sz="2000" b="1" dirty="0">
                <a:latin typeface="Times New Roman" panose="02020603050405020304" pitchFamily="18" charset="0"/>
              </a:rPr>
              <a:t>3,5}</a:t>
            </a:r>
            <a:r>
              <a:rPr lang="en-US" sz="2000" dirty="0">
                <a:latin typeface="Times New Roman" panose="02020603050405020304" pitchFamily="18" charset="0"/>
              </a:rPr>
              <a:t>:2</a:t>
            </a:r>
            <a:endParaRPr lang="en-US" sz="2400" dirty="0">
              <a:latin typeface="Times New Roman" panose="02020603050405020304" pitchFamily="18" charset="0"/>
            </a:endParaRPr>
          </a:p>
          <a:p>
            <a:pPr lvl="1">
              <a:spcBef>
                <a:spcPct val="30000"/>
              </a:spcBef>
              <a:buClrTx/>
              <a:buSzTx/>
              <a:buFontTx/>
              <a:buNone/>
            </a:pPr>
            <a:r>
              <a:rPr lang="en-US" sz="2400" dirty="0">
                <a:latin typeface="Times New Roman" panose="02020603050405020304" pitchFamily="18" charset="0"/>
              </a:rPr>
              <a:t>   </a:t>
            </a:r>
            <a:r>
              <a:rPr lang="en-US" sz="2400" dirty="0">
                <a:latin typeface="Times New Roman" panose="02020603050405020304" pitchFamily="18" charset="0"/>
                <a:sym typeface="Wingdings" panose="05000000000000000000" pitchFamily="2" charset="2"/>
              </a:rPr>
              <a:t> </a:t>
            </a:r>
            <a:r>
              <a:rPr lang="en-US" sz="2400" dirty="0">
                <a:latin typeface="Times New Roman" panose="02020603050405020304" pitchFamily="18" charset="0"/>
              </a:rPr>
              <a:t>C</a:t>
            </a:r>
            <a:r>
              <a:rPr lang="en-US" sz="2400" baseline="-25000" dirty="0">
                <a:latin typeface="Times New Roman" panose="02020603050405020304" pitchFamily="18" charset="0"/>
              </a:rPr>
              <a:t>3</a:t>
            </a:r>
            <a:r>
              <a:rPr lang="en-US" sz="2400" dirty="0">
                <a:latin typeface="Times New Roman" panose="02020603050405020304" pitchFamily="18" charset="0"/>
              </a:rPr>
              <a:t>:</a:t>
            </a:r>
            <a:r>
              <a:rPr lang="en-US" sz="2400" baseline="-25000" dirty="0">
                <a:latin typeface="Times New Roman" panose="02020603050405020304" pitchFamily="18" charset="0"/>
              </a:rPr>
              <a:t>           </a:t>
            </a:r>
            <a:r>
              <a:rPr lang="en-US" sz="2000" dirty="0">
                <a:latin typeface="Times New Roman" panose="02020603050405020304" pitchFamily="18" charset="0"/>
              </a:rPr>
              <a:t>{2, 3,5}</a:t>
            </a:r>
          </a:p>
          <a:p>
            <a:pPr>
              <a:spcBef>
                <a:spcPct val="30000"/>
              </a:spcBef>
              <a:buClrTx/>
              <a:buSzTx/>
              <a:buFontTx/>
              <a:buNone/>
            </a:pPr>
            <a:r>
              <a:rPr lang="en-US" sz="2400" dirty="0">
                <a:latin typeface="Times New Roman" panose="02020603050405020304" pitchFamily="18" charset="0"/>
              </a:rPr>
              <a:t>3. scan T </a:t>
            </a:r>
            <a:r>
              <a:rPr lang="en-US" sz="2400" dirty="0">
                <a:latin typeface="Times New Roman" panose="02020603050405020304" pitchFamily="18" charset="0"/>
                <a:sym typeface="Wingdings" panose="05000000000000000000" pitchFamily="2" charset="2"/>
              </a:rPr>
              <a:t> </a:t>
            </a:r>
            <a:r>
              <a:rPr lang="en-US" sz="2400" dirty="0">
                <a:latin typeface="Times New Roman" panose="02020603050405020304" pitchFamily="18" charset="0"/>
              </a:rPr>
              <a:t>C</a:t>
            </a:r>
            <a:r>
              <a:rPr lang="en-US" sz="2400" baseline="-25000" dirty="0">
                <a:latin typeface="Times New Roman" panose="02020603050405020304" pitchFamily="18" charset="0"/>
              </a:rPr>
              <a:t>3</a:t>
            </a:r>
            <a:r>
              <a:rPr lang="en-US" sz="2400" dirty="0">
                <a:latin typeface="Times New Roman" panose="02020603050405020304" pitchFamily="18" charset="0"/>
              </a:rPr>
              <a:t>: </a:t>
            </a:r>
            <a:r>
              <a:rPr lang="en-US" sz="2000" dirty="0">
                <a:latin typeface="Times New Roman" panose="02020603050405020304" pitchFamily="18" charset="0"/>
              </a:rPr>
              <a:t>{</a:t>
            </a:r>
            <a:r>
              <a:rPr lang="en-US" sz="2000" b="1" dirty="0">
                <a:latin typeface="Times New Roman" panose="02020603050405020304" pitchFamily="18" charset="0"/>
              </a:rPr>
              <a:t>2, 3, 5}</a:t>
            </a:r>
            <a:r>
              <a:rPr lang="en-US" sz="2000" dirty="0">
                <a:latin typeface="Times New Roman" panose="02020603050405020304" pitchFamily="18" charset="0"/>
              </a:rPr>
              <a:t>:2 </a:t>
            </a:r>
            <a:r>
              <a:rPr lang="en-US" sz="2400" dirty="0">
                <a:latin typeface="Tahoma" panose="020B0604030504040204" pitchFamily="34" charset="0"/>
                <a:sym typeface="Wingdings" panose="05000000000000000000" pitchFamily="2" charset="2"/>
              </a:rPr>
              <a:t> </a:t>
            </a:r>
            <a:r>
              <a:rPr lang="en-US" sz="2400" dirty="0">
                <a:latin typeface="Tahoma" panose="020B0604030504040204" pitchFamily="34" charset="0"/>
              </a:rPr>
              <a:t>F</a:t>
            </a:r>
            <a:r>
              <a:rPr lang="en-US" sz="2400" baseline="-25000" dirty="0">
                <a:latin typeface="Tahoma" panose="020B0604030504040204" pitchFamily="34" charset="0"/>
              </a:rPr>
              <a:t>3: </a:t>
            </a:r>
            <a:r>
              <a:rPr lang="en-US" sz="2000" dirty="0">
                <a:latin typeface="Times New Roman" panose="02020603050405020304" pitchFamily="18" charset="0"/>
              </a:rPr>
              <a:t>{</a:t>
            </a:r>
            <a:r>
              <a:rPr lang="en-US" sz="2000" b="1" dirty="0">
                <a:latin typeface="Times New Roman" panose="02020603050405020304" pitchFamily="18" charset="0"/>
              </a:rPr>
              <a:t>2, 3, 5}</a:t>
            </a:r>
          </a:p>
        </p:txBody>
      </p:sp>
      <p:sp>
        <p:nvSpPr>
          <p:cNvPr id="23579" name="Text Box 26"/>
          <p:cNvSpPr txBox="1">
            <a:spLocks noChangeArrowheads="1"/>
          </p:cNvSpPr>
          <p:nvPr/>
        </p:nvSpPr>
        <p:spPr bwMode="auto">
          <a:xfrm>
            <a:off x="6598525" y="2069841"/>
            <a:ext cx="182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50000"/>
              </a:spcBef>
              <a:buClrTx/>
              <a:buSzTx/>
              <a:buFontTx/>
              <a:buNone/>
            </a:pPr>
            <a:r>
              <a:rPr lang="en-US" sz="2400" dirty="0" err="1">
                <a:solidFill>
                  <a:srgbClr val="FF0000"/>
                </a:solidFill>
                <a:latin typeface="Times New Roman" panose="02020603050405020304" pitchFamily="18" charset="0"/>
              </a:rPr>
              <a:t>minsup</a:t>
            </a:r>
            <a:r>
              <a:rPr lang="en-US" sz="2400" dirty="0">
                <a:solidFill>
                  <a:srgbClr val="FF0000"/>
                </a:solidFill>
                <a:latin typeface="Times New Roman" panose="02020603050405020304" pitchFamily="18" charset="0"/>
              </a:rPr>
              <a:t>=0.5</a:t>
            </a:r>
          </a:p>
        </p:txBody>
      </p:sp>
    </p:spTree>
    <p:extLst>
      <p:ext uri="{BB962C8B-B14F-4D97-AF65-F5344CB8AC3E}">
        <p14:creationId xmlns:p14="http://schemas.microsoft.com/office/powerpoint/2010/main" val="275139667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2"/>
          <p:cNvSpPr>
            <a:spLocks noGrp="1" noChangeArrowheads="1"/>
          </p:cNvSpPr>
          <p:nvPr>
            <p:ph type="title" idx="4294967295"/>
          </p:nvPr>
        </p:nvSpPr>
        <p:spPr>
          <a:xfrm>
            <a:off x="648477" y="1204880"/>
            <a:ext cx="10543591" cy="1325563"/>
          </a:xfrm>
        </p:spPr>
        <p:txBody>
          <a:bodyPr/>
          <a:lstStyle/>
          <a:p>
            <a:pPr eaLnBrk="1" hangingPunct="1"/>
            <a:r>
              <a:rPr lang="en-US" b="1" dirty="0" smtClean="0">
                <a:solidFill>
                  <a:srgbClr val="FF0000"/>
                </a:solidFill>
              </a:rPr>
              <a:t>Details: ordering of items</a:t>
            </a:r>
          </a:p>
        </p:txBody>
      </p:sp>
      <p:sp>
        <p:nvSpPr>
          <p:cNvPr id="24581" name="Rectangle 3"/>
          <p:cNvSpPr>
            <a:spLocks noGrp="1" noChangeArrowheads="1"/>
          </p:cNvSpPr>
          <p:nvPr>
            <p:ph type="body" idx="4294967295"/>
          </p:nvPr>
        </p:nvSpPr>
        <p:spPr>
          <a:xfrm>
            <a:off x="662473" y="2362492"/>
            <a:ext cx="10515600" cy="4351338"/>
          </a:xfrm>
        </p:spPr>
        <p:txBody>
          <a:bodyPr/>
          <a:lstStyle/>
          <a:p>
            <a:pPr eaLnBrk="1" hangingPunct="1"/>
            <a:r>
              <a:rPr lang="en-GB" altLang="ja-JP" dirty="0" smtClean="0">
                <a:ea typeface="ＭＳ Ｐゴシック" panose="020B0600070205080204" pitchFamily="34" charset="-128"/>
              </a:rPr>
              <a:t>The items in </a:t>
            </a:r>
            <a:r>
              <a:rPr lang="en-GB" altLang="ja-JP" i="1" dirty="0" smtClean="0">
                <a:ea typeface="ＭＳ Ｐゴシック" panose="020B0600070205080204" pitchFamily="34" charset="-128"/>
              </a:rPr>
              <a:t>I</a:t>
            </a:r>
            <a:r>
              <a:rPr lang="en-GB" altLang="ja-JP" dirty="0" smtClean="0">
                <a:ea typeface="ＭＳ Ｐゴシック" panose="020B0600070205080204" pitchFamily="34" charset="-128"/>
              </a:rPr>
              <a:t> are sorted in </a:t>
            </a:r>
            <a:r>
              <a:rPr lang="en-GB" altLang="ja-JP" dirty="0" smtClean="0">
                <a:solidFill>
                  <a:srgbClr val="FF0000"/>
                </a:solidFill>
                <a:ea typeface="ＭＳ Ｐゴシック" panose="020B0600070205080204" pitchFamily="34" charset="-128"/>
              </a:rPr>
              <a:t>lexicographic order</a:t>
            </a:r>
            <a:r>
              <a:rPr lang="en-GB" altLang="ja-JP" dirty="0" smtClean="0">
                <a:ea typeface="ＭＳ Ｐゴシック" panose="020B0600070205080204" pitchFamily="34" charset="-128"/>
              </a:rPr>
              <a:t> (which is a total order). </a:t>
            </a:r>
          </a:p>
          <a:p>
            <a:pPr eaLnBrk="1" hangingPunct="1"/>
            <a:r>
              <a:rPr lang="en-GB" altLang="ja-JP" dirty="0" smtClean="0">
                <a:solidFill>
                  <a:srgbClr val="3333CC"/>
                </a:solidFill>
                <a:ea typeface="ＭＳ Ｐゴシック" panose="020B0600070205080204" pitchFamily="34" charset="-128"/>
              </a:rPr>
              <a:t>The order is used throughout the algorithm in each </a:t>
            </a:r>
            <a:r>
              <a:rPr lang="en-GB" altLang="ja-JP" dirty="0" err="1" smtClean="0">
                <a:solidFill>
                  <a:srgbClr val="3333CC"/>
                </a:solidFill>
                <a:ea typeface="ＭＳ Ｐゴシック" panose="020B0600070205080204" pitchFamily="34" charset="-128"/>
              </a:rPr>
              <a:t>itemset</a:t>
            </a:r>
            <a:r>
              <a:rPr lang="en-GB" altLang="ja-JP" dirty="0" smtClean="0">
                <a:solidFill>
                  <a:srgbClr val="3333CC"/>
                </a:solidFill>
                <a:ea typeface="ＭＳ Ｐゴシック" panose="020B0600070205080204" pitchFamily="34" charset="-128"/>
              </a:rPr>
              <a:t>.</a:t>
            </a:r>
            <a:r>
              <a:rPr lang="en-GB" altLang="ja-JP" dirty="0" smtClean="0">
                <a:ea typeface="ＭＳ Ｐゴシック" panose="020B0600070205080204" pitchFamily="34" charset="-128"/>
              </a:rPr>
              <a:t> </a:t>
            </a:r>
          </a:p>
          <a:p>
            <a:pPr eaLnBrk="1" hangingPunct="1"/>
            <a:r>
              <a:rPr lang="en-GB" altLang="ja-JP" dirty="0" smtClean="0">
                <a:ea typeface="ＭＳ Ｐゴシック" panose="020B0600070205080204" pitchFamily="34" charset="-128"/>
              </a:rPr>
              <a:t>{</a:t>
            </a:r>
            <a:r>
              <a:rPr lang="en-GB" altLang="ja-JP" i="1" dirty="0" smtClean="0">
                <a:ea typeface="ＭＳ Ｐゴシック" panose="020B0600070205080204" pitchFamily="34" charset="-128"/>
              </a:rPr>
              <a:t>w</a:t>
            </a:r>
            <a:r>
              <a:rPr lang="en-GB" altLang="ja-JP" dirty="0" smtClean="0">
                <a:ea typeface="ＭＳ Ｐゴシック" panose="020B0600070205080204" pitchFamily="34" charset="-128"/>
              </a:rPr>
              <a:t>[1], </a:t>
            </a:r>
            <a:r>
              <a:rPr lang="en-GB" altLang="ja-JP" i="1" dirty="0" smtClean="0">
                <a:ea typeface="ＭＳ Ｐゴシック" panose="020B0600070205080204" pitchFamily="34" charset="-128"/>
              </a:rPr>
              <a:t>w</a:t>
            </a:r>
            <a:r>
              <a:rPr lang="en-GB" altLang="ja-JP" dirty="0" smtClean="0">
                <a:ea typeface="ＭＳ Ｐゴシック" panose="020B0600070205080204" pitchFamily="34" charset="-128"/>
              </a:rPr>
              <a:t>[2], …, </a:t>
            </a:r>
            <a:r>
              <a:rPr lang="en-GB" altLang="ja-JP" i="1" dirty="0" smtClean="0">
                <a:ea typeface="ＭＳ Ｐゴシック" panose="020B0600070205080204" pitchFamily="34" charset="-128"/>
              </a:rPr>
              <a:t>w</a:t>
            </a:r>
            <a:r>
              <a:rPr lang="en-GB" altLang="ja-JP" dirty="0" smtClean="0">
                <a:ea typeface="ＭＳ Ｐゴシック" panose="020B0600070205080204" pitchFamily="34" charset="-128"/>
              </a:rPr>
              <a:t>[</a:t>
            </a:r>
            <a:r>
              <a:rPr lang="en-GB" altLang="ja-JP" i="1" dirty="0" smtClean="0">
                <a:ea typeface="ＭＳ Ｐゴシック" panose="020B0600070205080204" pitchFamily="34" charset="-128"/>
              </a:rPr>
              <a:t>k</a:t>
            </a:r>
            <a:r>
              <a:rPr lang="en-GB" altLang="ja-JP" dirty="0" smtClean="0">
                <a:ea typeface="ＭＳ Ｐゴシック" panose="020B0600070205080204" pitchFamily="34" charset="-128"/>
              </a:rPr>
              <a:t>]} represents a </a:t>
            </a:r>
            <a:r>
              <a:rPr lang="en-GB" altLang="ja-JP" i="1" dirty="0" smtClean="0">
                <a:ea typeface="ＭＳ Ｐゴシック" panose="020B0600070205080204" pitchFamily="34" charset="-128"/>
              </a:rPr>
              <a:t>k</a:t>
            </a:r>
            <a:r>
              <a:rPr lang="en-GB" altLang="ja-JP" dirty="0" smtClean="0">
                <a:ea typeface="ＭＳ Ｐゴシック" panose="020B0600070205080204" pitchFamily="34" charset="-128"/>
              </a:rPr>
              <a:t>-</a:t>
            </a:r>
            <a:r>
              <a:rPr lang="en-GB" altLang="ja-JP" dirty="0" err="1" smtClean="0">
                <a:ea typeface="ＭＳ Ｐゴシック" panose="020B0600070205080204" pitchFamily="34" charset="-128"/>
              </a:rPr>
              <a:t>itemset</a:t>
            </a:r>
            <a:r>
              <a:rPr lang="en-GB" altLang="ja-JP" dirty="0" smtClean="0">
                <a:ea typeface="ＭＳ Ｐゴシック" panose="020B0600070205080204" pitchFamily="34" charset="-128"/>
              </a:rPr>
              <a:t> </a:t>
            </a:r>
            <a:r>
              <a:rPr lang="en-GB" altLang="ja-JP" i="1" dirty="0" smtClean="0">
                <a:ea typeface="ＭＳ Ｐゴシック" panose="020B0600070205080204" pitchFamily="34" charset="-128"/>
              </a:rPr>
              <a:t>w</a:t>
            </a:r>
            <a:r>
              <a:rPr lang="en-GB" altLang="ja-JP" dirty="0" smtClean="0">
                <a:ea typeface="ＭＳ Ｐゴシック" panose="020B0600070205080204" pitchFamily="34" charset="-128"/>
              </a:rPr>
              <a:t> consisting of items </a:t>
            </a:r>
            <a:r>
              <a:rPr lang="en-GB" altLang="ja-JP" i="1" dirty="0" smtClean="0">
                <a:ea typeface="ＭＳ Ｐゴシック" panose="020B0600070205080204" pitchFamily="34" charset="-128"/>
              </a:rPr>
              <a:t>w</a:t>
            </a:r>
            <a:r>
              <a:rPr lang="en-GB" altLang="ja-JP" dirty="0" smtClean="0">
                <a:ea typeface="ＭＳ Ｐゴシック" panose="020B0600070205080204" pitchFamily="34" charset="-128"/>
              </a:rPr>
              <a:t>[1], </a:t>
            </a:r>
            <a:r>
              <a:rPr lang="en-GB" altLang="ja-JP" i="1" dirty="0" smtClean="0">
                <a:ea typeface="ＭＳ Ｐゴシック" panose="020B0600070205080204" pitchFamily="34" charset="-128"/>
              </a:rPr>
              <a:t>w</a:t>
            </a:r>
            <a:r>
              <a:rPr lang="en-GB" altLang="ja-JP" dirty="0" smtClean="0">
                <a:ea typeface="ＭＳ Ｐゴシック" panose="020B0600070205080204" pitchFamily="34" charset="-128"/>
              </a:rPr>
              <a:t>[2], …, </a:t>
            </a:r>
            <a:r>
              <a:rPr lang="en-GB" altLang="ja-JP" i="1" dirty="0" smtClean="0">
                <a:ea typeface="ＭＳ Ｐゴシック" panose="020B0600070205080204" pitchFamily="34" charset="-128"/>
              </a:rPr>
              <a:t>w</a:t>
            </a:r>
            <a:r>
              <a:rPr lang="en-GB" altLang="ja-JP" dirty="0" smtClean="0">
                <a:ea typeface="ＭＳ Ｐゴシック" panose="020B0600070205080204" pitchFamily="34" charset="-128"/>
              </a:rPr>
              <a:t>[</a:t>
            </a:r>
            <a:r>
              <a:rPr lang="en-GB" altLang="ja-JP" i="1" dirty="0" smtClean="0">
                <a:ea typeface="ＭＳ Ｐゴシック" panose="020B0600070205080204" pitchFamily="34" charset="-128"/>
              </a:rPr>
              <a:t>k</a:t>
            </a:r>
            <a:r>
              <a:rPr lang="en-GB" altLang="ja-JP" dirty="0" smtClean="0">
                <a:ea typeface="ＭＳ Ｐゴシック" panose="020B0600070205080204" pitchFamily="34" charset="-128"/>
              </a:rPr>
              <a:t>], where </a:t>
            </a:r>
            <a:r>
              <a:rPr lang="en-GB" altLang="ja-JP" i="1" dirty="0" smtClean="0">
                <a:ea typeface="ＭＳ Ｐゴシック" panose="020B0600070205080204" pitchFamily="34" charset="-128"/>
              </a:rPr>
              <a:t>w</a:t>
            </a:r>
            <a:r>
              <a:rPr lang="en-GB" altLang="ja-JP" dirty="0" smtClean="0">
                <a:ea typeface="ＭＳ Ｐゴシック" panose="020B0600070205080204" pitchFamily="34" charset="-128"/>
              </a:rPr>
              <a:t>[1] &lt; </a:t>
            </a:r>
            <a:r>
              <a:rPr lang="en-GB" altLang="ja-JP" i="1" dirty="0" smtClean="0">
                <a:ea typeface="ＭＳ Ｐゴシック" panose="020B0600070205080204" pitchFamily="34" charset="-128"/>
              </a:rPr>
              <a:t>w</a:t>
            </a:r>
            <a:r>
              <a:rPr lang="en-GB" altLang="ja-JP" dirty="0" smtClean="0">
                <a:ea typeface="ＭＳ Ｐゴシック" panose="020B0600070205080204" pitchFamily="34" charset="-128"/>
              </a:rPr>
              <a:t>[2] &lt; … &lt; </a:t>
            </a:r>
            <a:r>
              <a:rPr lang="en-GB" altLang="ja-JP" i="1" dirty="0" smtClean="0">
                <a:ea typeface="ＭＳ Ｐゴシック" panose="020B0600070205080204" pitchFamily="34" charset="-128"/>
              </a:rPr>
              <a:t>w</a:t>
            </a:r>
            <a:r>
              <a:rPr lang="en-GB" altLang="ja-JP" dirty="0" smtClean="0">
                <a:ea typeface="ＭＳ Ｐゴシック" panose="020B0600070205080204" pitchFamily="34" charset="-128"/>
              </a:rPr>
              <a:t>[</a:t>
            </a:r>
            <a:r>
              <a:rPr lang="en-GB" altLang="ja-JP" i="1" dirty="0" smtClean="0">
                <a:ea typeface="ＭＳ Ｐゴシック" panose="020B0600070205080204" pitchFamily="34" charset="-128"/>
              </a:rPr>
              <a:t>k</a:t>
            </a:r>
            <a:r>
              <a:rPr lang="en-GB" altLang="ja-JP" dirty="0" smtClean="0">
                <a:ea typeface="ＭＳ Ｐゴシック" panose="020B0600070205080204" pitchFamily="34" charset="-128"/>
              </a:rPr>
              <a:t>] according to the total order. </a:t>
            </a:r>
            <a:endParaRPr lang="en-US" dirty="0" smtClean="0"/>
          </a:p>
        </p:txBody>
      </p:sp>
    </p:spTree>
    <p:extLst>
      <p:ext uri="{BB962C8B-B14F-4D97-AF65-F5344CB8AC3E}">
        <p14:creationId xmlns:p14="http://schemas.microsoft.com/office/powerpoint/2010/main" val="66176558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2"/>
          <p:cNvSpPr>
            <a:spLocks noGrp="1" noChangeArrowheads="1"/>
          </p:cNvSpPr>
          <p:nvPr>
            <p:ph type="title" idx="4294967295"/>
          </p:nvPr>
        </p:nvSpPr>
        <p:spPr>
          <a:xfrm>
            <a:off x="961053" y="859647"/>
            <a:ext cx="10515600" cy="1325563"/>
          </a:xfrm>
        </p:spPr>
        <p:txBody>
          <a:bodyPr/>
          <a:lstStyle/>
          <a:p>
            <a:r>
              <a:rPr lang="en-GB" b="1" dirty="0" smtClean="0">
                <a:solidFill>
                  <a:srgbClr val="FF0000"/>
                </a:solidFill>
              </a:rPr>
              <a:t>Details: the algorithm</a:t>
            </a:r>
            <a:r>
              <a:rPr lang="en-US" dirty="0">
                <a:solidFill>
                  <a:srgbClr val="FF0000"/>
                </a:solidFill>
              </a:rPr>
              <a:t> :</a:t>
            </a:r>
            <a:endParaRPr lang="en-US" b="1" dirty="0" smtClean="0">
              <a:solidFill>
                <a:srgbClr val="FF0000"/>
              </a:solidFill>
            </a:endParaRPr>
          </a:p>
        </p:txBody>
      </p:sp>
      <p:sp>
        <p:nvSpPr>
          <p:cNvPr id="25605" name="Rectangle 3"/>
          <p:cNvSpPr>
            <a:spLocks noGrp="1" noChangeArrowheads="1"/>
          </p:cNvSpPr>
          <p:nvPr>
            <p:ph type="body" idx="4294967295"/>
          </p:nvPr>
        </p:nvSpPr>
        <p:spPr>
          <a:xfrm>
            <a:off x="1091682" y="2018167"/>
            <a:ext cx="9246636" cy="4703308"/>
          </a:xfrm>
        </p:spPr>
        <p:txBody>
          <a:bodyPr>
            <a:normAutofit fontScale="92500" lnSpcReduction="20000"/>
          </a:bodyPr>
          <a:lstStyle/>
          <a:p>
            <a:pPr eaLnBrk="1" hangingPunct="1">
              <a:lnSpc>
                <a:spcPct val="90000"/>
              </a:lnSpc>
              <a:buFont typeface="Wingdings" panose="05000000000000000000" pitchFamily="2" charset="2"/>
              <a:buNone/>
            </a:pPr>
            <a:r>
              <a:rPr lang="en-US" altLang="ja-JP" sz="2100" b="1" dirty="0">
                <a:ea typeface="ＭＳ Ｐゴシック" panose="020B0600070205080204" pitchFamily="34" charset="-128"/>
              </a:rPr>
              <a:t>Algorithm </a:t>
            </a:r>
            <a:r>
              <a:rPr lang="en-US" altLang="ja-JP" sz="2100" b="1" dirty="0" err="1">
                <a:ea typeface="ＭＳ Ｐゴシック" panose="020B0600070205080204" pitchFamily="34" charset="-128"/>
              </a:rPr>
              <a:t>Apriori</a:t>
            </a:r>
            <a:r>
              <a:rPr lang="en-US" altLang="ja-JP" sz="2100" b="1" dirty="0">
                <a:ea typeface="ＭＳ Ｐゴシック" panose="020B0600070205080204" pitchFamily="34" charset="-128"/>
              </a:rPr>
              <a:t>(</a:t>
            </a:r>
            <a:r>
              <a:rPr lang="en-US" altLang="ja-JP" sz="2100" b="1" i="1" dirty="0">
                <a:ea typeface="ＭＳ Ｐゴシック" panose="020B0600070205080204" pitchFamily="34" charset="-128"/>
              </a:rPr>
              <a:t>T</a:t>
            </a:r>
            <a:r>
              <a:rPr lang="en-US" altLang="ja-JP" sz="2100" b="1" dirty="0">
                <a:ea typeface="ＭＳ Ｐゴシック" panose="020B0600070205080204" pitchFamily="34" charset="-128"/>
              </a:rPr>
              <a:t>)</a:t>
            </a:r>
            <a:r>
              <a:rPr lang="en-US" altLang="ja-JP" sz="2100" dirty="0">
                <a:ea typeface="ＭＳ Ｐゴシック" panose="020B0600070205080204" pitchFamily="34" charset="-128"/>
              </a:rPr>
              <a:t>	</a:t>
            </a:r>
          </a:p>
          <a:p>
            <a:pPr eaLnBrk="1" hangingPunct="1">
              <a:lnSpc>
                <a:spcPct val="90000"/>
              </a:lnSpc>
              <a:buFont typeface="Wingdings" panose="05000000000000000000" pitchFamily="2" charset="2"/>
              <a:buNone/>
            </a:pPr>
            <a:r>
              <a:rPr lang="en-US" altLang="ja-JP" sz="2100" i="1" dirty="0">
                <a:ea typeface="ＭＳ Ｐゴシック" panose="020B0600070205080204" pitchFamily="34" charset="-128"/>
              </a:rPr>
              <a:t>	C</a:t>
            </a:r>
            <a:r>
              <a:rPr lang="en-US" altLang="ja-JP" sz="2100" baseline="-25000" dirty="0">
                <a:ea typeface="ＭＳ Ｐゴシック" panose="020B0600070205080204" pitchFamily="34" charset="-128"/>
              </a:rPr>
              <a:t>1</a:t>
            </a:r>
            <a:r>
              <a:rPr lang="en-US" altLang="ja-JP" sz="2100" dirty="0">
                <a:ea typeface="ＭＳ Ｐゴシック" panose="020B0600070205080204" pitchFamily="34" charset="-128"/>
              </a:rPr>
              <a:t> </a:t>
            </a:r>
            <a:r>
              <a:rPr lang="en-US" altLang="ja-JP" sz="2100" dirty="0">
                <a:ea typeface="ＭＳ Ｐゴシック" panose="020B0600070205080204" pitchFamily="34" charset="-128"/>
                <a:sym typeface="Symbol" panose="05050102010706020507" pitchFamily="18" charset="2"/>
              </a:rPr>
              <a:t></a:t>
            </a:r>
            <a:r>
              <a:rPr lang="en-US" altLang="ja-JP" sz="2100" dirty="0">
                <a:ea typeface="ＭＳ Ｐゴシック" panose="020B0600070205080204" pitchFamily="34" charset="-128"/>
              </a:rPr>
              <a:t> </a:t>
            </a:r>
            <a:r>
              <a:rPr lang="en-US" altLang="ja-JP" sz="2100" dirty="0" err="1">
                <a:ea typeface="ＭＳ Ｐゴシック" panose="020B0600070205080204" pitchFamily="34" charset="-128"/>
              </a:rPr>
              <a:t>init</a:t>
            </a:r>
            <a:r>
              <a:rPr lang="en-US" altLang="ja-JP" sz="2100" dirty="0">
                <a:ea typeface="ＭＳ Ｐゴシック" panose="020B0600070205080204" pitchFamily="34" charset="-128"/>
              </a:rPr>
              <a:t>-pass(</a:t>
            </a:r>
            <a:r>
              <a:rPr lang="en-US" altLang="ja-JP" sz="2100" i="1" dirty="0">
                <a:ea typeface="ＭＳ Ｐゴシック" panose="020B0600070205080204" pitchFamily="34" charset="-128"/>
              </a:rPr>
              <a:t>T</a:t>
            </a:r>
            <a:r>
              <a:rPr lang="en-US" altLang="ja-JP" sz="2100" dirty="0">
                <a:ea typeface="ＭＳ Ｐゴシック" panose="020B0600070205080204" pitchFamily="34" charset="-128"/>
              </a:rPr>
              <a:t>);  		</a:t>
            </a:r>
          </a:p>
          <a:p>
            <a:pPr eaLnBrk="1" hangingPunct="1">
              <a:lnSpc>
                <a:spcPct val="90000"/>
              </a:lnSpc>
              <a:buFont typeface="Wingdings" panose="05000000000000000000" pitchFamily="2" charset="2"/>
              <a:buNone/>
            </a:pPr>
            <a:r>
              <a:rPr lang="en-US" altLang="ja-JP" sz="2100" i="1" dirty="0">
                <a:ea typeface="ＭＳ Ｐゴシック" panose="020B0600070205080204" pitchFamily="34" charset="-128"/>
              </a:rPr>
              <a:t>	F</a:t>
            </a:r>
            <a:r>
              <a:rPr lang="en-US" altLang="ja-JP" sz="2100" baseline="-25000" dirty="0">
                <a:ea typeface="ＭＳ Ｐゴシック" panose="020B0600070205080204" pitchFamily="34" charset="-128"/>
              </a:rPr>
              <a:t>1</a:t>
            </a:r>
            <a:r>
              <a:rPr lang="en-US" altLang="ja-JP" sz="2100" dirty="0">
                <a:ea typeface="ＭＳ Ｐゴシック" panose="020B0600070205080204" pitchFamily="34" charset="-128"/>
              </a:rPr>
              <a:t> </a:t>
            </a:r>
            <a:r>
              <a:rPr lang="en-US" altLang="ja-JP" sz="2100" dirty="0">
                <a:ea typeface="ＭＳ Ｐゴシック" panose="020B0600070205080204" pitchFamily="34" charset="-128"/>
                <a:sym typeface="Symbol" panose="05050102010706020507" pitchFamily="18" charset="2"/>
              </a:rPr>
              <a:t></a:t>
            </a:r>
            <a:r>
              <a:rPr lang="en-US" altLang="ja-JP" sz="2100" dirty="0">
                <a:ea typeface="ＭＳ Ｐゴシック" panose="020B0600070205080204" pitchFamily="34" charset="-128"/>
              </a:rPr>
              <a:t> {</a:t>
            </a:r>
            <a:r>
              <a:rPr lang="en-US" altLang="ja-JP" sz="2100" i="1" dirty="0">
                <a:ea typeface="ＭＳ Ｐゴシック" panose="020B0600070205080204" pitchFamily="34" charset="-128"/>
              </a:rPr>
              <a:t>f</a:t>
            </a:r>
            <a:r>
              <a:rPr lang="en-US" altLang="ja-JP" sz="2100" dirty="0">
                <a:ea typeface="ＭＳ Ｐゴシック" panose="020B0600070205080204" pitchFamily="34" charset="-128"/>
              </a:rPr>
              <a:t> | </a:t>
            </a:r>
            <a:r>
              <a:rPr lang="en-US" altLang="ja-JP" sz="2100" i="1" dirty="0">
                <a:ea typeface="ＭＳ Ｐゴシック" panose="020B0600070205080204" pitchFamily="34" charset="-128"/>
              </a:rPr>
              <a:t>f</a:t>
            </a:r>
            <a:r>
              <a:rPr lang="en-US" altLang="ja-JP" sz="2100" dirty="0">
                <a:ea typeface="ＭＳ Ｐゴシック" panose="020B0600070205080204" pitchFamily="34" charset="-128"/>
              </a:rPr>
              <a:t> </a:t>
            </a:r>
            <a:r>
              <a:rPr lang="en-US" altLang="ja-JP" sz="2100" dirty="0">
                <a:ea typeface="ＭＳ Ｐゴシック" panose="020B0600070205080204" pitchFamily="34" charset="-128"/>
                <a:sym typeface="Symbol" panose="05050102010706020507" pitchFamily="18" charset="2"/>
              </a:rPr>
              <a:t></a:t>
            </a:r>
            <a:r>
              <a:rPr lang="en-US" altLang="ja-JP" sz="2100" dirty="0">
                <a:ea typeface="ＭＳ Ｐゴシック" panose="020B0600070205080204" pitchFamily="34" charset="-128"/>
              </a:rPr>
              <a:t> </a:t>
            </a:r>
            <a:r>
              <a:rPr lang="en-US" altLang="ja-JP" sz="2100" i="1" dirty="0">
                <a:ea typeface="ＭＳ Ｐゴシック" panose="020B0600070205080204" pitchFamily="34" charset="-128"/>
              </a:rPr>
              <a:t>C</a:t>
            </a:r>
            <a:r>
              <a:rPr lang="en-US" altLang="ja-JP" sz="2100" baseline="-25000" dirty="0">
                <a:ea typeface="ＭＳ Ｐゴシック" panose="020B0600070205080204" pitchFamily="34" charset="-128"/>
              </a:rPr>
              <a:t>1</a:t>
            </a:r>
            <a:r>
              <a:rPr lang="en-US" altLang="ja-JP" sz="2100" dirty="0">
                <a:ea typeface="ＭＳ Ｐゴシック" panose="020B0600070205080204" pitchFamily="34" charset="-128"/>
              </a:rPr>
              <a:t>, </a:t>
            </a:r>
            <a:r>
              <a:rPr lang="en-US" altLang="ja-JP" sz="2100" i="1" dirty="0" err="1">
                <a:ea typeface="ＭＳ Ｐゴシック" panose="020B0600070205080204" pitchFamily="34" charset="-128"/>
              </a:rPr>
              <a:t>f</a:t>
            </a:r>
            <a:r>
              <a:rPr lang="en-US" altLang="ja-JP" sz="2100" dirty="0" err="1">
                <a:ea typeface="ＭＳ Ｐゴシック" panose="020B0600070205080204" pitchFamily="34" charset="-128"/>
              </a:rPr>
              <a:t>.count</a:t>
            </a:r>
            <a:r>
              <a:rPr lang="en-US" altLang="ja-JP" sz="2100" dirty="0">
                <a:ea typeface="ＭＳ Ｐゴシック" panose="020B0600070205080204" pitchFamily="34" charset="-128"/>
              </a:rPr>
              <a:t>/</a:t>
            </a:r>
            <a:r>
              <a:rPr lang="en-US" altLang="ja-JP" sz="2100" i="1" dirty="0">
                <a:ea typeface="ＭＳ Ｐゴシック" panose="020B0600070205080204" pitchFamily="34" charset="-128"/>
              </a:rPr>
              <a:t>n</a:t>
            </a:r>
            <a:r>
              <a:rPr lang="en-US" altLang="ja-JP" sz="2100" dirty="0">
                <a:ea typeface="ＭＳ Ｐゴシック" panose="020B0600070205080204" pitchFamily="34" charset="-128"/>
              </a:rPr>
              <a:t> </a:t>
            </a:r>
            <a:r>
              <a:rPr lang="en-US" altLang="ja-JP" sz="2100" dirty="0">
                <a:ea typeface="ＭＳ Ｐゴシック" panose="020B0600070205080204" pitchFamily="34" charset="-128"/>
                <a:sym typeface="Symbol" panose="05050102010706020507" pitchFamily="18" charset="2"/>
              </a:rPr>
              <a:t></a:t>
            </a:r>
            <a:r>
              <a:rPr lang="en-US" altLang="ja-JP" sz="2100" dirty="0">
                <a:ea typeface="ＭＳ Ｐゴシック" panose="020B0600070205080204" pitchFamily="34" charset="-128"/>
              </a:rPr>
              <a:t> </a:t>
            </a:r>
            <a:r>
              <a:rPr lang="en-US" altLang="ja-JP" sz="2100" i="1" dirty="0" err="1">
                <a:ea typeface="ＭＳ Ｐゴシック" panose="020B0600070205080204" pitchFamily="34" charset="-128"/>
              </a:rPr>
              <a:t>minsup</a:t>
            </a:r>
            <a:r>
              <a:rPr lang="en-US" altLang="ja-JP" sz="2100" dirty="0">
                <a:ea typeface="ＭＳ Ｐゴシック" panose="020B0600070205080204" pitchFamily="34" charset="-128"/>
              </a:rPr>
              <a:t>};    // n: no. of transactions in T</a:t>
            </a:r>
          </a:p>
          <a:p>
            <a:pPr eaLnBrk="1" hangingPunct="1">
              <a:lnSpc>
                <a:spcPct val="90000"/>
              </a:lnSpc>
              <a:buFont typeface="Wingdings" panose="05000000000000000000" pitchFamily="2" charset="2"/>
              <a:buNone/>
            </a:pPr>
            <a:r>
              <a:rPr lang="en-US" altLang="ja-JP" sz="2100" b="1" dirty="0">
                <a:ea typeface="ＭＳ Ｐゴシック" panose="020B0600070205080204" pitchFamily="34" charset="-128"/>
              </a:rPr>
              <a:t>	for</a:t>
            </a:r>
            <a:r>
              <a:rPr lang="en-US" altLang="ja-JP" sz="2100" dirty="0">
                <a:ea typeface="ＭＳ Ｐゴシック" panose="020B0600070205080204" pitchFamily="34" charset="-128"/>
              </a:rPr>
              <a:t> (</a:t>
            </a:r>
            <a:r>
              <a:rPr lang="en-US" altLang="ja-JP" sz="2100" i="1" dirty="0">
                <a:ea typeface="ＭＳ Ｐゴシック" panose="020B0600070205080204" pitchFamily="34" charset="-128"/>
              </a:rPr>
              <a:t>k</a:t>
            </a:r>
            <a:r>
              <a:rPr lang="en-US" altLang="ja-JP" sz="2100" dirty="0">
                <a:ea typeface="ＭＳ Ｐゴシック" panose="020B0600070205080204" pitchFamily="34" charset="-128"/>
              </a:rPr>
              <a:t> = 2; </a:t>
            </a:r>
            <a:r>
              <a:rPr lang="en-US" altLang="ja-JP" sz="2100" i="1" dirty="0">
                <a:ea typeface="ＭＳ Ｐゴシック" panose="020B0600070205080204" pitchFamily="34" charset="-128"/>
              </a:rPr>
              <a:t>F</a:t>
            </a:r>
            <a:r>
              <a:rPr lang="en-US" altLang="ja-JP" sz="2100" baseline="-25000" dirty="0">
                <a:ea typeface="ＭＳ Ｐゴシック" panose="020B0600070205080204" pitchFamily="34" charset="-128"/>
              </a:rPr>
              <a:t>k-1</a:t>
            </a:r>
            <a:r>
              <a:rPr lang="en-US" altLang="ja-JP" sz="2100" dirty="0">
                <a:ea typeface="ＭＳ Ｐゴシック" panose="020B0600070205080204" pitchFamily="34" charset="-128"/>
              </a:rPr>
              <a:t> </a:t>
            </a:r>
            <a:r>
              <a:rPr lang="en-US" altLang="ja-JP" sz="2100" dirty="0">
                <a:ea typeface="ＭＳ Ｐゴシック" panose="020B0600070205080204" pitchFamily="34" charset="-128"/>
                <a:sym typeface="Symbol" panose="05050102010706020507" pitchFamily="18" charset="2"/>
              </a:rPr>
              <a:t></a:t>
            </a:r>
            <a:r>
              <a:rPr lang="en-US" altLang="ja-JP" sz="2100" dirty="0">
                <a:ea typeface="ＭＳ Ｐゴシック" panose="020B0600070205080204" pitchFamily="34" charset="-128"/>
              </a:rPr>
              <a:t> </a:t>
            </a:r>
            <a:r>
              <a:rPr lang="en-US" altLang="ja-JP" sz="2100" dirty="0">
                <a:ea typeface="ＭＳ Ｐゴシック" panose="020B0600070205080204" pitchFamily="34" charset="-128"/>
                <a:sym typeface="Symbol" panose="05050102010706020507" pitchFamily="18" charset="2"/>
              </a:rPr>
              <a:t></a:t>
            </a:r>
            <a:r>
              <a:rPr lang="en-US" altLang="ja-JP" sz="2100" dirty="0">
                <a:ea typeface="ＭＳ Ｐゴシック" panose="020B0600070205080204" pitchFamily="34" charset="-128"/>
              </a:rPr>
              <a:t>; </a:t>
            </a:r>
            <a:r>
              <a:rPr lang="en-US" altLang="ja-JP" sz="2100" i="1" dirty="0">
                <a:ea typeface="ＭＳ Ｐゴシック" panose="020B0600070205080204" pitchFamily="34" charset="-128"/>
              </a:rPr>
              <a:t>k</a:t>
            </a:r>
            <a:r>
              <a:rPr lang="en-US" altLang="ja-JP" sz="2100" dirty="0">
                <a:ea typeface="ＭＳ Ｐゴシック" panose="020B0600070205080204" pitchFamily="34" charset="-128"/>
              </a:rPr>
              <a:t>++) </a:t>
            </a:r>
            <a:r>
              <a:rPr lang="en-US" altLang="ja-JP" sz="2100" b="1" dirty="0">
                <a:ea typeface="ＭＳ Ｐゴシック" panose="020B0600070205080204" pitchFamily="34" charset="-128"/>
              </a:rPr>
              <a:t>do	</a:t>
            </a:r>
            <a:r>
              <a:rPr lang="en-US" altLang="ja-JP" sz="2100" dirty="0">
                <a:ea typeface="ＭＳ Ｐゴシック" panose="020B0600070205080204" pitchFamily="34" charset="-128"/>
              </a:rPr>
              <a:t>	</a:t>
            </a:r>
          </a:p>
          <a:p>
            <a:pPr eaLnBrk="1" hangingPunct="1">
              <a:lnSpc>
                <a:spcPct val="90000"/>
              </a:lnSpc>
              <a:buFont typeface="Wingdings" panose="05000000000000000000" pitchFamily="2" charset="2"/>
              <a:buNone/>
            </a:pPr>
            <a:r>
              <a:rPr lang="en-US" altLang="ja-JP" sz="2100" i="1" dirty="0">
                <a:ea typeface="ＭＳ Ｐゴシック" panose="020B0600070205080204" pitchFamily="34" charset="-128"/>
              </a:rPr>
              <a:t>		</a:t>
            </a:r>
            <a:r>
              <a:rPr lang="en-US" altLang="ja-JP" sz="2100" i="1" dirty="0" err="1">
                <a:ea typeface="ＭＳ Ｐゴシック" panose="020B0600070205080204" pitchFamily="34" charset="-128"/>
              </a:rPr>
              <a:t>C</a:t>
            </a:r>
            <a:r>
              <a:rPr lang="en-US" altLang="ja-JP" sz="2100" i="1" baseline="-25000" dirty="0" err="1">
                <a:ea typeface="ＭＳ Ｐゴシック" panose="020B0600070205080204" pitchFamily="34" charset="-128"/>
              </a:rPr>
              <a:t>k</a:t>
            </a:r>
            <a:r>
              <a:rPr lang="en-US" altLang="ja-JP" sz="2100" dirty="0">
                <a:ea typeface="ＭＳ Ｐゴシック" panose="020B0600070205080204" pitchFamily="34" charset="-128"/>
              </a:rPr>
              <a:t> </a:t>
            </a:r>
            <a:r>
              <a:rPr lang="en-US" altLang="ja-JP" sz="2100" dirty="0">
                <a:ea typeface="ＭＳ Ｐゴシック" panose="020B0600070205080204" pitchFamily="34" charset="-128"/>
                <a:sym typeface="Symbol" panose="05050102010706020507" pitchFamily="18" charset="2"/>
              </a:rPr>
              <a:t></a:t>
            </a:r>
            <a:r>
              <a:rPr lang="en-US" altLang="ja-JP" sz="2100" dirty="0">
                <a:ea typeface="ＭＳ Ｐゴシック" panose="020B0600070205080204" pitchFamily="34" charset="-128"/>
              </a:rPr>
              <a:t> candidate-gen(</a:t>
            </a:r>
            <a:r>
              <a:rPr lang="en-US" altLang="ja-JP" sz="2100" i="1" dirty="0">
                <a:ea typeface="ＭＳ Ｐゴシック" panose="020B0600070205080204" pitchFamily="34" charset="-128"/>
              </a:rPr>
              <a:t>F</a:t>
            </a:r>
            <a:r>
              <a:rPr lang="en-US" altLang="ja-JP" sz="2100" i="1" baseline="-25000" dirty="0">
                <a:ea typeface="ＭＳ Ｐゴシック" panose="020B0600070205080204" pitchFamily="34" charset="-128"/>
              </a:rPr>
              <a:t>k</a:t>
            </a:r>
            <a:r>
              <a:rPr lang="en-US" altLang="ja-JP" sz="2100" baseline="-25000" dirty="0">
                <a:ea typeface="ＭＳ Ｐゴシック" panose="020B0600070205080204" pitchFamily="34" charset="-128"/>
              </a:rPr>
              <a:t>-1</a:t>
            </a:r>
            <a:r>
              <a:rPr lang="en-US" altLang="ja-JP" sz="2100" dirty="0">
                <a:ea typeface="ＭＳ Ｐゴシック" panose="020B0600070205080204" pitchFamily="34" charset="-128"/>
              </a:rPr>
              <a:t>);</a:t>
            </a:r>
          </a:p>
          <a:p>
            <a:pPr eaLnBrk="1" hangingPunct="1">
              <a:lnSpc>
                <a:spcPct val="90000"/>
              </a:lnSpc>
              <a:buFont typeface="Wingdings" panose="05000000000000000000" pitchFamily="2" charset="2"/>
              <a:buNone/>
            </a:pPr>
            <a:r>
              <a:rPr lang="en-US" altLang="ja-JP" sz="2100" b="1" dirty="0">
                <a:ea typeface="ＭＳ Ｐゴシック" panose="020B0600070205080204" pitchFamily="34" charset="-128"/>
              </a:rPr>
              <a:t>		for</a:t>
            </a:r>
            <a:r>
              <a:rPr lang="en-US" altLang="ja-JP" sz="2100" dirty="0">
                <a:ea typeface="ＭＳ Ｐゴシック" panose="020B0600070205080204" pitchFamily="34" charset="-128"/>
              </a:rPr>
              <a:t> each transaction </a:t>
            </a:r>
            <a:r>
              <a:rPr lang="en-US" altLang="ja-JP" sz="2100" i="1" dirty="0">
                <a:ea typeface="ＭＳ Ｐゴシック" panose="020B0600070205080204" pitchFamily="34" charset="-128"/>
              </a:rPr>
              <a:t>t</a:t>
            </a:r>
            <a:r>
              <a:rPr lang="en-US" altLang="ja-JP" sz="2100" dirty="0">
                <a:ea typeface="ＭＳ Ｐゴシック" panose="020B0600070205080204" pitchFamily="34" charset="-128"/>
              </a:rPr>
              <a:t> </a:t>
            </a:r>
            <a:r>
              <a:rPr lang="en-US" altLang="ja-JP" sz="2100" dirty="0">
                <a:ea typeface="ＭＳ Ｐゴシック" panose="020B0600070205080204" pitchFamily="34" charset="-128"/>
                <a:sym typeface="Symbol" panose="05050102010706020507" pitchFamily="18" charset="2"/>
              </a:rPr>
              <a:t></a:t>
            </a:r>
            <a:r>
              <a:rPr lang="en-US" altLang="ja-JP" sz="2100" dirty="0">
                <a:ea typeface="ＭＳ Ｐゴシック" panose="020B0600070205080204" pitchFamily="34" charset="-128"/>
              </a:rPr>
              <a:t> </a:t>
            </a:r>
            <a:r>
              <a:rPr lang="en-US" altLang="ja-JP" sz="2100" i="1" dirty="0">
                <a:ea typeface="ＭＳ Ｐゴシック" panose="020B0600070205080204" pitchFamily="34" charset="-128"/>
              </a:rPr>
              <a:t>T</a:t>
            </a:r>
            <a:r>
              <a:rPr lang="en-US" altLang="ja-JP" sz="2100" dirty="0">
                <a:ea typeface="ＭＳ Ｐゴシック" panose="020B0600070205080204" pitchFamily="34" charset="-128"/>
              </a:rPr>
              <a:t> </a:t>
            </a:r>
            <a:r>
              <a:rPr lang="en-US" altLang="ja-JP" sz="2100" b="1" dirty="0">
                <a:ea typeface="ＭＳ Ｐゴシック" panose="020B0600070205080204" pitchFamily="34" charset="-128"/>
              </a:rPr>
              <a:t>do	</a:t>
            </a:r>
          </a:p>
          <a:p>
            <a:pPr eaLnBrk="1" hangingPunct="1">
              <a:lnSpc>
                <a:spcPct val="90000"/>
              </a:lnSpc>
              <a:buFont typeface="Wingdings" panose="05000000000000000000" pitchFamily="2" charset="2"/>
              <a:buNone/>
            </a:pPr>
            <a:r>
              <a:rPr lang="en-US" altLang="ja-JP" sz="2100" b="1" dirty="0">
                <a:ea typeface="ＭＳ Ｐゴシック" panose="020B0600070205080204" pitchFamily="34" charset="-128"/>
              </a:rPr>
              <a:t>		    for</a:t>
            </a:r>
            <a:r>
              <a:rPr lang="en-US" altLang="ja-JP" sz="2100" dirty="0">
                <a:ea typeface="ＭＳ Ｐゴシック" panose="020B0600070205080204" pitchFamily="34" charset="-128"/>
              </a:rPr>
              <a:t> each candidate </a:t>
            </a:r>
            <a:r>
              <a:rPr lang="en-US" altLang="ja-JP" sz="2100" i="1" dirty="0">
                <a:ea typeface="ＭＳ Ｐゴシック" panose="020B0600070205080204" pitchFamily="34" charset="-128"/>
              </a:rPr>
              <a:t>c</a:t>
            </a:r>
            <a:r>
              <a:rPr lang="en-US" altLang="ja-JP" sz="2100" dirty="0">
                <a:ea typeface="ＭＳ Ｐゴシック" panose="020B0600070205080204" pitchFamily="34" charset="-128"/>
              </a:rPr>
              <a:t> </a:t>
            </a:r>
            <a:r>
              <a:rPr lang="en-US" altLang="ja-JP" sz="2100" dirty="0">
                <a:ea typeface="ＭＳ Ｐゴシック" panose="020B0600070205080204" pitchFamily="34" charset="-128"/>
                <a:sym typeface="Symbol" panose="05050102010706020507" pitchFamily="18" charset="2"/>
              </a:rPr>
              <a:t></a:t>
            </a:r>
            <a:r>
              <a:rPr lang="en-US" altLang="ja-JP" sz="2100" dirty="0">
                <a:ea typeface="ＭＳ Ｐゴシック" panose="020B0600070205080204" pitchFamily="34" charset="-128"/>
              </a:rPr>
              <a:t> </a:t>
            </a:r>
            <a:r>
              <a:rPr lang="en-US" altLang="ja-JP" sz="2100" i="1" dirty="0" err="1">
                <a:ea typeface="ＭＳ Ｐゴシック" panose="020B0600070205080204" pitchFamily="34" charset="-128"/>
              </a:rPr>
              <a:t>C</a:t>
            </a:r>
            <a:r>
              <a:rPr lang="en-US" altLang="ja-JP" sz="2100" i="1" baseline="-25000" dirty="0" err="1">
                <a:ea typeface="ＭＳ Ｐゴシック" panose="020B0600070205080204" pitchFamily="34" charset="-128"/>
              </a:rPr>
              <a:t>k</a:t>
            </a:r>
            <a:r>
              <a:rPr lang="en-US" altLang="ja-JP" sz="2100" dirty="0">
                <a:ea typeface="ＭＳ Ｐゴシック" panose="020B0600070205080204" pitchFamily="34" charset="-128"/>
              </a:rPr>
              <a:t> </a:t>
            </a:r>
            <a:r>
              <a:rPr lang="en-US" altLang="ja-JP" sz="2100" b="1" dirty="0">
                <a:ea typeface="ＭＳ Ｐゴシック" panose="020B0600070205080204" pitchFamily="34" charset="-128"/>
              </a:rPr>
              <a:t>do</a:t>
            </a:r>
            <a:r>
              <a:rPr lang="en-US" altLang="ja-JP" sz="2100" dirty="0">
                <a:ea typeface="ＭＳ Ｐゴシック" panose="020B0600070205080204" pitchFamily="34" charset="-128"/>
              </a:rPr>
              <a:t>  	</a:t>
            </a:r>
          </a:p>
          <a:p>
            <a:pPr eaLnBrk="1" hangingPunct="1">
              <a:lnSpc>
                <a:spcPct val="90000"/>
              </a:lnSpc>
              <a:buFont typeface="Wingdings" panose="05000000000000000000" pitchFamily="2" charset="2"/>
              <a:buNone/>
            </a:pPr>
            <a:r>
              <a:rPr lang="en-US" altLang="ja-JP" sz="2100" b="1" dirty="0">
                <a:ea typeface="ＭＳ Ｐゴシック" panose="020B0600070205080204" pitchFamily="34" charset="-128"/>
              </a:rPr>
              <a:t>			if</a:t>
            </a:r>
            <a:r>
              <a:rPr lang="en-US" altLang="ja-JP" sz="2100" dirty="0">
                <a:ea typeface="ＭＳ Ｐゴシック" panose="020B0600070205080204" pitchFamily="34" charset="-128"/>
              </a:rPr>
              <a:t> </a:t>
            </a:r>
            <a:r>
              <a:rPr lang="en-US" altLang="ja-JP" sz="2100" i="1" dirty="0">
                <a:ea typeface="ＭＳ Ｐゴシック" panose="020B0600070205080204" pitchFamily="34" charset="-128"/>
              </a:rPr>
              <a:t>c</a:t>
            </a:r>
            <a:r>
              <a:rPr lang="en-US" altLang="ja-JP" sz="2100" dirty="0">
                <a:ea typeface="ＭＳ Ｐゴシック" panose="020B0600070205080204" pitchFamily="34" charset="-128"/>
              </a:rPr>
              <a:t> is contained in </a:t>
            </a:r>
            <a:r>
              <a:rPr lang="en-US" altLang="ja-JP" sz="2100" i="1" dirty="0">
                <a:ea typeface="ＭＳ Ｐゴシック" panose="020B0600070205080204" pitchFamily="34" charset="-128"/>
              </a:rPr>
              <a:t>t</a:t>
            </a:r>
            <a:r>
              <a:rPr lang="en-US" altLang="ja-JP" sz="2100" dirty="0">
                <a:ea typeface="ＭＳ Ｐゴシック" panose="020B0600070205080204" pitchFamily="34" charset="-128"/>
              </a:rPr>
              <a:t> </a:t>
            </a:r>
            <a:r>
              <a:rPr lang="en-US" altLang="ja-JP" sz="2100" b="1" dirty="0">
                <a:ea typeface="ＭＳ Ｐゴシック" panose="020B0600070205080204" pitchFamily="34" charset="-128"/>
              </a:rPr>
              <a:t>then</a:t>
            </a:r>
            <a:r>
              <a:rPr lang="en-US" altLang="ja-JP" sz="2100" dirty="0">
                <a:ea typeface="ＭＳ Ｐゴシック" panose="020B0600070205080204" pitchFamily="34" charset="-128"/>
              </a:rPr>
              <a:t>			</a:t>
            </a:r>
          </a:p>
          <a:p>
            <a:pPr eaLnBrk="1" hangingPunct="1">
              <a:lnSpc>
                <a:spcPct val="90000"/>
              </a:lnSpc>
              <a:buFont typeface="Wingdings" panose="05000000000000000000" pitchFamily="2" charset="2"/>
              <a:buNone/>
            </a:pPr>
            <a:r>
              <a:rPr lang="en-US" altLang="ja-JP" sz="2100" i="1" dirty="0">
                <a:ea typeface="ＭＳ Ｐゴシック" panose="020B0600070205080204" pitchFamily="34" charset="-128"/>
              </a:rPr>
              <a:t>			   </a:t>
            </a:r>
            <a:r>
              <a:rPr lang="en-US" altLang="ja-JP" sz="2100" i="1" dirty="0" err="1">
                <a:ea typeface="ＭＳ Ｐゴシック" panose="020B0600070205080204" pitchFamily="34" charset="-128"/>
              </a:rPr>
              <a:t>c</a:t>
            </a:r>
            <a:r>
              <a:rPr lang="en-US" altLang="ja-JP" sz="2100" dirty="0" err="1">
                <a:ea typeface="ＭＳ Ｐゴシック" panose="020B0600070205080204" pitchFamily="34" charset="-128"/>
              </a:rPr>
              <a:t>.</a:t>
            </a:r>
            <a:r>
              <a:rPr lang="en-US" altLang="ja-JP" sz="2100" i="1" dirty="0" err="1">
                <a:ea typeface="ＭＳ Ｐゴシック" panose="020B0600070205080204" pitchFamily="34" charset="-128"/>
              </a:rPr>
              <a:t>count</a:t>
            </a:r>
            <a:r>
              <a:rPr lang="en-US" altLang="ja-JP" sz="2100" dirty="0">
                <a:ea typeface="ＭＳ Ｐゴシック" panose="020B0600070205080204" pitchFamily="34" charset="-128"/>
              </a:rPr>
              <a:t>++; </a:t>
            </a:r>
          </a:p>
          <a:p>
            <a:pPr eaLnBrk="1" hangingPunct="1">
              <a:lnSpc>
                <a:spcPct val="90000"/>
              </a:lnSpc>
              <a:buFont typeface="Wingdings" panose="05000000000000000000" pitchFamily="2" charset="2"/>
              <a:buNone/>
            </a:pPr>
            <a:r>
              <a:rPr lang="en-US" altLang="ja-JP" sz="2100" b="1" dirty="0">
                <a:ea typeface="ＭＳ Ｐゴシック" panose="020B0600070205080204" pitchFamily="34" charset="-128"/>
              </a:rPr>
              <a:t>		    end</a:t>
            </a:r>
            <a:r>
              <a:rPr lang="en-US" altLang="ja-JP" sz="2100" dirty="0">
                <a:ea typeface="ＭＳ Ｐゴシック" panose="020B0600070205080204" pitchFamily="34" charset="-128"/>
              </a:rPr>
              <a:t>	</a:t>
            </a:r>
          </a:p>
          <a:p>
            <a:pPr eaLnBrk="1" hangingPunct="1">
              <a:lnSpc>
                <a:spcPct val="90000"/>
              </a:lnSpc>
              <a:buFont typeface="Wingdings" panose="05000000000000000000" pitchFamily="2" charset="2"/>
              <a:buNone/>
            </a:pPr>
            <a:r>
              <a:rPr lang="en-US" altLang="ja-JP" sz="2100" b="1" dirty="0">
                <a:ea typeface="ＭＳ Ｐゴシック" panose="020B0600070205080204" pitchFamily="34" charset="-128"/>
              </a:rPr>
              <a:t>		end</a:t>
            </a:r>
            <a:r>
              <a:rPr lang="en-US" altLang="ja-JP" sz="2100" dirty="0">
                <a:ea typeface="ＭＳ Ｐゴシック" panose="020B0600070205080204" pitchFamily="34" charset="-128"/>
              </a:rPr>
              <a:t>	</a:t>
            </a:r>
          </a:p>
          <a:p>
            <a:pPr eaLnBrk="1" hangingPunct="1">
              <a:lnSpc>
                <a:spcPct val="90000"/>
              </a:lnSpc>
              <a:buFont typeface="Wingdings" panose="05000000000000000000" pitchFamily="2" charset="2"/>
              <a:buNone/>
            </a:pPr>
            <a:r>
              <a:rPr lang="en-US" altLang="ja-JP" sz="2100" i="1" dirty="0">
                <a:ea typeface="ＭＳ Ｐゴシック" panose="020B0600070205080204" pitchFamily="34" charset="-128"/>
              </a:rPr>
              <a:t>	       </a:t>
            </a:r>
            <a:r>
              <a:rPr lang="en-US" altLang="ja-JP" sz="2100" i="1" dirty="0" err="1">
                <a:ea typeface="ＭＳ Ｐゴシック" panose="020B0600070205080204" pitchFamily="34" charset="-128"/>
              </a:rPr>
              <a:t>F</a:t>
            </a:r>
            <a:r>
              <a:rPr lang="en-US" altLang="ja-JP" sz="2100" i="1" baseline="-25000" dirty="0" err="1">
                <a:ea typeface="ＭＳ Ｐゴシック" panose="020B0600070205080204" pitchFamily="34" charset="-128"/>
              </a:rPr>
              <a:t>k</a:t>
            </a:r>
            <a:r>
              <a:rPr lang="en-US" altLang="ja-JP" sz="2100" dirty="0">
                <a:ea typeface="ＭＳ Ｐゴシック" panose="020B0600070205080204" pitchFamily="34" charset="-128"/>
              </a:rPr>
              <a:t> </a:t>
            </a:r>
            <a:r>
              <a:rPr lang="en-US" altLang="ja-JP" sz="2100" dirty="0">
                <a:ea typeface="ＭＳ Ｐゴシック" panose="020B0600070205080204" pitchFamily="34" charset="-128"/>
                <a:sym typeface="Symbol" panose="05050102010706020507" pitchFamily="18" charset="2"/>
              </a:rPr>
              <a:t></a:t>
            </a:r>
            <a:r>
              <a:rPr lang="en-US" altLang="ja-JP" sz="2100" dirty="0">
                <a:ea typeface="ＭＳ Ｐゴシック" panose="020B0600070205080204" pitchFamily="34" charset="-128"/>
              </a:rPr>
              <a:t> {</a:t>
            </a:r>
            <a:r>
              <a:rPr lang="en-US" altLang="ja-JP" sz="2100" i="1" dirty="0">
                <a:ea typeface="ＭＳ Ｐゴシック" panose="020B0600070205080204" pitchFamily="34" charset="-128"/>
              </a:rPr>
              <a:t>c</a:t>
            </a:r>
            <a:r>
              <a:rPr lang="en-US" altLang="ja-JP" sz="2100" dirty="0">
                <a:ea typeface="ＭＳ Ｐゴシック" panose="020B0600070205080204" pitchFamily="34" charset="-128"/>
              </a:rPr>
              <a:t> </a:t>
            </a:r>
            <a:r>
              <a:rPr lang="en-US" altLang="ja-JP" sz="2100" dirty="0">
                <a:ea typeface="ＭＳ Ｐゴシック" panose="020B0600070205080204" pitchFamily="34" charset="-128"/>
                <a:sym typeface="Symbol" panose="05050102010706020507" pitchFamily="18" charset="2"/>
              </a:rPr>
              <a:t></a:t>
            </a:r>
            <a:r>
              <a:rPr lang="en-US" altLang="ja-JP" sz="2100" dirty="0">
                <a:ea typeface="ＭＳ Ｐゴシック" panose="020B0600070205080204" pitchFamily="34" charset="-128"/>
              </a:rPr>
              <a:t> </a:t>
            </a:r>
            <a:r>
              <a:rPr lang="en-US" altLang="ja-JP" sz="2100" i="1" dirty="0" err="1">
                <a:ea typeface="ＭＳ Ｐゴシック" panose="020B0600070205080204" pitchFamily="34" charset="-128"/>
              </a:rPr>
              <a:t>C</a:t>
            </a:r>
            <a:r>
              <a:rPr lang="en-US" altLang="ja-JP" sz="2100" i="1" baseline="-25000" dirty="0" err="1">
                <a:ea typeface="ＭＳ Ｐゴシック" panose="020B0600070205080204" pitchFamily="34" charset="-128"/>
              </a:rPr>
              <a:t>k</a:t>
            </a:r>
            <a:r>
              <a:rPr lang="en-US" altLang="ja-JP" sz="2100" dirty="0">
                <a:ea typeface="ＭＳ Ｐゴシック" panose="020B0600070205080204" pitchFamily="34" charset="-128"/>
              </a:rPr>
              <a:t> | </a:t>
            </a:r>
            <a:r>
              <a:rPr lang="en-US" altLang="ja-JP" sz="2100" i="1" dirty="0" err="1">
                <a:ea typeface="ＭＳ Ｐゴシック" panose="020B0600070205080204" pitchFamily="34" charset="-128"/>
              </a:rPr>
              <a:t>c</a:t>
            </a:r>
            <a:r>
              <a:rPr lang="en-US" altLang="ja-JP" sz="2100" dirty="0" err="1">
                <a:ea typeface="ＭＳ Ｐゴシック" panose="020B0600070205080204" pitchFamily="34" charset="-128"/>
              </a:rPr>
              <a:t>.</a:t>
            </a:r>
            <a:r>
              <a:rPr lang="en-US" altLang="ja-JP" sz="2100" i="1" dirty="0" err="1">
                <a:ea typeface="ＭＳ Ｐゴシック" panose="020B0600070205080204" pitchFamily="34" charset="-128"/>
              </a:rPr>
              <a:t>count</a:t>
            </a:r>
            <a:r>
              <a:rPr lang="en-US" altLang="ja-JP" sz="2100" i="1" dirty="0">
                <a:ea typeface="ＭＳ Ｐゴシック" panose="020B0600070205080204" pitchFamily="34" charset="-128"/>
              </a:rPr>
              <a:t>/n</a:t>
            </a:r>
            <a:r>
              <a:rPr lang="en-US" altLang="ja-JP" sz="2100" dirty="0">
                <a:ea typeface="ＭＳ Ｐゴシック" panose="020B0600070205080204" pitchFamily="34" charset="-128"/>
              </a:rPr>
              <a:t> </a:t>
            </a:r>
            <a:r>
              <a:rPr lang="en-US" altLang="ja-JP" sz="2100" dirty="0">
                <a:ea typeface="ＭＳ Ｐゴシック" panose="020B0600070205080204" pitchFamily="34" charset="-128"/>
                <a:sym typeface="Symbol" panose="05050102010706020507" pitchFamily="18" charset="2"/>
              </a:rPr>
              <a:t></a:t>
            </a:r>
            <a:r>
              <a:rPr lang="en-US" altLang="ja-JP" sz="2100" dirty="0">
                <a:ea typeface="ＭＳ Ｐゴシック" panose="020B0600070205080204" pitchFamily="34" charset="-128"/>
              </a:rPr>
              <a:t> </a:t>
            </a:r>
            <a:r>
              <a:rPr lang="en-US" altLang="ja-JP" sz="2100" i="1" dirty="0" err="1">
                <a:ea typeface="ＭＳ Ｐゴシック" panose="020B0600070205080204" pitchFamily="34" charset="-128"/>
              </a:rPr>
              <a:t>minsup</a:t>
            </a:r>
            <a:r>
              <a:rPr lang="en-US" altLang="ja-JP" sz="2100" dirty="0">
                <a:ea typeface="ＭＳ Ｐゴシック" panose="020B0600070205080204" pitchFamily="34" charset="-128"/>
              </a:rPr>
              <a:t>}	</a:t>
            </a:r>
          </a:p>
          <a:p>
            <a:pPr eaLnBrk="1" hangingPunct="1">
              <a:lnSpc>
                <a:spcPct val="90000"/>
              </a:lnSpc>
              <a:buFont typeface="Wingdings" panose="05000000000000000000" pitchFamily="2" charset="2"/>
              <a:buNone/>
            </a:pPr>
            <a:r>
              <a:rPr lang="en-US" altLang="ja-JP" sz="2100" b="1" dirty="0">
                <a:ea typeface="ＭＳ Ｐゴシック" panose="020B0600070205080204" pitchFamily="34" charset="-128"/>
              </a:rPr>
              <a:t>	end</a:t>
            </a:r>
            <a:r>
              <a:rPr lang="en-US" altLang="ja-JP" sz="2100" dirty="0">
                <a:ea typeface="ＭＳ Ｐゴシック" panose="020B0600070205080204" pitchFamily="34" charset="-128"/>
              </a:rPr>
              <a:t>	</a:t>
            </a:r>
          </a:p>
          <a:p>
            <a:pPr eaLnBrk="1" hangingPunct="1">
              <a:lnSpc>
                <a:spcPct val="90000"/>
              </a:lnSpc>
              <a:buFont typeface="Wingdings" panose="05000000000000000000" pitchFamily="2" charset="2"/>
              <a:buNone/>
            </a:pPr>
            <a:r>
              <a:rPr lang="en-US" altLang="ja-JP" sz="2100" dirty="0">
                <a:ea typeface="ＭＳ Ｐゴシック" panose="020B0600070205080204" pitchFamily="34" charset="-128"/>
              </a:rPr>
              <a:t>return </a:t>
            </a:r>
            <a:r>
              <a:rPr lang="en-US" altLang="ja-JP" sz="2100" i="1" dirty="0">
                <a:ea typeface="ＭＳ Ｐゴシック" panose="020B0600070205080204" pitchFamily="34" charset="-128"/>
              </a:rPr>
              <a:t>F</a:t>
            </a:r>
            <a:r>
              <a:rPr lang="en-US" altLang="ja-JP" sz="2100" dirty="0">
                <a:ea typeface="ＭＳ Ｐゴシック" panose="020B0600070205080204" pitchFamily="34" charset="-128"/>
              </a:rPr>
              <a:t> </a:t>
            </a:r>
            <a:r>
              <a:rPr lang="en-US" altLang="ja-JP" sz="2100" dirty="0">
                <a:ea typeface="ＭＳ Ｐゴシック" panose="020B0600070205080204" pitchFamily="34" charset="-128"/>
                <a:sym typeface="Symbol" panose="05050102010706020507" pitchFamily="18" charset="2"/>
              </a:rPr>
              <a:t></a:t>
            </a:r>
            <a:r>
              <a:rPr lang="en-US" altLang="ja-JP" sz="2100" dirty="0">
                <a:ea typeface="ＭＳ Ｐゴシック" panose="020B0600070205080204" pitchFamily="34" charset="-128"/>
              </a:rPr>
              <a:t> </a:t>
            </a:r>
            <a:r>
              <a:rPr lang="en-US" altLang="ja-JP" sz="2100" dirty="0">
                <a:ea typeface="ＭＳ Ｐゴシック" panose="020B0600070205080204" pitchFamily="34" charset="-128"/>
                <a:sym typeface="MT Extra" panose="05050102010205020202" pitchFamily="18" charset="2"/>
              </a:rPr>
              <a:t></a:t>
            </a:r>
            <a:r>
              <a:rPr lang="en-US" altLang="ja-JP" sz="2100" baseline="-25000" dirty="0">
                <a:ea typeface="ＭＳ Ｐゴシック" panose="020B0600070205080204" pitchFamily="34" charset="-128"/>
              </a:rPr>
              <a:t>k</a:t>
            </a:r>
            <a:r>
              <a:rPr lang="en-US" altLang="ja-JP" sz="2100" dirty="0">
                <a:ea typeface="ＭＳ Ｐゴシック" panose="020B0600070205080204" pitchFamily="34" charset="-128"/>
              </a:rPr>
              <a:t> </a:t>
            </a:r>
            <a:r>
              <a:rPr lang="en-US" altLang="ja-JP" sz="2100" i="1" dirty="0" err="1">
                <a:ea typeface="ＭＳ Ｐゴシック" panose="020B0600070205080204" pitchFamily="34" charset="-128"/>
              </a:rPr>
              <a:t>F</a:t>
            </a:r>
            <a:r>
              <a:rPr lang="en-US" altLang="ja-JP" sz="2100" baseline="-25000" dirty="0" err="1">
                <a:ea typeface="ＭＳ Ｐゴシック" panose="020B0600070205080204" pitchFamily="34" charset="-128"/>
              </a:rPr>
              <a:t>k</a:t>
            </a:r>
            <a:r>
              <a:rPr lang="en-US" altLang="ja-JP" sz="2100" dirty="0">
                <a:ea typeface="ＭＳ Ｐゴシック" panose="020B0600070205080204" pitchFamily="34" charset="-128"/>
              </a:rPr>
              <a:t>;</a:t>
            </a:r>
            <a:endParaRPr lang="en-US" sz="2100" dirty="0"/>
          </a:p>
        </p:txBody>
      </p:sp>
    </p:spTree>
    <p:extLst>
      <p:ext uri="{BB962C8B-B14F-4D97-AF65-F5344CB8AC3E}">
        <p14:creationId xmlns:p14="http://schemas.microsoft.com/office/powerpoint/2010/main" val="106498324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2"/>
          <p:cNvSpPr>
            <a:spLocks noGrp="1" noChangeArrowheads="1"/>
          </p:cNvSpPr>
          <p:nvPr>
            <p:ph type="title" idx="4294967295"/>
          </p:nvPr>
        </p:nvSpPr>
        <p:spPr>
          <a:xfrm>
            <a:off x="811763" y="933061"/>
            <a:ext cx="8098972" cy="1143000"/>
          </a:xfrm>
        </p:spPr>
        <p:txBody>
          <a:bodyPr/>
          <a:lstStyle/>
          <a:p>
            <a:pPr eaLnBrk="1" hangingPunct="1"/>
            <a:r>
              <a:rPr lang="en-GB" b="1" dirty="0" err="1" smtClean="0">
                <a:solidFill>
                  <a:srgbClr val="FF0000"/>
                </a:solidFill>
              </a:rPr>
              <a:t>Apriori</a:t>
            </a:r>
            <a:r>
              <a:rPr lang="en-GB" b="1" dirty="0" smtClean="0">
                <a:solidFill>
                  <a:srgbClr val="FF0000"/>
                </a:solidFill>
              </a:rPr>
              <a:t> candidate generation</a:t>
            </a:r>
          </a:p>
        </p:txBody>
      </p:sp>
      <p:sp>
        <p:nvSpPr>
          <p:cNvPr id="26629" name="Rectangle 3"/>
          <p:cNvSpPr>
            <a:spLocks noGrp="1" noChangeArrowheads="1"/>
          </p:cNvSpPr>
          <p:nvPr>
            <p:ph type="body" idx="4294967295"/>
          </p:nvPr>
        </p:nvSpPr>
        <p:spPr>
          <a:xfrm>
            <a:off x="737118" y="2315110"/>
            <a:ext cx="10179698" cy="3960813"/>
          </a:xfrm>
        </p:spPr>
        <p:txBody>
          <a:bodyPr/>
          <a:lstStyle/>
          <a:p>
            <a:pPr eaLnBrk="1" hangingPunct="1">
              <a:lnSpc>
                <a:spcPct val="90000"/>
              </a:lnSpc>
            </a:pPr>
            <a:r>
              <a:rPr lang="en-GB" dirty="0" smtClean="0"/>
              <a:t>The </a:t>
            </a:r>
            <a:r>
              <a:rPr lang="en-GB" dirty="0" smtClean="0">
                <a:solidFill>
                  <a:srgbClr val="FF0000"/>
                </a:solidFill>
              </a:rPr>
              <a:t>candidate-gen</a:t>
            </a:r>
            <a:r>
              <a:rPr lang="en-GB" dirty="0" smtClean="0"/>
              <a:t> function takes </a:t>
            </a:r>
            <a:r>
              <a:rPr lang="en-GB" i="1" dirty="0" smtClean="0">
                <a:solidFill>
                  <a:srgbClr val="FF0000"/>
                </a:solidFill>
              </a:rPr>
              <a:t>F</a:t>
            </a:r>
            <a:r>
              <a:rPr lang="en-GB" i="1" baseline="-25000" dirty="0" smtClean="0">
                <a:solidFill>
                  <a:srgbClr val="FF0000"/>
                </a:solidFill>
              </a:rPr>
              <a:t>k</a:t>
            </a:r>
            <a:r>
              <a:rPr lang="en-GB" baseline="-25000" dirty="0" smtClean="0">
                <a:solidFill>
                  <a:srgbClr val="FF0000"/>
                </a:solidFill>
              </a:rPr>
              <a:t>-1</a:t>
            </a:r>
            <a:r>
              <a:rPr lang="en-GB" dirty="0" smtClean="0"/>
              <a:t> and returns a </a:t>
            </a:r>
            <a:r>
              <a:rPr lang="en-GB" dirty="0" smtClean="0">
                <a:solidFill>
                  <a:srgbClr val="FF0000"/>
                </a:solidFill>
              </a:rPr>
              <a:t>superset</a:t>
            </a:r>
            <a:r>
              <a:rPr lang="en-GB" dirty="0" smtClean="0">
                <a:solidFill>
                  <a:schemeClr val="hlink"/>
                </a:solidFill>
              </a:rPr>
              <a:t> </a:t>
            </a:r>
            <a:r>
              <a:rPr lang="en-GB" dirty="0" smtClean="0">
                <a:solidFill>
                  <a:srgbClr val="3333CC"/>
                </a:solidFill>
              </a:rPr>
              <a:t>(called the candidates)</a:t>
            </a:r>
            <a:r>
              <a:rPr lang="en-GB" dirty="0" smtClean="0">
                <a:solidFill>
                  <a:schemeClr val="hlink"/>
                </a:solidFill>
              </a:rPr>
              <a:t> </a:t>
            </a:r>
            <a:r>
              <a:rPr lang="en-GB" dirty="0" smtClean="0"/>
              <a:t>of the set of all </a:t>
            </a:r>
            <a:r>
              <a:rPr lang="en-GB" dirty="0" smtClean="0">
                <a:solidFill>
                  <a:srgbClr val="FF0000"/>
                </a:solidFill>
              </a:rPr>
              <a:t>frequent </a:t>
            </a:r>
            <a:r>
              <a:rPr lang="en-GB" i="1" dirty="0" smtClean="0">
                <a:solidFill>
                  <a:srgbClr val="FF0000"/>
                </a:solidFill>
              </a:rPr>
              <a:t>k</a:t>
            </a:r>
            <a:r>
              <a:rPr lang="en-GB" dirty="0" smtClean="0">
                <a:solidFill>
                  <a:srgbClr val="FF0000"/>
                </a:solidFill>
              </a:rPr>
              <a:t>-</a:t>
            </a:r>
            <a:r>
              <a:rPr lang="en-GB" dirty="0" err="1" smtClean="0">
                <a:solidFill>
                  <a:srgbClr val="FF0000"/>
                </a:solidFill>
              </a:rPr>
              <a:t>itemsets</a:t>
            </a:r>
            <a:r>
              <a:rPr lang="en-GB" dirty="0" smtClean="0"/>
              <a:t>.</a:t>
            </a:r>
            <a:r>
              <a:rPr lang="en-GB" dirty="0" smtClean="0">
                <a:solidFill>
                  <a:schemeClr val="accent2"/>
                </a:solidFill>
              </a:rPr>
              <a:t> </a:t>
            </a:r>
            <a:r>
              <a:rPr lang="en-GB" dirty="0" smtClean="0"/>
              <a:t>It has two steps</a:t>
            </a:r>
          </a:p>
          <a:p>
            <a:pPr marL="742950" lvl="1" indent="-285750"/>
            <a:r>
              <a:rPr lang="en-GB" i="1" dirty="0" smtClean="0">
                <a:solidFill>
                  <a:srgbClr val="3333CC"/>
                </a:solidFill>
              </a:rPr>
              <a:t>join</a:t>
            </a:r>
            <a:r>
              <a:rPr lang="en-GB" dirty="0" smtClean="0">
                <a:solidFill>
                  <a:srgbClr val="3333CC"/>
                </a:solidFill>
              </a:rPr>
              <a:t> step</a:t>
            </a:r>
            <a:r>
              <a:rPr lang="en-GB" dirty="0" smtClean="0"/>
              <a:t>: Generate all possible candidate </a:t>
            </a:r>
            <a:r>
              <a:rPr lang="en-GB" dirty="0" err="1" smtClean="0"/>
              <a:t>itemsets</a:t>
            </a:r>
            <a:r>
              <a:rPr lang="en-GB" dirty="0" smtClean="0"/>
              <a:t> </a:t>
            </a:r>
            <a:r>
              <a:rPr lang="en-US" altLang="ja-JP" i="1" dirty="0" err="1" smtClean="0">
                <a:ea typeface="ＭＳ Ｐゴシック" panose="020B0600070205080204" pitchFamily="34" charset="-128"/>
              </a:rPr>
              <a:t>C</a:t>
            </a:r>
            <a:r>
              <a:rPr lang="en-US" altLang="ja-JP" i="1" baseline="-25000" dirty="0" err="1" smtClean="0">
                <a:ea typeface="ＭＳ Ｐゴシック" panose="020B0600070205080204" pitchFamily="34" charset="-128"/>
              </a:rPr>
              <a:t>k</a:t>
            </a:r>
            <a:r>
              <a:rPr lang="en-GB" dirty="0" smtClean="0"/>
              <a:t> of length </a:t>
            </a:r>
            <a:r>
              <a:rPr lang="en-GB" i="1" dirty="0" smtClean="0"/>
              <a:t>k</a:t>
            </a:r>
            <a:r>
              <a:rPr lang="en-GB" dirty="0" smtClean="0"/>
              <a:t> </a:t>
            </a:r>
          </a:p>
          <a:p>
            <a:pPr marL="742950" lvl="1" indent="-285750"/>
            <a:r>
              <a:rPr lang="en-GB" i="1" dirty="0" smtClean="0">
                <a:solidFill>
                  <a:srgbClr val="3333CC"/>
                </a:solidFill>
              </a:rPr>
              <a:t>prune</a:t>
            </a:r>
            <a:r>
              <a:rPr lang="en-GB" dirty="0" smtClean="0">
                <a:solidFill>
                  <a:srgbClr val="3333CC"/>
                </a:solidFill>
              </a:rPr>
              <a:t> step</a:t>
            </a:r>
            <a:r>
              <a:rPr lang="en-GB" dirty="0" smtClean="0"/>
              <a:t>: Remove those candidates in </a:t>
            </a:r>
            <a:r>
              <a:rPr lang="en-US" altLang="ja-JP" i="1" dirty="0" err="1" smtClean="0">
                <a:ea typeface="ＭＳ Ｐゴシック" panose="020B0600070205080204" pitchFamily="34" charset="-128"/>
              </a:rPr>
              <a:t>C</a:t>
            </a:r>
            <a:r>
              <a:rPr lang="en-US" altLang="ja-JP" i="1" baseline="-25000" dirty="0" err="1" smtClean="0">
                <a:ea typeface="ＭＳ Ｐゴシック" panose="020B0600070205080204" pitchFamily="34" charset="-128"/>
              </a:rPr>
              <a:t>k</a:t>
            </a:r>
            <a:r>
              <a:rPr lang="en-GB" dirty="0" smtClean="0"/>
              <a:t> that cannot be frequent. </a:t>
            </a:r>
          </a:p>
        </p:txBody>
      </p:sp>
    </p:spTree>
    <p:extLst>
      <p:ext uri="{BB962C8B-B14F-4D97-AF65-F5344CB8AC3E}">
        <p14:creationId xmlns:p14="http://schemas.microsoft.com/office/powerpoint/2010/main" val="54612041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p:cNvSpPr>
            <a:spLocks noGrp="1" noChangeArrowheads="1"/>
          </p:cNvSpPr>
          <p:nvPr>
            <p:ph type="title" idx="4294967295"/>
          </p:nvPr>
        </p:nvSpPr>
        <p:spPr>
          <a:xfrm>
            <a:off x="0" y="365125"/>
            <a:ext cx="10515600" cy="1325563"/>
          </a:xfrm>
        </p:spPr>
        <p:txBody>
          <a:bodyPr/>
          <a:lstStyle/>
          <a:p>
            <a:pPr eaLnBrk="1" hangingPunct="1"/>
            <a:r>
              <a:rPr lang="en-US" dirty="0" smtClean="0"/>
              <a:t>Candidate-gen function</a:t>
            </a:r>
            <a:br>
              <a:rPr lang="en-US" dirty="0" smtClean="0"/>
            </a:br>
            <a:endParaRPr lang="en-US" dirty="0" smtClean="0"/>
          </a:p>
        </p:txBody>
      </p:sp>
      <p:sp>
        <p:nvSpPr>
          <p:cNvPr id="27653" name="Rectangle 3"/>
          <p:cNvSpPr>
            <a:spLocks noGrp="1" noChangeArrowheads="1"/>
          </p:cNvSpPr>
          <p:nvPr>
            <p:ph type="body" idx="4294967295"/>
          </p:nvPr>
        </p:nvSpPr>
        <p:spPr>
          <a:xfrm>
            <a:off x="746449" y="1160463"/>
            <a:ext cx="11445551" cy="4962525"/>
          </a:xfrm>
        </p:spPr>
        <p:txBody>
          <a:bodyPr>
            <a:normAutofit fontScale="92500" lnSpcReduction="20000"/>
          </a:bodyPr>
          <a:lstStyle/>
          <a:p>
            <a:pPr eaLnBrk="1" hangingPunct="1">
              <a:lnSpc>
                <a:spcPct val="90000"/>
              </a:lnSpc>
              <a:buFont typeface="Wingdings" panose="05000000000000000000" pitchFamily="2" charset="2"/>
              <a:buNone/>
            </a:pPr>
            <a:r>
              <a:rPr lang="en-US" altLang="ja-JP" sz="2100" b="1" dirty="0">
                <a:ea typeface="ＭＳ Ｐゴシック" panose="020B0600070205080204" pitchFamily="34" charset="-128"/>
              </a:rPr>
              <a:t>Function</a:t>
            </a:r>
            <a:r>
              <a:rPr lang="en-US" altLang="ja-JP" sz="2100" dirty="0">
                <a:ea typeface="ＭＳ Ｐゴシック" panose="020B0600070205080204" pitchFamily="34" charset="-128"/>
              </a:rPr>
              <a:t> candidate-gen(</a:t>
            </a:r>
            <a:r>
              <a:rPr lang="en-US" altLang="ja-JP" sz="2100" i="1" dirty="0">
                <a:ea typeface="ＭＳ Ｐゴシック" panose="020B0600070205080204" pitchFamily="34" charset="-128"/>
              </a:rPr>
              <a:t>F</a:t>
            </a:r>
            <a:r>
              <a:rPr lang="en-US" altLang="ja-JP" sz="2100" i="1" baseline="-25000" dirty="0">
                <a:ea typeface="ＭＳ Ｐゴシック" panose="020B0600070205080204" pitchFamily="34" charset="-128"/>
              </a:rPr>
              <a:t>k</a:t>
            </a:r>
            <a:r>
              <a:rPr lang="en-US" altLang="ja-JP" sz="2100" baseline="-25000" dirty="0">
                <a:ea typeface="ＭＳ Ｐゴシック" panose="020B0600070205080204" pitchFamily="34" charset="-128"/>
              </a:rPr>
              <a:t>-1</a:t>
            </a:r>
            <a:r>
              <a:rPr lang="en-US" altLang="ja-JP" sz="2100" dirty="0">
                <a:ea typeface="ＭＳ Ｐゴシック" panose="020B0600070205080204" pitchFamily="34" charset="-128"/>
              </a:rPr>
              <a:t>)	</a:t>
            </a:r>
          </a:p>
          <a:p>
            <a:pPr eaLnBrk="1" hangingPunct="1">
              <a:lnSpc>
                <a:spcPct val="90000"/>
              </a:lnSpc>
              <a:buFont typeface="Wingdings" panose="05000000000000000000" pitchFamily="2" charset="2"/>
              <a:buNone/>
            </a:pPr>
            <a:r>
              <a:rPr lang="en-US" altLang="ja-JP" sz="2100" i="1" dirty="0">
                <a:ea typeface="ＭＳ Ｐゴシック" panose="020B0600070205080204" pitchFamily="34" charset="-128"/>
              </a:rPr>
              <a:t>	</a:t>
            </a:r>
            <a:r>
              <a:rPr lang="en-US" altLang="ja-JP" sz="2100" i="1" dirty="0" err="1">
                <a:ea typeface="ＭＳ Ｐゴシック" panose="020B0600070205080204" pitchFamily="34" charset="-128"/>
              </a:rPr>
              <a:t>C</a:t>
            </a:r>
            <a:r>
              <a:rPr lang="en-US" altLang="ja-JP" sz="2100" i="1" baseline="-25000" dirty="0" err="1">
                <a:ea typeface="ＭＳ Ｐゴシック" panose="020B0600070205080204" pitchFamily="34" charset="-128"/>
              </a:rPr>
              <a:t>k</a:t>
            </a:r>
            <a:r>
              <a:rPr lang="en-US" altLang="ja-JP" sz="2100" dirty="0">
                <a:ea typeface="ＭＳ Ｐゴシック" panose="020B0600070205080204" pitchFamily="34" charset="-128"/>
              </a:rPr>
              <a:t> </a:t>
            </a:r>
            <a:r>
              <a:rPr lang="en-US" altLang="ja-JP" sz="2100" dirty="0">
                <a:ea typeface="ＭＳ Ｐゴシック" panose="020B0600070205080204" pitchFamily="34" charset="-128"/>
                <a:sym typeface="Symbol" panose="05050102010706020507" pitchFamily="18" charset="2"/>
              </a:rPr>
              <a:t></a:t>
            </a:r>
            <a:r>
              <a:rPr lang="en-US" altLang="ja-JP" sz="2100" dirty="0">
                <a:ea typeface="ＭＳ Ｐゴシック" panose="020B0600070205080204" pitchFamily="34" charset="-128"/>
              </a:rPr>
              <a:t> </a:t>
            </a:r>
            <a:r>
              <a:rPr lang="en-US" altLang="ja-JP" sz="2100" dirty="0">
                <a:ea typeface="ＭＳ Ｐゴシック" panose="020B0600070205080204" pitchFamily="34" charset="-128"/>
                <a:sym typeface="Symbol" panose="05050102010706020507" pitchFamily="18" charset="2"/>
              </a:rPr>
              <a:t></a:t>
            </a:r>
            <a:r>
              <a:rPr lang="en-US" altLang="ja-JP" sz="2100" dirty="0">
                <a:ea typeface="ＭＳ Ｐゴシック" panose="020B0600070205080204" pitchFamily="34" charset="-128"/>
              </a:rPr>
              <a:t>; 		</a:t>
            </a:r>
          </a:p>
          <a:p>
            <a:pPr eaLnBrk="1" hangingPunct="1">
              <a:lnSpc>
                <a:spcPct val="90000"/>
              </a:lnSpc>
              <a:buFont typeface="Wingdings" panose="05000000000000000000" pitchFamily="2" charset="2"/>
              <a:buNone/>
            </a:pPr>
            <a:r>
              <a:rPr lang="en-US" altLang="ja-JP" sz="2100" b="1" dirty="0">
                <a:ea typeface="ＭＳ Ｐゴシック" panose="020B0600070205080204" pitchFamily="34" charset="-128"/>
              </a:rPr>
              <a:t>	</a:t>
            </a:r>
            <a:r>
              <a:rPr lang="en-US" altLang="ja-JP" sz="2100" b="1" dirty="0" err="1">
                <a:ea typeface="ＭＳ Ｐゴシック" panose="020B0600070205080204" pitchFamily="34" charset="-128"/>
              </a:rPr>
              <a:t>forall</a:t>
            </a:r>
            <a:r>
              <a:rPr lang="en-US" altLang="ja-JP" sz="2100" dirty="0">
                <a:ea typeface="ＭＳ Ｐゴシック" panose="020B0600070205080204" pitchFamily="34" charset="-128"/>
              </a:rPr>
              <a:t> </a:t>
            </a:r>
            <a:r>
              <a:rPr lang="en-US" altLang="ja-JP" sz="2100" i="1" dirty="0">
                <a:ea typeface="ＭＳ Ｐゴシック" panose="020B0600070205080204" pitchFamily="34" charset="-128"/>
              </a:rPr>
              <a:t>f</a:t>
            </a:r>
            <a:r>
              <a:rPr lang="en-US" altLang="ja-JP" sz="2100" baseline="-25000" dirty="0">
                <a:ea typeface="ＭＳ Ｐゴシック" panose="020B0600070205080204" pitchFamily="34" charset="-128"/>
              </a:rPr>
              <a:t>1</a:t>
            </a:r>
            <a:r>
              <a:rPr lang="en-US" altLang="ja-JP" sz="2100" dirty="0">
                <a:ea typeface="ＭＳ Ｐゴシック" panose="020B0600070205080204" pitchFamily="34" charset="-128"/>
              </a:rPr>
              <a:t>, </a:t>
            </a:r>
            <a:r>
              <a:rPr lang="en-US" altLang="ja-JP" sz="2100" i="1" dirty="0">
                <a:ea typeface="ＭＳ Ｐゴシック" panose="020B0600070205080204" pitchFamily="34" charset="-128"/>
              </a:rPr>
              <a:t>f</a:t>
            </a:r>
            <a:r>
              <a:rPr lang="en-US" altLang="ja-JP" sz="2100" baseline="-25000" dirty="0">
                <a:ea typeface="ＭＳ Ｐゴシック" panose="020B0600070205080204" pitchFamily="34" charset="-128"/>
              </a:rPr>
              <a:t>2</a:t>
            </a:r>
            <a:r>
              <a:rPr lang="en-US" altLang="ja-JP" sz="2100" dirty="0">
                <a:ea typeface="ＭＳ Ｐゴシック" panose="020B0600070205080204" pitchFamily="34" charset="-128"/>
              </a:rPr>
              <a:t> </a:t>
            </a:r>
            <a:r>
              <a:rPr lang="en-US" altLang="ja-JP" sz="2100" dirty="0">
                <a:ea typeface="ＭＳ Ｐゴシック" panose="020B0600070205080204" pitchFamily="34" charset="-128"/>
                <a:sym typeface="Symbol" panose="05050102010706020507" pitchFamily="18" charset="2"/>
              </a:rPr>
              <a:t></a:t>
            </a:r>
            <a:r>
              <a:rPr lang="en-US" altLang="ja-JP" sz="2100" dirty="0">
                <a:ea typeface="ＭＳ Ｐゴシック" panose="020B0600070205080204" pitchFamily="34" charset="-128"/>
              </a:rPr>
              <a:t> </a:t>
            </a:r>
            <a:r>
              <a:rPr lang="en-US" altLang="ja-JP" sz="2100" i="1" dirty="0">
                <a:ea typeface="ＭＳ Ｐゴシック" panose="020B0600070205080204" pitchFamily="34" charset="-128"/>
              </a:rPr>
              <a:t>F</a:t>
            </a:r>
            <a:r>
              <a:rPr lang="en-US" altLang="ja-JP" sz="2100" i="1" baseline="-25000" dirty="0">
                <a:ea typeface="ＭＳ Ｐゴシック" panose="020B0600070205080204" pitchFamily="34" charset="-128"/>
              </a:rPr>
              <a:t>k</a:t>
            </a:r>
            <a:r>
              <a:rPr lang="en-US" altLang="ja-JP" sz="2100" baseline="-25000" dirty="0">
                <a:ea typeface="ＭＳ Ｐゴシック" panose="020B0600070205080204" pitchFamily="34" charset="-128"/>
              </a:rPr>
              <a:t>-1</a:t>
            </a:r>
            <a:r>
              <a:rPr lang="en-US" altLang="ja-JP" sz="2100" dirty="0">
                <a:ea typeface="ＭＳ Ｐゴシック" panose="020B0600070205080204" pitchFamily="34" charset="-128"/>
              </a:rPr>
              <a:t> 		</a:t>
            </a:r>
          </a:p>
          <a:p>
            <a:pPr eaLnBrk="1" hangingPunct="1">
              <a:lnSpc>
                <a:spcPct val="90000"/>
              </a:lnSpc>
              <a:buFont typeface="Wingdings" panose="05000000000000000000" pitchFamily="2" charset="2"/>
              <a:buNone/>
            </a:pPr>
            <a:r>
              <a:rPr lang="en-US" altLang="ja-JP" sz="2100" dirty="0">
                <a:ea typeface="ＭＳ Ｐゴシック" panose="020B0600070205080204" pitchFamily="34" charset="-128"/>
              </a:rPr>
              <a:t>		with </a:t>
            </a:r>
            <a:r>
              <a:rPr lang="en-US" altLang="ja-JP" sz="2100" i="1" dirty="0">
                <a:ea typeface="ＭＳ Ｐゴシック" panose="020B0600070205080204" pitchFamily="34" charset="-128"/>
              </a:rPr>
              <a:t>f</a:t>
            </a:r>
            <a:r>
              <a:rPr lang="en-US" altLang="ja-JP" sz="2100" baseline="-25000" dirty="0">
                <a:ea typeface="ＭＳ Ｐゴシック" panose="020B0600070205080204" pitchFamily="34" charset="-128"/>
              </a:rPr>
              <a:t>1</a:t>
            </a:r>
            <a:r>
              <a:rPr lang="en-US" altLang="ja-JP" sz="2100" dirty="0">
                <a:ea typeface="ＭＳ Ｐゴシック" panose="020B0600070205080204" pitchFamily="34" charset="-128"/>
              </a:rPr>
              <a:t> = {</a:t>
            </a:r>
            <a:r>
              <a:rPr lang="en-US" altLang="ja-JP" sz="2100" i="1" dirty="0">
                <a:ea typeface="ＭＳ Ｐゴシック" panose="020B0600070205080204" pitchFamily="34" charset="-128"/>
              </a:rPr>
              <a:t>i</a:t>
            </a:r>
            <a:r>
              <a:rPr lang="en-US" altLang="ja-JP" sz="2100" baseline="-25000" dirty="0">
                <a:ea typeface="ＭＳ Ｐゴシック" panose="020B0600070205080204" pitchFamily="34" charset="-128"/>
              </a:rPr>
              <a:t>1</a:t>
            </a:r>
            <a:r>
              <a:rPr lang="en-US" altLang="ja-JP" sz="2100" dirty="0">
                <a:ea typeface="ＭＳ Ｐゴシック" panose="020B0600070205080204" pitchFamily="34" charset="-128"/>
              </a:rPr>
              <a:t>, … , </a:t>
            </a:r>
            <a:r>
              <a:rPr lang="en-US" altLang="ja-JP" sz="2100" i="1" dirty="0">
                <a:ea typeface="ＭＳ Ｐゴシック" panose="020B0600070205080204" pitchFamily="34" charset="-128"/>
              </a:rPr>
              <a:t>i</a:t>
            </a:r>
            <a:r>
              <a:rPr lang="en-US" altLang="ja-JP" sz="2100" i="1" baseline="-25000" dirty="0">
                <a:ea typeface="ＭＳ Ｐゴシック" panose="020B0600070205080204" pitchFamily="34" charset="-128"/>
              </a:rPr>
              <a:t>k-</a:t>
            </a:r>
            <a:r>
              <a:rPr lang="en-US" altLang="ja-JP" sz="2100" baseline="-25000" dirty="0">
                <a:ea typeface="ＭＳ Ｐゴシック" panose="020B0600070205080204" pitchFamily="34" charset="-128"/>
              </a:rPr>
              <a:t>2</a:t>
            </a:r>
            <a:r>
              <a:rPr lang="en-US" altLang="ja-JP" sz="2100" dirty="0">
                <a:ea typeface="ＭＳ Ｐゴシック" panose="020B0600070205080204" pitchFamily="34" charset="-128"/>
              </a:rPr>
              <a:t>, </a:t>
            </a:r>
            <a:r>
              <a:rPr lang="en-US" altLang="ja-JP" sz="2100" i="1" dirty="0">
                <a:ea typeface="ＭＳ Ｐゴシック" panose="020B0600070205080204" pitchFamily="34" charset="-128"/>
              </a:rPr>
              <a:t>i</a:t>
            </a:r>
            <a:r>
              <a:rPr lang="en-US" altLang="ja-JP" sz="2100" i="1" baseline="-25000" dirty="0">
                <a:ea typeface="ＭＳ Ｐゴシック" panose="020B0600070205080204" pitchFamily="34" charset="-128"/>
              </a:rPr>
              <a:t>k-</a:t>
            </a:r>
            <a:r>
              <a:rPr lang="en-US" altLang="ja-JP" sz="2100" baseline="-25000" dirty="0">
                <a:ea typeface="ＭＳ Ｐゴシック" panose="020B0600070205080204" pitchFamily="34" charset="-128"/>
              </a:rPr>
              <a:t>1</a:t>
            </a:r>
            <a:r>
              <a:rPr lang="en-US" altLang="ja-JP" sz="2100" dirty="0">
                <a:ea typeface="ＭＳ Ｐゴシック" panose="020B0600070205080204" pitchFamily="34" charset="-128"/>
              </a:rPr>
              <a:t>} 	</a:t>
            </a:r>
          </a:p>
          <a:p>
            <a:pPr eaLnBrk="1" hangingPunct="1">
              <a:lnSpc>
                <a:spcPct val="90000"/>
              </a:lnSpc>
              <a:buFont typeface="Wingdings" panose="05000000000000000000" pitchFamily="2" charset="2"/>
              <a:buNone/>
            </a:pPr>
            <a:r>
              <a:rPr lang="en-US" altLang="ja-JP" sz="2100" dirty="0">
                <a:ea typeface="ＭＳ Ｐゴシック" panose="020B0600070205080204" pitchFamily="34" charset="-128"/>
              </a:rPr>
              <a:t>		and </a:t>
            </a:r>
            <a:r>
              <a:rPr lang="en-US" altLang="ja-JP" sz="2100" i="1" dirty="0">
                <a:ea typeface="ＭＳ Ｐゴシック" panose="020B0600070205080204" pitchFamily="34" charset="-128"/>
              </a:rPr>
              <a:t>f</a:t>
            </a:r>
            <a:r>
              <a:rPr lang="en-US" altLang="ja-JP" sz="2100" baseline="-25000" dirty="0">
                <a:ea typeface="ＭＳ Ｐゴシック" panose="020B0600070205080204" pitchFamily="34" charset="-128"/>
              </a:rPr>
              <a:t>2</a:t>
            </a:r>
            <a:r>
              <a:rPr lang="en-US" altLang="ja-JP" sz="2100" dirty="0">
                <a:ea typeface="ＭＳ Ｐゴシック" panose="020B0600070205080204" pitchFamily="34" charset="-128"/>
              </a:rPr>
              <a:t> = {</a:t>
            </a:r>
            <a:r>
              <a:rPr lang="en-US" altLang="ja-JP" sz="2100" i="1" dirty="0">
                <a:ea typeface="ＭＳ Ｐゴシック" panose="020B0600070205080204" pitchFamily="34" charset="-128"/>
              </a:rPr>
              <a:t>i</a:t>
            </a:r>
            <a:r>
              <a:rPr lang="en-US" altLang="ja-JP" sz="2100" baseline="-25000" dirty="0">
                <a:ea typeface="ＭＳ Ｐゴシック" panose="020B0600070205080204" pitchFamily="34" charset="-128"/>
              </a:rPr>
              <a:t>1</a:t>
            </a:r>
            <a:r>
              <a:rPr lang="en-US" altLang="ja-JP" sz="2100" dirty="0">
                <a:ea typeface="ＭＳ Ｐゴシック" panose="020B0600070205080204" pitchFamily="34" charset="-128"/>
              </a:rPr>
              <a:t>, … , </a:t>
            </a:r>
            <a:r>
              <a:rPr lang="en-US" altLang="ja-JP" sz="2100" i="1" dirty="0">
                <a:ea typeface="ＭＳ Ｐゴシック" panose="020B0600070205080204" pitchFamily="34" charset="-128"/>
              </a:rPr>
              <a:t>i</a:t>
            </a:r>
            <a:r>
              <a:rPr lang="en-US" altLang="ja-JP" sz="2100" i="1" baseline="-25000" dirty="0">
                <a:ea typeface="ＭＳ Ｐゴシック" panose="020B0600070205080204" pitchFamily="34" charset="-128"/>
              </a:rPr>
              <a:t>k-</a:t>
            </a:r>
            <a:r>
              <a:rPr lang="en-US" altLang="ja-JP" sz="2100" baseline="-25000" dirty="0">
                <a:ea typeface="ＭＳ Ｐゴシック" panose="020B0600070205080204" pitchFamily="34" charset="-128"/>
              </a:rPr>
              <a:t>2</a:t>
            </a:r>
            <a:r>
              <a:rPr lang="en-US" altLang="ja-JP" sz="2100" dirty="0">
                <a:ea typeface="ＭＳ Ｐゴシック" panose="020B0600070205080204" pitchFamily="34" charset="-128"/>
              </a:rPr>
              <a:t>, </a:t>
            </a:r>
            <a:r>
              <a:rPr lang="en-US" altLang="ja-JP" sz="2100" i="1" dirty="0">
                <a:ea typeface="ＭＳ Ｐゴシック" panose="020B0600070205080204" pitchFamily="34" charset="-128"/>
              </a:rPr>
              <a:t>i’</a:t>
            </a:r>
            <a:r>
              <a:rPr lang="en-US" altLang="ja-JP" sz="2100" i="1" baseline="-25000" dirty="0">
                <a:ea typeface="ＭＳ Ｐゴシック" panose="020B0600070205080204" pitchFamily="34" charset="-128"/>
              </a:rPr>
              <a:t>k</a:t>
            </a:r>
            <a:r>
              <a:rPr lang="en-US" altLang="ja-JP" sz="2100" baseline="-25000" dirty="0">
                <a:ea typeface="ＭＳ Ｐゴシック" panose="020B0600070205080204" pitchFamily="34" charset="-128"/>
              </a:rPr>
              <a:t>-1</a:t>
            </a:r>
            <a:r>
              <a:rPr lang="en-US" altLang="ja-JP" sz="2100" dirty="0">
                <a:ea typeface="ＭＳ Ｐゴシック" panose="020B0600070205080204" pitchFamily="34" charset="-128"/>
              </a:rPr>
              <a:t>} 	</a:t>
            </a:r>
          </a:p>
          <a:p>
            <a:pPr eaLnBrk="1" hangingPunct="1">
              <a:lnSpc>
                <a:spcPct val="90000"/>
              </a:lnSpc>
              <a:buFont typeface="Wingdings" panose="05000000000000000000" pitchFamily="2" charset="2"/>
              <a:buNone/>
            </a:pPr>
            <a:r>
              <a:rPr lang="en-US" altLang="ja-JP" sz="2100" dirty="0">
                <a:ea typeface="ＭＳ Ｐゴシック" panose="020B0600070205080204" pitchFamily="34" charset="-128"/>
              </a:rPr>
              <a:t>		and </a:t>
            </a:r>
            <a:r>
              <a:rPr lang="en-US" altLang="ja-JP" sz="2100" i="1" dirty="0">
                <a:ea typeface="ＭＳ Ｐゴシック" panose="020B0600070205080204" pitchFamily="34" charset="-128"/>
              </a:rPr>
              <a:t>i</a:t>
            </a:r>
            <a:r>
              <a:rPr lang="en-US" altLang="ja-JP" sz="2100" i="1" baseline="-25000" dirty="0">
                <a:ea typeface="ＭＳ Ｐゴシック" panose="020B0600070205080204" pitchFamily="34" charset="-128"/>
              </a:rPr>
              <a:t>k</a:t>
            </a:r>
            <a:r>
              <a:rPr lang="en-US" altLang="ja-JP" sz="2100" baseline="-25000" dirty="0">
                <a:ea typeface="ＭＳ Ｐゴシック" panose="020B0600070205080204" pitchFamily="34" charset="-128"/>
              </a:rPr>
              <a:t>-1</a:t>
            </a:r>
            <a:r>
              <a:rPr lang="en-US" altLang="ja-JP" sz="2100" dirty="0">
                <a:ea typeface="ＭＳ Ｐゴシック" panose="020B0600070205080204" pitchFamily="34" charset="-128"/>
              </a:rPr>
              <a:t> &lt; </a:t>
            </a:r>
            <a:r>
              <a:rPr lang="en-US" altLang="ja-JP" sz="2100" i="1" dirty="0">
                <a:ea typeface="ＭＳ Ｐゴシック" panose="020B0600070205080204" pitchFamily="34" charset="-128"/>
              </a:rPr>
              <a:t>i’</a:t>
            </a:r>
            <a:r>
              <a:rPr lang="en-US" altLang="ja-JP" sz="2100" i="1" baseline="-25000" dirty="0">
                <a:ea typeface="ＭＳ Ｐゴシック" panose="020B0600070205080204" pitchFamily="34" charset="-128"/>
              </a:rPr>
              <a:t>k</a:t>
            </a:r>
            <a:r>
              <a:rPr lang="en-US" altLang="ja-JP" sz="2100" baseline="-25000" dirty="0">
                <a:ea typeface="ＭＳ Ｐゴシック" panose="020B0600070205080204" pitchFamily="34" charset="-128"/>
              </a:rPr>
              <a:t>-1</a:t>
            </a:r>
            <a:r>
              <a:rPr lang="en-US" altLang="ja-JP" sz="2100" dirty="0">
                <a:ea typeface="ＭＳ Ｐゴシック" panose="020B0600070205080204" pitchFamily="34" charset="-128"/>
              </a:rPr>
              <a:t> </a:t>
            </a:r>
            <a:r>
              <a:rPr lang="en-US" altLang="ja-JP" sz="2100" b="1" dirty="0">
                <a:ea typeface="ＭＳ Ｐゴシック" panose="020B0600070205080204" pitchFamily="34" charset="-128"/>
              </a:rPr>
              <a:t>do</a:t>
            </a:r>
            <a:r>
              <a:rPr lang="en-US" altLang="ja-JP" sz="2100" dirty="0">
                <a:ea typeface="ＭＳ Ｐゴシック" panose="020B0600070205080204" pitchFamily="34" charset="-128"/>
              </a:rPr>
              <a:t> 	</a:t>
            </a:r>
          </a:p>
          <a:p>
            <a:pPr eaLnBrk="1" hangingPunct="1">
              <a:lnSpc>
                <a:spcPct val="90000"/>
              </a:lnSpc>
              <a:buFont typeface="Wingdings" panose="05000000000000000000" pitchFamily="2" charset="2"/>
              <a:buNone/>
            </a:pPr>
            <a:r>
              <a:rPr lang="en-US" altLang="ja-JP" sz="2100" i="1" dirty="0">
                <a:ea typeface="ＭＳ Ｐゴシック" panose="020B0600070205080204" pitchFamily="34" charset="-128"/>
              </a:rPr>
              <a:t>	    c</a:t>
            </a:r>
            <a:r>
              <a:rPr lang="en-US" altLang="ja-JP" sz="2100" dirty="0">
                <a:ea typeface="ＭＳ Ｐゴシック" panose="020B0600070205080204" pitchFamily="34" charset="-128"/>
              </a:rPr>
              <a:t> </a:t>
            </a:r>
            <a:r>
              <a:rPr lang="en-US" altLang="ja-JP" sz="2100" dirty="0">
                <a:ea typeface="ＭＳ Ｐゴシック" panose="020B0600070205080204" pitchFamily="34" charset="-128"/>
                <a:sym typeface="Symbol" panose="05050102010706020507" pitchFamily="18" charset="2"/>
              </a:rPr>
              <a:t></a:t>
            </a:r>
            <a:r>
              <a:rPr lang="en-US" altLang="ja-JP" sz="2100" dirty="0">
                <a:ea typeface="ＭＳ Ｐゴシック" panose="020B0600070205080204" pitchFamily="34" charset="-128"/>
              </a:rPr>
              <a:t> {</a:t>
            </a:r>
            <a:r>
              <a:rPr lang="en-US" altLang="ja-JP" sz="2100" i="1" dirty="0">
                <a:ea typeface="ＭＳ Ｐゴシック" panose="020B0600070205080204" pitchFamily="34" charset="-128"/>
              </a:rPr>
              <a:t>i</a:t>
            </a:r>
            <a:r>
              <a:rPr lang="en-US" altLang="ja-JP" sz="2100" baseline="-25000" dirty="0">
                <a:ea typeface="ＭＳ Ｐゴシック" panose="020B0600070205080204" pitchFamily="34" charset="-128"/>
              </a:rPr>
              <a:t>1</a:t>
            </a:r>
            <a:r>
              <a:rPr lang="en-US" altLang="ja-JP" sz="2100" dirty="0">
                <a:ea typeface="ＭＳ Ｐゴシック" panose="020B0600070205080204" pitchFamily="34" charset="-128"/>
              </a:rPr>
              <a:t>, …, </a:t>
            </a:r>
            <a:r>
              <a:rPr lang="en-US" altLang="ja-JP" sz="2100" i="1" dirty="0">
                <a:ea typeface="ＭＳ Ｐゴシック" panose="020B0600070205080204" pitchFamily="34" charset="-128"/>
              </a:rPr>
              <a:t>i</a:t>
            </a:r>
            <a:r>
              <a:rPr lang="en-US" altLang="ja-JP" sz="2100" i="1" baseline="-25000" dirty="0">
                <a:ea typeface="ＭＳ Ｐゴシック" panose="020B0600070205080204" pitchFamily="34" charset="-128"/>
              </a:rPr>
              <a:t>k-</a:t>
            </a:r>
            <a:r>
              <a:rPr lang="en-US" altLang="ja-JP" sz="2100" baseline="-25000" dirty="0">
                <a:ea typeface="ＭＳ Ｐゴシック" panose="020B0600070205080204" pitchFamily="34" charset="-128"/>
              </a:rPr>
              <a:t>1</a:t>
            </a:r>
            <a:r>
              <a:rPr lang="en-US" altLang="ja-JP" sz="2100" dirty="0">
                <a:ea typeface="ＭＳ Ｐゴシック" panose="020B0600070205080204" pitchFamily="34" charset="-128"/>
              </a:rPr>
              <a:t>, </a:t>
            </a:r>
            <a:r>
              <a:rPr lang="en-US" altLang="ja-JP" sz="2100" i="1" dirty="0">
                <a:ea typeface="ＭＳ Ｐゴシック" panose="020B0600070205080204" pitchFamily="34" charset="-128"/>
              </a:rPr>
              <a:t>i’</a:t>
            </a:r>
            <a:r>
              <a:rPr lang="en-US" altLang="ja-JP" sz="2100" i="1" baseline="-25000" dirty="0">
                <a:ea typeface="ＭＳ Ｐゴシック" panose="020B0600070205080204" pitchFamily="34" charset="-128"/>
              </a:rPr>
              <a:t>k-</a:t>
            </a:r>
            <a:r>
              <a:rPr lang="en-US" altLang="ja-JP" sz="2100" baseline="-25000" dirty="0">
                <a:ea typeface="ＭＳ Ｐゴシック" panose="020B0600070205080204" pitchFamily="34" charset="-128"/>
              </a:rPr>
              <a:t>1</a:t>
            </a:r>
            <a:r>
              <a:rPr lang="en-US" altLang="ja-JP" sz="2100" dirty="0">
                <a:ea typeface="ＭＳ Ｐゴシック" panose="020B0600070205080204" pitchFamily="34" charset="-128"/>
              </a:rPr>
              <a:t>}; 		</a:t>
            </a:r>
            <a:r>
              <a:rPr lang="en-US" altLang="ja-JP" sz="2100" dirty="0">
                <a:solidFill>
                  <a:srgbClr val="3333CC"/>
                </a:solidFill>
                <a:ea typeface="ＭＳ Ｐゴシック" panose="020B0600070205080204" pitchFamily="34" charset="-128"/>
              </a:rPr>
              <a:t>// join </a:t>
            </a:r>
            <a:r>
              <a:rPr lang="en-US" altLang="ja-JP" sz="2100" i="1" dirty="0">
                <a:solidFill>
                  <a:srgbClr val="3333CC"/>
                </a:solidFill>
                <a:ea typeface="ＭＳ Ｐゴシック" panose="020B0600070205080204" pitchFamily="34" charset="-128"/>
              </a:rPr>
              <a:t>f</a:t>
            </a:r>
            <a:r>
              <a:rPr lang="en-US" altLang="ja-JP" sz="2100" baseline="-25000" dirty="0">
                <a:solidFill>
                  <a:srgbClr val="3333CC"/>
                </a:solidFill>
                <a:ea typeface="ＭＳ Ｐゴシック" panose="020B0600070205080204" pitchFamily="34" charset="-128"/>
              </a:rPr>
              <a:t>1</a:t>
            </a:r>
            <a:r>
              <a:rPr lang="en-US" altLang="ja-JP" sz="2100" dirty="0">
                <a:solidFill>
                  <a:srgbClr val="3333CC"/>
                </a:solidFill>
                <a:ea typeface="ＭＳ Ｐゴシック" panose="020B0600070205080204" pitchFamily="34" charset="-128"/>
              </a:rPr>
              <a:t> and </a:t>
            </a:r>
            <a:r>
              <a:rPr lang="en-US" altLang="ja-JP" sz="2100" i="1" dirty="0">
                <a:solidFill>
                  <a:srgbClr val="3333CC"/>
                </a:solidFill>
                <a:ea typeface="ＭＳ Ｐゴシック" panose="020B0600070205080204" pitchFamily="34" charset="-128"/>
              </a:rPr>
              <a:t>f</a:t>
            </a:r>
            <a:r>
              <a:rPr lang="en-US" altLang="ja-JP" sz="2100" baseline="-25000" dirty="0">
                <a:solidFill>
                  <a:srgbClr val="3333CC"/>
                </a:solidFill>
                <a:ea typeface="ＭＳ Ｐゴシック" panose="020B0600070205080204" pitchFamily="34" charset="-128"/>
              </a:rPr>
              <a:t>2</a:t>
            </a:r>
            <a:endParaRPr lang="en-US" altLang="ja-JP" sz="2100" i="1" dirty="0">
              <a:solidFill>
                <a:srgbClr val="3333CC"/>
              </a:solidFill>
              <a:ea typeface="ＭＳ Ｐゴシック" panose="020B0600070205080204" pitchFamily="34" charset="-128"/>
            </a:endParaRPr>
          </a:p>
          <a:p>
            <a:pPr eaLnBrk="1" hangingPunct="1">
              <a:lnSpc>
                <a:spcPct val="90000"/>
              </a:lnSpc>
              <a:buFont typeface="Wingdings" panose="05000000000000000000" pitchFamily="2" charset="2"/>
              <a:buNone/>
            </a:pPr>
            <a:r>
              <a:rPr lang="en-US" altLang="ja-JP" sz="2100" i="1" dirty="0">
                <a:ea typeface="ＭＳ Ｐゴシック" panose="020B0600070205080204" pitchFamily="34" charset="-128"/>
              </a:rPr>
              <a:t>	    </a:t>
            </a:r>
            <a:r>
              <a:rPr lang="en-US" altLang="ja-JP" sz="2100" i="1" dirty="0" err="1">
                <a:ea typeface="ＭＳ Ｐゴシック" panose="020B0600070205080204" pitchFamily="34" charset="-128"/>
              </a:rPr>
              <a:t>C</a:t>
            </a:r>
            <a:r>
              <a:rPr lang="en-US" altLang="ja-JP" sz="2100" i="1" baseline="-25000" dirty="0" err="1">
                <a:ea typeface="ＭＳ Ｐゴシック" panose="020B0600070205080204" pitchFamily="34" charset="-128"/>
              </a:rPr>
              <a:t>k</a:t>
            </a:r>
            <a:r>
              <a:rPr lang="en-US" altLang="ja-JP" sz="2100" dirty="0">
                <a:ea typeface="ＭＳ Ｐゴシック" panose="020B0600070205080204" pitchFamily="34" charset="-128"/>
              </a:rPr>
              <a:t> </a:t>
            </a:r>
            <a:r>
              <a:rPr lang="en-US" altLang="ja-JP" sz="2100" dirty="0">
                <a:ea typeface="ＭＳ Ｐゴシック" panose="020B0600070205080204" pitchFamily="34" charset="-128"/>
                <a:sym typeface="Symbol" panose="05050102010706020507" pitchFamily="18" charset="2"/>
              </a:rPr>
              <a:t></a:t>
            </a:r>
            <a:r>
              <a:rPr lang="en-US" altLang="ja-JP" sz="2100" dirty="0">
                <a:ea typeface="ＭＳ Ｐゴシック" panose="020B0600070205080204" pitchFamily="34" charset="-128"/>
              </a:rPr>
              <a:t> </a:t>
            </a:r>
            <a:r>
              <a:rPr lang="en-US" altLang="ja-JP" sz="2100" i="1" dirty="0" err="1">
                <a:ea typeface="ＭＳ Ｐゴシック" panose="020B0600070205080204" pitchFamily="34" charset="-128"/>
              </a:rPr>
              <a:t>C</a:t>
            </a:r>
            <a:r>
              <a:rPr lang="en-US" altLang="ja-JP" sz="2100" i="1" baseline="-25000" dirty="0" err="1">
                <a:ea typeface="ＭＳ Ｐゴシック" panose="020B0600070205080204" pitchFamily="34" charset="-128"/>
              </a:rPr>
              <a:t>k</a:t>
            </a:r>
            <a:r>
              <a:rPr lang="en-US" altLang="ja-JP" sz="2100" dirty="0">
                <a:ea typeface="ＭＳ Ｐゴシック" panose="020B0600070205080204" pitchFamily="34" charset="-128"/>
              </a:rPr>
              <a:t> </a:t>
            </a:r>
            <a:r>
              <a:rPr lang="en-US" altLang="ja-JP" sz="2100" dirty="0">
                <a:ea typeface="ＭＳ Ｐゴシック" panose="020B0600070205080204" pitchFamily="34" charset="-128"/>
                <a:sym typeface="Symbol" panose="05050102010706020507" pitchFamily="18" charset="2"/>
              </a:rPr>
              <a:t></a:t>
            </a:r>
            <a:r>
              <a:rPr lang="en-US" altLang="ja-JP" sz="2100" dirty="0">
                <a:ea typeface="ＭＳ Ｐゴシック" panose="020B0600070205080204" pitchFamily="34" charset="-128"/>
              </a:rPr>
              <a:t> {</a:t>
            </a:r>
            <a:r>
              <a:rPr lang="en-US" altLang="ja-JP" sz="2100" i="1" dirty="0">
                <a:ea typeface="ＭＳ Ｐゴシック" panose="020B0600070205080204" pitchFamily="34" charset="-128"/>
              </a:rPr>
              <a:t>c</a:t>
            </a:r>
            <a:r>
              <a:rPr lang="en-US" altLang="ja-JP" sz="2100" dirty="0">
                <a:ea typeface="ＭＳ Ｐゴシック" panose="020B0600070205080204" pitchFamily="34" charset="-128"/>
              </a:rPr>
              <a:t>}; 	</a:t>
            </a:r>
          </a:p>
          <a:p>
            <a:pPr eaLnBrk="1" hangingPunct="1">
              <a:lnSpc>
                <a:spcPct val="90000"/>
              </a:lnSpc>
              <a:buFont typeface="Wingdings" panose="05000000000000000000" pitchFamily="2" charset="2"/>
              <a:buNone/>
            </a:pPr>
            <a:r>
              <a:rPr lang="en-US" altLang="ja-JP" sz="2100" b="1" dirty="0">
                <a:ea typeface="ＭＳ Ｐゴシック" panose="020B0600070205080204" pitchFamily="34" charset="-128"/>
              </a:rPr>
              <a:t>	    for </a:t>
            </a:r>
            <a:r>
              <a:rPr lang="en-US" altLang="ja-JP" sz="2100" dirty="0">
                <a:ea typeface="ＭＳ Ｐゴシック" panose="020B0600070205080204" pitchFamily="34" charset="-128"/>
              </a:rPr>
              <a:t>each (</a:t>
            </a:r>
            <a:r>
              <a:rPr lang="en-US" altLang="ja-JP" sz="2100" i="1" dirty="0">
                <a:ea typeface="ＭＳ Ｐゴシック" panose="020B0600070205080204" pitchFamily="34" charset="-128"/>
              </a:rPr>
              <a:t>k-</a:t>
            </a:r>
            <a:r>
              <a:rPr lang="en-US" altLang="ja-JP" sz="2100" dirty="0">
                <a:ea typeface="ＭＳ Ｐゴシック" panose="020B0600070205080204" pitchFamily="34" charset="-128"/>
              </a:rPr>
              <a:t>1)-subset </a:t>
            </a:r>
            <a:r>
              <a:rPr lang="en-US" altLang="ja-JP" sz="2100" i="1" dirty="0">
                <a:ea typeface="ＭＳ Ｐゴシック" panose="020B0600070205080204" pitchFamily="34" charset="-128"/>
              </a:rPr>
              <a:t>s</a:t>
            </a:r>
            <a:r>
              <a:rPr lang="en-US" altLang="ja-JP" sz="2100" dirty="0">
                <a:ea typeface="ＭＳ Ｐゴシック" panose="020B0600070205080204" pitchFamily="34" charset="-128"/>
              </a:rPr>
              <a:t> of </a:t>
            </a:r>
            <a:r>
              <a:rPr lang="en-US" altLang="ja-JP" sz="2100" i="1" dirty="0">
                <a:ea typeface="ＭＳ Ｐゴシック" panose="020B0600070205080204" pitchFamily="34" charset="-128"/>
              </a:rPr>
              <a:t>c</a:t>
            </a:r>
            <a:r>
              <a:rPr lang="en-US" altLang="ja-JP" sz="2100" dirty="0">
                <a:ea typeface="ＭＳ Ｐゴシック" panose="020B0600070205080204" pitchFamily="34" charset="-128"/>
              </a:rPr>
              <a:t> </a:t>
            </a:r>
            <a:r>
              <a:rPr lang="en-US" altLang="ja-JP" sz="2100" b="1" dirty="0">
                <a:ea typeface="ＭＳ Ｐゴシック" panose="020B0600070205080204" pitchFamily="34" charset="-128"/>
              </a:rPr>
              <a:t>do	</a:t>
            </a:r>
          </a:p>
          <a:p>
            <a:pPr eaLnBrk="1" hangingPunct="1">
              <a:lnSpc>
                <a:spcPct val="90000"/>
              </a:lnSpc>
              <a:buFont typeface="Wingdings" panose="05000000000000000000" pitchFamily="2" charset="2"/>
              <a:buNone/>
            </a:pPr>
            <a:r>
              <a:rPr lang="en-US" altLang="ja-JP" sz="2100" b="1" dirty="0">
                <a:ea typeface="ＭＳ Ｐゴシック" panose="020B0600070205080204" pitchFamily="34" charset="-128"/>
              </a:rPr>
              <a:t>		if </a:t>
            </a:r>
            <a:r>
              <a:rPr lang="en-US" altLang="ja-JP" sz="2100" dirty="0">
                <a:ea typeface="ＭＳ Ｐゴシック" panose="020B0600070205080204" pitchFamily="34" charset="-128"/>
              </a:rPr>
              <a:t>(</a:t>
            </a:r>
            <a:r>
              <a:rPr lang="en-US" altLang="ja-JP" sz="2100" i="1" dirty="0">
                <a:ea typeface="ＭＳ Ｐゴシック" panose="020B0600070205080204" pitchFamily="34" charset="-128"/>
              </a:rPr>
              <a:t>s</a:t>
            </a:r>
            <a:r>
              <a:rPr lang="en-US" altLang="ja-JP" sz="2100" dirty="0">
                <a:ea typeface="ＭＳ Ｐゴシック" panose="020B0600070205080204" pitchFamily="34" charset="-128"/>
              </a:rPr>
              <a:t> </a:t>
            </a:r>
            <a:r>
              <a:rPr lang="en-US" altLang="ja-JP" sz="2100" dirty="0">
                <a:ea typeface="ＭＳ Ｐゴシック" panose="020B0600070205080204" pitchFamily="34" charset="-128"/>
                <a:sym typeface="Symbol" panose="05050102010706020507" pitchFamily="18" charset="2"/>
              </a:rPr>
              <a:t></a:t>
            </a:r>
            <a:r>
              <a:rPr lang="en-US" altLang="ja-JP" sz="2100" dirty="0">
                <a:ea typeface="ＭＳ Ｐゴシック" panose="020B0600070205080204" pitchFamily="34" charset="-128"/>
              </a:rPr>
              <a:t> </a:t>
            </a:r>
            <a:r>
              <a:rPr lang="en-US" altLang="ja-JP" sz="2100" i="1" dirty="0">
                <a:ea typeface="ＭＳ Ｐゴシック" panose="020B0600070205080204" pitchFamily="34" charset="-128"/>
              </a:rPr>
              <a:t>F</a:t>
            </a:r>
            <a:r>
              <a:rPr lang="en-US" altLang="ja-JP" sz="2100" i="1" baseline="-25000" dirty="0">
                <a:ea typeface="ＭＳ Ｐゴシック" panose="020B0600070205080204" pitchFamily="34" charset="-128"/>
              </a:rPr>
              <a:t>k</a:t>
            </a:r>
            <a:r>
              <a:rPr lang="en-US" altLang="ja-JP" sz="2100" baseline="-25000" dirty="0">
                <a:ea typeface="ＭＳ Ｐゴシック" panose="020B0600070205080204" pitchFamily="34" charset="-128"/>
              </a:rPr>
              <a:t>-1</a:t>
            </a:r>
            <a:r>
              <a:rPr lang="en-US" altLang="ja-JP" sz="2100" dirty="0">
                <a:ea typeface="ＭＳ Ｐゴシック" panose="020B0600070205080204" pitchFamily="34" charset="-128"/>
              </a:rPr>
              <a:t>) </a:t>
            </a:r>
            <a:r>
              <a:rPr lang="en-US" altLang="ja-JP" sz="2100" b="1" dirty="0">
                <a:ea typeface="ＭＳ Ｐゴシック" panose="020B0600070205080204" pitchFamily="34" charset="-128"/>
              </a:rPr>
              <a:t>then</a:t>
            </a:r>
            <a:r>
              <a:rPr lang="en-US" altLang="ja-JP" sz="2100" dirty="0">
                <a:ea typeface="ＭＳ Ｐゴシック" panose="020B0600070205080204" pitchFamily="34" charset="-128"/>
              </a:rPr>
              <a:t>  </a:t>
            </a:r>
          </a:p>
          <a:p>
            <a:pPr eaLnBrk="1" hangingPunct="1">
              <a:lnSpc>
                <a:spcPct val="90000"/>
              </a:lnSpc>
              <a:buFont typeface="Wingdings" panose="05000000000000000000" pitchFamily="2" charset="2"/>
              <a:buNone/>
            </a:pPr>
            <a:r>
              <a:rPr lang="en-US" altLang="ja-JP" sz="2100" dirty="0">
                <a:ea typeface="ＭＳ Ｐゴシック" panose="020B0600070205080204" pitchFamily="34" charset="-128"/>
              </a:rPr>
              <a:t>		    delete </a:t>
            </a:r>
            <a:r>
              <a:rPr lang="en-US" altLang="ja-JP" sz="2100" i="1" dirty="0">
                <a:ea typeface="ＭＳ Ｐゴシック" panose="020B0600070205080204" pitchFamily="34" charset="-128"/>
              </a:rPr>
              <a:t>c</a:t>
            </a:r>
            <a:r>
              <a:rPr lang="en-US" altLang="ja-JP" sz="2100" dirty="0">
                <a:ea typeface="ＭＳ Ｐゴシック" panose="020B0600070205080204" pitchFamily="34" charset="-128"/>
              </a:rPr>
              <a:t> from </a:t>
            </a:r>
            <a:r>
              <a:rPr lang="en-US" altLang="ja-JP" sz="2100" i="1" dirty="0" err="1">
                <a:ea typeface="ＭＳ Ｐゴシック" panose="020B0600070205080204" pitchFamily="34" charset="-128"/>
              </a:rPr>
              <a:t>C</a:t>
            </a:r>
            <a:r>
              <a:rPr lang="en-US" altLang="ja-JP" sz="2100" i="1" baseline="-25000" dirty="0" err="1">
                <a:ea typeface="ＭＳ Ｐゴシック" panose="020B0600070205080204" pitchFamily="34" charset="-128"/>
              </a:rPr>
              <a:t>k</a:t>
            </a:r>
            <a:r>
              <a:rPr lang="en-US" altLang="ja-JP" sz="2100" dirty="0">
                <a:ea typeface="ＭＳ Ｐゴシック" panose="020B0600070205080204" pitchFamily="34" charset="-128"/>
              </a:rPr>
              <a:t>;		</a:t>
            </a:r>
            <a:r>
              <a:rPr lang="en-US" altLang="ja-JP" sz="2100" dirty="0">
                <a:solidFill>
                  <a:srgbClr val="3333CC"/>
                </a:solidFill>
                <a:ea typeface="ＭＳ Ｐゴシック" panose="020B0600070205080204" pitchFamily="34" charset="-128"/>
              </a:rPr>
              <a:t>// prune</a:t>
            </a:r>
          </a:p>
          <a:p>
            <a:pPr eaLnBrk="1" hangingPunct="1">
              <a:lnSpc>
                <a:spcPct val="90000"/>
              </a:lnSpc>
              <a:buFont typeface="Wingdings" panose="05000000000000000000" pitchFamily="2" charset="2"/>
              <a:buNone/>
            </a:pPr>
            <a:r>
              <a:rPr lang="en-US" altLang="ja-JP" sz="2100" b="1" dirty="0">
                <a:ea typeface="ＭＳ Ｐゴシック" panose="020B0600070205080204" pitchFamily="34" charset="-128"/>
              </a:rPr>
              <a:t>	    end</a:t>
            </a:r>
            <a:r>
              <a:rPr lang="en-US" altLang="ja-JP" sz="2100" dirty="0">
                <a:ea typeface="ＭＳ Ｐゴシック" panose="020B0600070205080204" pitchFamily="34" charset="-128"/>
              </a:rPr>
              <a:t>	</a:t>
            </a:r>
          </a:p>
          <a:p>
            <a:pPr eaLnBrk="1" hangingPunct="1">
              <a:lnSpc>
                <a:spcPct val="90000"/>
              </a:lnSpc>
              <a:buFont typeface="Wingdings" panose="05000000000000000000" pitchFamily="2" charset="2"/>
              <a:buNone/>
            </a:pPr>
            <a:r>
              <a:rPr lang="en-US" altLang="ja-JP" sz="2100" b="1" dirty="0">
                <a:ea typeface="ＭＳ Ｐゴシック" panose="020B0600070205080204" pitchFamily="34" charset="-128"/>
              </a:rPr>
              <a:t>	end</a:t>
            </a:r>
            <a:r>
              <a:rPr lang="en-US" altLang="ja-JP" sz="2100" dirty="0">
                <a:ea typeface="ＭＳ Ｐゴシック" panose="020B0600070205080204" pitchFamily="34" charset="-128"/>
              </a:rPr>
              <a:t>	</a:t>
            </a:r>
          </a:p>
          <a:p>
            <a:pPr eaLnBrk="1" hangingPunct="1">
              <a:lnSpc>
                <a:spcPct val="90000"/>
              </a:lnSpc>
              <a:buFont typeface="Wingdings" panose="05000000000000000000" pitchFamily="2" charset="2"/>
              <a:buNone/>
            </a:pPr>
            <a:r>
              <a:rPr lang="en-US" altLang="ja-JP" sz="2100" dirty="0">
                <a:ea typeface="ＭＳ Ｐゴシック" panose="020B0600070205080204" pitchFamily="34" charset="-128"/>
              </a:rPr>
              <a:t>	return </a:t>
            </a:r>
            <a:r>
              <a:rPr lang="en-US" altLang="ja-JP" sz="2100" i="1" dirty="0" err="1">
                <a:ea typeface="ＭＳ Ｐゴシック" panose="020B0600070205080204" pitchFamily="34" charset="-128"/>
              </a:rPr>
              <a:t>C</a:t>
            </a:r>
            <a:r>
              <a:rPr lang="en-US" altLang="ja-JP" sz="2100" i="1" baseline="-25000" dirty="0" err="1">
                <a:ea typeface="ＭＳ Ｐゴシック" panose="020B0600070205080204" pitchFamily="34" charset="-128"/>
              </a:rPr>
              <a:t>k</a:t>
            </a:r>
            <a:r>
              <a:rPr lang="en-US" altLang="ja-JP" sz="2100" dirty="0">
                <a:ea typeface="ＭＳ Ｐゴシック" panose="020B0600070205080204" pitchFamily="34" charset="-128"/>
              </a:rPr>
              <a:t>; 	</a:t>
            </a:r>
            <a:endParaRPr lang="en-US" sz="2100" dirty="0"/>
          </a:p>
        </p:txBody>
      </p:sp>
    </p:spTree>
    <p:extLst>
      <p:ext uri="{BB962C8B-B14F-4D97-AF65-F5344CB8AC3E}">
        <p14:creationId xmlns:p14="http://schemas.microsoft.com/office/powerpoint/2010/main" val="188893616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title" idx="4294967295"/>
          </p:nvPr>
        </p:nvSpPr>
        <p:spPr>
          <a:xfrm>
            <a:off x="942392" y="794333"/>
            <a:ext cx="10515600" cy="1325563"/>
          </a:xfrm>
        </p:spPr>
        <p:txBody>
          <a:bodyPr/>
          <a:lstStyle/>
          <a:p>
            <a:pPr eaLnBrk="1" hangingPunct="1"/>
            <a:r>
              <a:rPr lang="en-GB" dirty="0" smtClean="0"/>
              <a:t>An example</a:t>
            </a:r>
          </a:p>
        </p:txBody>
      </p:sp>
      <p:sp>
        <p:nvSpPr>
          <p:cNvPr id="28677" name="Rectangle 3"/>
          <p:cNvSpPr>
            <a:spLocks noGrp="1" noChangeArrowheads="1"/>
          </p:cNvSpPr>
          <p:nvPr>
            <p:ph type="body" idx="4294967295"/>
          </p:nvPr>
        </p:nvSpPr>
        <p:spPr>
          <a:xfrm>
            <a:off x="942392" y="1922463"/>
            <a:ext cx="10002416" cy="4799012"/>
          </a:xfrm>
        </p:spPr>
        <p:txBody>
          <a:bodyPr/>
          <a:lstStyle/>
          <a:p>
            <a:pPr eaLnBrk="1" hangingPunct="1"/>
            <a:r>
              <a:rPr lang="en-GB" sz="2600" i="1" dirty="0"/>
              <a:t>F</a:t>
            </a:r>
            <a:r>
              <a:rPr lang="en-GB" sz="2600" baseline="-25000" dirty="0"/>
              <a:t>3</a:t>
            </a:r>
            <a:r>
              <a:rPr lang="en-GB" sz="2600" dirty="0"/>
              <a:t> = {{1, 2,  3}, {1,  2,  4}, {1,  3,  4},   </a:t>
            </a:r>
          </a:p>
          <a:p>
            <a:pPr eaLnBrk="1" hangingPunct="1">
              <a:buFont typeface="Wingdings" panose="05000000000000000000" pitchFamily="2" charset="2"/>
              <a:buNone/>
            </a:pPr>
            <a:r>
              <a:rPr lang="en-GB" sz="2600" dirty="0"/>
              <a:t>			{1,  3,  5}, {2,  3,  4}}</a:t>
            </a:r>
          </a:p>
          <a:p>
            <a:pPr eaLnBrk="1" hangingPunct="1">
              <a:buFont typeface="Wingdings" panose="05000000000000000000" pitchFamily="2" charset="2"/>
              <a:buNone/>
            </a:pPr>
            <a:endParaRPr lang="en-GB" sz="2600" dirty="0"/>
          </a:p>
          <a:p>
            <a:pPr eaLnBrk="1" hangingPunct="1"/>
            <a:r>
              <a:rPr lang="en-GB" sz="2600" dirty="0"/>
              <a:t>After join	</a:t>
            </a:r>
          </a:p>
          <a:p>
            <a:pPr marL="742950" lvl="1" indent="-285750"/>
            <a:r>
              <a:rPr lang="en-GB" sz="2200" i="1" dirty="0"/>
              <a:t>C</a:t>
            </a:r>
            <a:r>
              <a:rPr lang="en-GB" baseline="-25000" dirty="0" smtClean="0"/>
              <a:t>4</a:t>
            </a:r>
            <a:r>
              <a:rPr lang="en-GB" sz="2200" dirty="0"/>
              <a:t> = {{1,  2,  3,  4}, {1,  3,  4,  5}}</a:t>
            </a:r>
          </a:p>
          <a:p>
            <a:pPr eaLnBrk="1" hangingPunct="1"/>
            <a:r>
              <a:rPr lang="en-GB" sz="2600" dirty="0"/>
              <a:t>After pruning:</a:t>
            </a:r>
          </a:p>
          <a:p>
            <a:pPr marL="742950" lvl="1" indent="-285750"/>
            <a:r>
              <a:rPr lang="en-GB" sz="2200" i="1" dirty="0"/>
              <a:t>C</a:t>
            </a:r>
            <a:r>
              <a:rPr lang="en-GB" baseline="-25000" dirty="0" smtClean="0"/>
              <a:t>4</a:t>
            </a:r>
            <a:r>
              <a:rPr lang="en-GB" sz="2200" dirty="0"/>
              <a:t> = {{1,  2,  3,   4}}</a:t>
            </a:r>
          </a:p>
          <a:p>
            <a:pPr marL="742950" lvl="1" indent="-285750">
              <a:spcAft>
                <a:spcPct val="50000"/>
              </a:spcAft>
              <a:buNone/>
            </a:pPr>
            <a:r>
              <a:rPr lang="en-GB" sz="2200" dirty="0"/>
              <a:t>	because </a:t>
            </a:r>
            <a:r>
              <a:rPr lang="en-GB" sz="2200" dirty="0">
                <a:solidFill>
                  <a:srgbClr val="FF0000"/>
                </a:solidFill>
              </a:rPr>
              <a:t>{1,  4,  5}</a:t>
            </a:r>
            <a:r>
              <a:rPr lang="en-GB" sz="2200" dirty="0"/>
              <a:t> is not in </a:t>
            </a:r>
            <a:r>
              <a:rPr lang="en-GB" sz="2200" i="1" dirty="0"/>
              <a:t>F</a:t>
            </a:r>
            <a:r>
              <a:rPr lang="en-GB" baseline="-25000" dirty="0" smtClean="0"/>
              <a:t>3</a:t>
            </a:r>
            <a:r>
              <a:rPr lang="en-GB" sz="2200" dirty="0"/>
              <a:t> ({1,  3,  4,  5} is removed) </a:t>
            </a:r>
          </a:p>
        </p:txBody>
      </p:sp>
    </p:spTree>
    <p:extLst>
      <p:ext uri="{BB962C8B-B14F-4D97-AF65-F5344CB8AC3E}">
        <p14:creationId xmlns:p14="http://schemas.microsoft.com/office/powerpoint/2010/main" val="240290866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2"/>
          <p:cNvSpPr>
            <a:spLocks noGrp="1" noChangeArrowheads="1"/>
          </p:cNvSpPr>
          <p:nvPr>
            <p:ph type="title" idx="4294967295"/>
          </p:nvPr>
        </p:nvSpPr>
        <p:spPr>
          <a:xfrm>
            <a:off x="774441" y="1271231"/>
            <a:ext cx="9517224" cy="682982"/>
          </a:xfrm>
        </p:spPr>
        <p:txBody>
          <a:bodyPr/>
          <a:lstStyle/>
          <a:p>
            <a:pPr eaLnBrk="1" hangingPunct="1"/>
            <a:r>
              <a:rPr lang="en-US" sz="3800" dirty="0"/>
              <a:t>Step 2: Generating rules from frequent </a:t>
            </a:r>
            <a:r>
              <a:rPr lang="en-US" sz="3800" dirty="0" err="1"/>
              <a:t>itemsets</a:t>
            </a:r>
            <a:endParaRPr lang="en-US" sz="3800" dirty="0"/>
          </a:p>
        </p:txBody>
      </p:sp>
      <p:sp>
        <p:nvSpPr>
          <p:cNvPr id="29701" name="Rectangle 3"/>
          <p:cNvSpPr>
            <a:spLocks noGrp="1" noChangeArrowheads="1"/>
          </p:cNvSpPr>
          <p:nvPr>
            <p:ph type="body" idx="4294967295"/>
          </p:nvPr>
        </p:nvSpPr>
        <p:spPr>
          <a:xfrm>
            <a:off x="699391" y="2090738"/>
            <a:ext cx="10115193" cy="4767262"/>
          </a:xfrm>
        </p:spPr>
        <p:txBody>
          <a:bodyPr/>
          <a:lstStyle/>
          <a:p>
            <a:pPr eaLnBrk="1" hangingPunct="1">
              <a:lnSpc>
                <a:spcPct val="90000"/>
              </a:lnSpc>
            </a:pPr>
            <a:r>
              <a:rPr lang="en-US" dirty="0" smtClean="0">
                <a:solidFill>
                  <a:srgbClr val="FF0000"/>
                </a:solidFill>
              </a:rPr>
              <a:t>Frequent </a:t>
            </a:r>
            <a:r>
              <a:rPr lang="en-US" dirty="0" err="1" smtClean="0">
                <a:solidFill>
                  <a:srgbClr val="FF0000"/>
                </a:solidFill>
              </a:rPr>
              <a:t>itemsets</a:t>
            </a:r>
            <a:r>
              <a:rPr lang="en-US" dirty="0" smtClean="0">
                <a:solidFill>
                  <a:srgbClr val="FF0000"/>
                </a:solidFill>
              </a:rPr>
              <a:t> </a:t>
            </a:r>
            <a:r>
              <a:rPr lang="en-US" b="1" dirty="0" smtClean="0">
                <a:solidFill>
                  <a:srgbClr val="FF0000"/>
                </a:solidFill>
                <a:sym typeface="Symbol" panose="05050102010706020507" pitchFamily="18" charset="2"/>
              </a:rPr>
              <a:t></a:t>
            </a:r>
            <a:r>
              <a:rPr lang="en-US" dirty="0" smtClean="0">
                <a:solidFill>
                  <a:srgbClr val="FF0000"/>
                </a:solidFill>
              </a:rPr>
              <a:t> association rules</a:t>
            </a:r>
          </a:p>
          <a:p>
            <a:pPr eaLnBrk="1" hangingPunct="1">
              <a:lnSpc>
                <a:spcPct val="90000"/>
              </a:lnSpc>
            </a:pPr>
            <a:r>
              <a:rPr lang="en-US" dirty="0" smtClean="0"/>
              <a:t>One more step is needed to generate association rules</a:t>
            </a:r>
          </a:p>
          <a:p>
            <a:pPr eaLnBrk="1" hangingPunct="1">
              <a:lnSpc>
                <a:spcPct val="90000"/>
              </a:lnSpc>
            </a:pPr>
            <a:r>
              <a:rPr lang="en-US" dirty="0" smtClean="0"/>
              <a:t>For each frequent </a:t>
            </a:r>
            <a:r>
              <a:rPr lang="en-US" dirty="0" err="1" smtClean="0"/>
              <a:t>itemset</a:t>
            </a:r>
            <a:r>
              <a:rPr lang="en-US" dirty="0" smtClean="0"/>
              <a:t> </a:t>
            </a:r>
            <a:r>
              <a:rPr lang="en-US" i="1" dirty="0" smtClean="0"/>
              <a:t>X</a:t>
            </a:r>
            <a:r>
              <a:rPr lang="en-US" dirty="0" smtClean="0"/>
              <a:t>, </a:t>
            </a:r>
          </a:p>
          <a:p>
            <a:pPr eaLnBrk="1" hangingPunct="1">
              <a:lnSpc>
                <a:spcPct val="90000"/>
              </a:lnSpc>
              <a:buFont typeface="Wingdings" panose="05000000000000000000" pitchFamily="2" charset="2"/>
              <a:buNone/>
            </a:pPr>
            <a:r>
              <a:rPr lang="en-US" dirty="0" smtClean="0"/>
              <a:t>	For each proper nonempty subset </a:t>
            </a:r>
            <a:r>
              <a:rPr lang="en-US" i="1" dirty="0" smtClean="0"/>
              <a:t>A</a:t>
            </a:r>
            <a:r>
              <a:rPr lang="en-US" dirty="0" smtClean="0"/>
              <a:t> of </a:t>
            </a:r>
            <a:r>
              <a:rPr lang="en-US" i="1" dirty="0" smtClean="0"/>
              <a:t>X</a:t>
            </a:r>
            <a:r>
              <a:rPr lang="en-US" dirty="0" smtClean="0"/>
              <a:t>, </a:t>
            </a:r>
          </a:p>
          <a:p>
            <a:pPr marL="742950" lvl="1" indent="-285750"/>
            <a:r>
              <a:rPr lang="en-US" dirty="0" smtClean="0"/>
              <a:t>Let </a:t>
            </a:r>
            <a:r>
              <a:rPr lang="en-US" i="1" dirty="0" smtClean="0"/>
              <a:t>B </a:t>
            </a:r>
            <a:r>
              <a:rPr lang="en-US" dirty="0" smtClean="0"/>
              <a:t>= X - </a:t>
            </a:r>
            <a:r>
              <a:rPr lang="en-US" i="1" dirty="0" smtClean="0"/>
              <a:t>A</a:t>
            </a:r>
            <a:endParaRPr lang="en-US" dirty="0" smtClean="0"/>
          </a:p>
          <a:p>
            <a:pPr marL="742950" lvl="1" indent="-285750"/>
            <a:r>
              <a:rPr lang="en-US" dirty="0" smtClean="0"/>
              <a:t>A </a:t>
            </a:r>
            <a:r>
              <a:rPr lang="en-US" sz="3000" dirty="0">
                <a:sym typeface="Symbol" panose="05050102010706020507" pitchFamily="18" charset="2"/>
              </a:rPr>
              <a:t></a:t>
            </a:r>
            <a:r>
              <a:rPr lang="en-US" dirty="0" smtClean="0"/>
              <a:t> B is an association rule if</a:t>
            </a:r>
          </a:p>
          <a:p>
            <a:pPr lvl="2"/>
            <a:r>
              <a:rPr lang="en-US" sz="2400" dirty="0"/>
              <a:t>Confidence(A </a:t>
            </a:r>
            <a:r>
              <a:rPr lang="en-US" sz="2600" dirty="0">
                <a:sym typeface="Symbol" panose="05050102010706020507" pitchFamily="18" charset="2"/>
              </a:rPr>
              <a:t></a:t>
            </a:r>
            <a:r>
              <a:rPr lang="en-US" sz="2400" dirty="0"/>
              <a:t> B) </a:t>
            </a:r>
            <a:r>
              <a:rPr lang="en-US" sz="2400" dirty="0">
                <a:cs typeface="Times New Roman" panose="02020603050405020304" pitchFamily="18" charset="0"/>
              </a:rPr>
              <a:t>≥</a:t>
            </a:r>
            <a:r>
              <a:rPr lang="en-US" sz="2400" dirty="0"/>
              <a:t> </a:t>
            </a:r>
            <a:r>
              <a:rPr lang="en-US" sz="2400" dirty="0" err="1"/>
              <a:t>minconf</a:t>
            </a:r>
            <a:r>
              <a:rPr lang="en-US" sz="2400" dirty="0"/>
              <a:t>,</a:t>
            </a:r>
          </a:p>
          <a:p>
            <a:pPr lvl="2">
              <a:buNone/>
            </a:pPr>
            <a:r>
              <a:rPr lang="en-US" sz="2400" dirty="0"/>
              <a:t>	support(A </a:t>
            </a:r>
            <a:r>
              <a:rPr lang="en-US" sz="2600" dirty="0">
                <a:sym typeface="Symbol" panose="05050102010706020507" pitchFamily="18" charset="2"/>
              </a:rPr>
              <a:t></a:t>
            </a:r>
            <a:r>
              <a:rPr lang="en-US" sz="2400" dirty="0">
                <a:sym typeface="Wingdings" panose="05000000000000000000" pitchFamily="2" charset="2"/>
              </a:rPr>
              <a:t> B) </a:t>
            </a:r>
            <a:r>
              <a:rPr lang="en-US" sz="2400" dirty="0"/>
              <a:t>= support(A</a:t>
            </a:r>
            <a:r>
              <a:rPr lang="en-US" sz="2400" dirty="0">
                <a:sym typeface="Symbol" panose="05050102010706020507" pitchFamily="18" charset="2"/>
              </a:rPr>
              <a:t></a:t>
            </a:r>
            <a:r>
              <a:rPr lang="en-US" sz="2400" dirty="0"/>
              <a:t>B) = support(X) </a:t>
            </a:r>
          </a:p>
          <a:p>
            <a:pPr lvl="2">
              <a:buNone/>
            </a:pPr>
            <a:r>
              <a:rPr lang="en-US" sz="2400" dirty="0"/>
              <a:t>	confidence(A </a:t>
            </a:r>
            <a:r>
              <a:rPr lang="en-US" sz="2600" dirty="0">
                <a:sym typeface="Symbol" panose="05050102010706020507" pitchFamily="18" charset="2"/>
              </a:rPr>
              <a:t></a:t>
            </a:r>
            <a:r>
              <a:rPr lang="en-US" sz="2400" dirty="0"/>
              <a:t> B) = support(A </a:t>
            </a:r>
            <a:r>
              <a:rPr lang="en-US" sz="2400" dirty="0">
                <a:sym typeface="Symbol" panose="05050102010706020507" pitchFamily="18" charset="2"/>
              </a:rPr>
              <a:t></a:t>
            </a:r>
            <a:r>
              <a:rPr lang="en-US" sz="2400" dirty="0"/>
              <a:t> B) / support(A)</a:t>
            </a:r>
          </a:p>
          <a:p>
            <a:pPr lvl="2"/>
            <a:endParaRPr lang="en-US" sz="2400" dirty="0"/>
          </a:p>
        </p:txBody>
      </p:sp>
    </p:spTree>
    <p:extLst>
      <p:ext uri="{BB962C8B-B14F-4D97-AF65-F5344CB8AC3E}">
        <p14:creationId xmlns:p14="http://schemas.microsoft.com/office/powerpoint/2010/main" val="102342214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p:cNvSpPr>
            <a:spLocks noGrp="1" noChangeArrowheads="1"/>
          </p:cNvSpPr>
          <p:nvPr>
            <p:ph type="title" idx="4294967295"/>
          </p:nvPr>
        </p:nvSpPr>
        <p:spPr>
          <a:xfrm>
            <a:off x="1073020" y="1069910"/>
            <a:ext cx="8675687" cy="963613"/>
          </a:xfrm>
        </p:spPr>
        <p:txBody>
          <a:bodyPr/>
          <a:lstStyle/>
          <a:p>
            <a:pPr eaLnBrk="1" hangingPunct="1"/>
            <a:r>
              <a:rPr lang="en-US" dirty="0" smtClean="0">
                <a:solidFill>
                  <a:srgbClr val="FF0000"/>
                </a:solidFill>
              </a:rPr>
              <a:t>Generating rules: an example</a:t>
            </a:r>
          </a:p>
        </p:txBody>
      </p:sp>
      <p:sp>
        <p:nvSpPr>
          <p:cNvPr id="30725" name="Rectangle 3"/>
          <p:cNvSpPr>
            <a:spLocks noGrp="1" noChangeArrowheads="1"/>
          </p:cNvSpPr>
          <p:nvPr>
            <p:ph type="body" idx="4294967295"/>
          </p:nvPr>
        </p:nvSpPr>
        <p:spPr>
          <a:xfrm>
            <a:off x="1073020" y="2033523"/>
            <a:ext cx="10969690" cy="4918075"/>
          </a:xfrm>
        </p:spPr>
        <p:txBody>
          <a:bodyPr/>
          <a:lstStyle/>
          <a:p>
            <a:pPr eaLnBrk="1" hangingPunct="1"/>
            <a:r>
              <a:rPr lang="en-US" sz="2600" dirty="0"/>
              <a:t>Suppose {2,3,4} is frequent, with sup=50%</a:t>
            </a:r>
          </a:p>
          <a:p>
            <a:pPr marL="742950" lvl="1" indent="-285750"/>
            <a:r>
              <a:rPr lang="en-US" sz="2200" dirty="0"/>
              <a:t>Proper nonempty subsets: {2,3}, {2,4}, {3,4}, {2}, {3}, {4}, with sup=50%, 50%, 75%, 75%, 75%, 75% respectively</a:t>
            </a:r>
          </a:p>
          <a:p>
            <a:pPr marL="742950" lvl="1" indent="-285750"/>
            <a:r>
              <a:rPr lang="en-US" sz="2200" dirty="0"/>
              <a:t>These generate these association rules:</a:t>
            </a:r>
          </a:p>
          <a:p>
            <a:pPr lvl="2"/>
            <a:r>
              <a:rPr lang="en-US" dirty="0" smtClean="0"/>
              <a:t>2,3 </a:t>
            </a:r>
            <a:r>
              <a:rPr lang="en-US" sz="2400" dirty="0">
                <a:sym typeface="Symbol" panose="05050102010706020507" pitchFamily="18" charset="2"/>
              </a:rPr>
              <a:t></a:t>
            </a:r>
            <a:r>
              <a:rPr lang="en-US" dirty="0" smtClean="0"/>
              <a:t> 4, 	confidence=100%</a:t>
            </a:r>
          </a:p>
          <a:p>
            <a:pPr lvl="2"/>
            <a:r>
              <a:rPr lang="en-US" dirty="0" smtClean="0"/>
              <a:t>2,4 </a:t>
            </a:r>
            <a:r>
              <a:rPr lang="en-US" sz="2400" dirty="0">
                <a:sym typeface="Symbol" panose="05050102010706020507" pitchFamily="18" charset="2"/>
              </a:rPr>
              <a:t></a:t>
            </a:r>
            <a:r>
              <a:rPr lang="en-US" dirty="0" smtClean="0"/>
              <a:t> 3, 	confidence=100%</a:t>
            </a:r>
          </a:p>
          <a:p>
            <a:pPr lvl="2"/>
            <a:r>
              <a:rPr lang="en-US" dirty="0" smtClean="0"/>
              <a:t>3,4 </a:t>
            </a:r>
            <a:r>
              <a:rPr lang="en-US" sz="2400" dirty="0">
                <a:sym typeface="Symbol" panose="05050102010706020507" pitchFamily="18" charset="2"/>
              </a:rPr>
              <a:t></a:t>
            </a:r>
            <a:r>
              <a:rPr lang="en-US" dirty="0" smtClean="0"/>
              <a:t> 2, 	confidence=67%</a:t>
            </a:r>
          </a:p>
          <a:p>
            <a:pPr lvl="2"/>
            <a:r>
              <a:rPr lang="en-US" dirty="0" smtClean="0"/>
              <a:t>2 </a:t>
            </a:r>
            <a:r>
              <a:rPr lang="en-US" sz="2400" dirty="0">
                <a:sym typeface="Symbol" panose="05050102010706020507" pitchFamily="18" charset="2"/>
              </a:rPr>
              <a:t></a:t>
            </a:r>
            <a:r>
              <a:rPr lang="en-US" dirty="0" smtClean="0"/>
              <a:t> 3,4, 	confidence=67%</a:t>
            </a:r>
          </a:p>
          <a:p>
            <a:pPr lvl="2"/>
            <a:r>
              <a:rPr lang="en-US" dirty="0" smtClean="0"/>
              <a:t>3 </a:t>
            </a:r>
            <a:r>
              <a:rPr lang="en-US" sz="2400" dirty="0">
                <a:sym typeface="Symbol" panose="05050102010706020507" pitchFamily="18" charset="2"/>
              </a:rPr>
              <a:t></a:t>
            </a:r>
            <a:r>
              <a:rPr lang="en-US" dirty="0" smtClean="0"/>
              <a:t> 2,4, 	confidence=67%</a:t>
            </a:r>
          </a:p>
          <a:p>
            <a:pPr lvl="2"/>
            <a:r>
              <a:rPr lang="en-US" dirty="0" smtClean="0"/>
              <a:t>4 </a:t>
            </a:r>
            <a:r>
              <a:rPr lang="en-US" sz="2400" dirty="0">
                <a:sym typeface="Symbol" panose="05050102010706020507" pitchFamily="18" charset="2"/>
              </a:rPr>
              <a:t></a:t>
            </a:r>
            <a:r>
              <a:rPr lang="en-US" dirty="0" smtClean="0"/>
              <a:t> 2,3, 	confidence=67%</a:t>
            </a:r>
          </a:p>
          <a:p>
            <a:pPr lvl="2"/>
            <a:r>
              <a:rPr lang="en-US" dirty="0" smtClean="0"/>
              <a:t>All rules have support = 50%</a:t>
            </a:r>
          </a:p>
        </p:txBody>
      </p:sp>
    </p:spTree>
    <p:extLst>
      <p:ext uri="{BB962C8B-B14F-4D97-AF65-F5344CB8AC3E}">
        <p14:creationId xmlns:p14="http://schemas.microsoft.com/office/powerpoint/2010/main" val="11256062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idx="4294967295"/>
          </p:nvPr>
        </p:nvSpPr>
        <p:spPr>
          <a:xfrm>
            <a:off x="1121017" y="1075806"/>
            <a:ext cx="7793037" cy="846138"/>
          </a:xfrm>
        </p:spPr>
        <p:txBody>
          <a:bodyPr/>
          <a:lstStyle/>
          <a:p>
            <a:pPr eaLnBrk="1" hangingPunct="1"/>
            <a:r>
              <a:rPr lang="en-US" b="1" dirty="0" smtClean="0">
                <a:solidFill>
                  <a:srgbClr val="FF0000"/>
                </a:solidFill>
              </a:rPr>
              <a:t>Generating rules</a:t>
            </a:r>
            <a:r>
              <a:rPr lang="en-US" dirty="0" smtClean="0"/>
              <a:t>: summary</a:t>
            </a:r>
          </a:p>
        </p:txBody>
      </p:sp>
      <p:sp>
        <p:nvSpPr>
          <p:cNvPr id="31749" name="Rectangle 3"/>
          <p:cNvSpPr>
            <a:spLocks noGrp="1" noChangeArrowheads="1"/>
          </p:cNvSpPr>
          <p:nvPr>
            <p:ph type="body" idx="4294967295"/>
          </p:nvPr>
        </p:nvSpPr>
        <p:spPr>
          <a:xfrm>
            <a:off x="940835" y="2023675"/>
            <a:ext cx="11021009" cy="4351337"/>
          </a:xfrm>
        </p:spPr>
        <p:txBody>
          <a:bodyPr/>
          <a:lstStyle/>
          <a:p>
            <a:pPr eaLnBrk="1" hangingPunct="1">
              <a:lnSpc>
                <a:spcPct val="90000"/>
              </a:lnSpc>
            </a:pPr>
            <a:r>
              <a:rPr lang="en-US" dirty="0" smtClean="0"/>
              <a:t>To recap, in order to obtain A </a:t>
            </a:r>
            <a:r>
              <a:rPr lang="en-US" dirty="0" smtClean="0">
                <a:sym typeface="Symbol" panose="05050102010706020507" pitchFamily="18" charset="2"/>
              </a:rPr>
              <a:t> </a:t>
            </a:r>
            <a:r>
              <a:rPr lang="en-US" dirty="0" smtClean="0"/>
              <a:t>B, we need to have support(A </a:t>
            </a:r>
            <a:r>
              <a:rPr lang="en-US" sz="3100" dirty="0">
                <a:sym typeface="Symbol" panose="05050102010706020507" pitchFamily="18" charset="2"/>
              </a:rPr>
              <a:t></a:t>
            </a:r>
            <a:r>
              <a:rPr lang="en-US" dirty="0" smtClean="0"/>
              <a:t> B) and support(A)</a:t>
            </a:r>
          </a:p>
          <a:p>
            <a:pPr eaLnBrk="1" hangingPunct="1">
              <a:lnSpc>
                <a:spcPct val="90000"/>
              </a:lnSpc>
            </a:pPr>
            <a:r>
              <a:rPr lang="en-US" dirty="0" smtClean="0"/>
              <a:t>All the required information for confidence computation has already been recorded in </a:t>
            </a:r>
            <a:r>
              <a:rPr lang="en-US" dirty="0" err="1" smtClean="0"/>
              <a:t>itemset</a:t>
            </a:r>
            <a:r>
              <a:rPr lang="en-US" dirty="0" smtClean="0"/>
              <a:t> generation. No need to see the data </a:t>
            </a:r>
            <a:r>
              <a:rPr lang="en-US" i="1" dirty="0" smtClean="0"/>
              <a:t>T</a:t>
            </a:r>
            <a:r>
              <a:rPr lang="en-US" dirty="0" smtClean="0"/>
              <a:t> any more. </a:t>
            </a:r>
          </a:p>
          <a:p>
            <a:pPr eaLnBrk="1" hangingPunct="1">
              <a:lnSpc>
                <a:spcPct val="90000"/>
              </a:lnSpc>
            </a:pPr>
            <a:r>
              <a:rPr lang="en-US" dirty="0" smtClean="0"/>
              <a:t>This step is not as time-consuming as frequent </a:t>
            </a:r>
            <a:r>
              <a:rPr lang="en-US" dirty="0" err="1" smtClean="0"/>
              <a:t>itemsets</a:t>
            </a:r>
            <a:r>
              <a:rPr lang="en-US" dirty="0" smtClean="0"/>
              <a:t> generation.</a:t>
            </a:r>
          </a:p>
        </p:txBody>
      </p:sp>
    </p:spTree>
    <p:extLst>
      <p:ext uri="{BB962C8B-B14F-4D97-AF65-F5344CB8AC3E}">
        <p14:creationId xmlns:p14="http://schemas.microsoft.com/office/powerpoint/2010/main" val="357961913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2"/>
          <p:cNvSpPr>
            <a:spLocks noGrp="1" noChangeArrowheads="1"/>
          </p:cNvSpPr>
          <p:nvPr>
            <p:ph type="title" idx="4294967295"/>
          </p:nvPr>
        </p:nvSpPr>
        <p:spPr>
          <a:xfrm>
            <a:off x="513184" y="1298770"/>
            <a:ext cx="7793038" cy="1143000"/>
          </a:xfrm>
        </p:spPr>
        <p:txBody>
          <a:bodyPr/>
          <a:lstStyle/>
          <a:p>
            <a:pPr eaLnBrk="1" hangingPunct="1"/>
            <a:r>
              <a:rPr lang="en-US" dirty="0" smtClean="0"/>
              <a:t>On </a:t>
            </a:r>
            <a:r>
              <a:rPr lang="en-US" dirty="0" err="1" smtClean="0"/>
              <a:t>Apriori</a:t>
            </a:r>
            <a:r>
              <a:rPr lang="en-US" dirty="0" smtClean="0"/>
              <a:t> Algorithm</a:t>
            </a:r>
          </a:p>
        </p:txBody>
      </p:sp>
      <p:sp>
        <p:nvSpPr>
          <p:cNvPr id="33797" name="Rectangle 3"/>
          <p:cNvSpPr>
            <a:spLocks noGrp="1" noChangeArrowheads="1"/>
          </p:cNvSpPr>
          <p:nvPr>
            <p:ph type="body" idx="4294967295"/>
          </p:nvPr>
        </p:nvSpPr>
        <p:spPr>
          <a:xfrm>
            <a:off x="513184" y="2441770"/>
            <a:ext cx="11678816" cy="4727575"/>
          </a:xfrm>
        </p:spPr>
        <p:txBody>
          <a:bodyPr/>
          <a:lstStyle/>
          <a:p>
            <a:pPr eaLnBrk="1" hangingPunct="1">
              <a:buFont typeface="Wingdings" panose="05000000000000000000" pitchFamily="2" charset="2"/>
              <a:buNone/>
            </a:pPr>
            <a:r>
              <a:rPr lang="en-US" sz="2600" dirty="0"/>
              <a:t>Seems to be very expensive</a:t>
            </a:r>
          </a:p>
          <a:p>
            <a:pPr eaLnBrk="1" hangingPunct="1"/>
            <a:r>
              <a:rPr lang="en-US" sz="2600" dirty="0"/>
              <a:t>Level-wise search</a:t>
            </a:r>
          </a:p>
          <a:p>
            <a:pPr eaLnBrk="1" hangingPunct="1"/>
            <a:r>
              <a:rPr lang="en-US" sz="2600" dirty="0"/>
              <a:t>K = the size of the largest </a:t>
            </a:r>
            <a:r>
              <a:rPr lang="en-US" sz="2600" dirty="0" err="1"/>
              <a:t>itemset</a:t>
            </a:r>
            <a:endParaRPr lang="en-US" sz="2600" dirty="0"/>
          </a:p>
          <a:p>
            <a:pPr eaLnBrk="1" hangingPunct="1"/>
            <a:r>
              <a:rPr lang="en-US" sz="2600" dirty="0"/>
              <a:t>It makes at most K passes over data</a:t>
            </a:r>
          </a:p>
          <a:p>
            <a:pPr eaLnBrk="1" hangingPunct="1"/>
            <a:r>
              <a:rPr lang="en-US" sz="2600" dirty="0"/>
              <a:t>In practice, K is bounded (10). </a:t>
            </a:r>
          </a:p>
          <a:p>
            <a:pPr eaLnBrk="1" hangingPunct="1"/>
            <a:r>
              <a:rPr lang="en-US" sz="2600" dirty="0"/>
              <a:t>The algorithm is very fast. Under some conditions, all rules can be found in </a:t>
            </a:r>
            <a:r>
              <a:rPr lang="en-US" sz="2600" dirty="0">
                <a:solidFill>
                  <a:srgbClr val="FF0000"/>
                </a:solidFill>
              </a:rPr>
              <a:t>linear time</a:t>
            </a:r>
            <a:r>
              <a:rPr lang="en-US" sz="2600" dirty="0"/>
              <a:t>.</a:t>
            </a:r>
            <a:endParaRPr lang="en-US" sz="2600" dirty="0">
              <a:solidFill>
                <a:schemeClr val="hlink"/>
              </a:solidFill>
            </a:endParaRPr>
          </a:p>
          <a:p>
            <a:pPr eaLnBrk="1" hangingPunct="1">
              <a:spcBef>
                <a:spcPct val="15000"/>
              </a:spcBef>
            </a:pPr>
            <a:r>
              <a:rPr lang="en-US" sz="2600" dirty="0"/>
              <a:t>Scale up to large data sets</a:t>
            </a:r>
          </a:p>
        </p:txBody>
      </p:sp>
    </p:spTree>
    <p:extLst>
      <p:ext uri="{BB962C8B-B14F-4D97-AF65-F5344CB8AC3E}">
        <p14:creationId xmlns:p14="http://schemas.microsoft.com/office/powerpoint/2010/main" val="99540091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idx="4294967295"/>
          </p:nvPr>
        </p:nvSpPr>
        <p:spPr>
          <a:xfrm>
            <a:off x="585237" y="942391"/>
            <a:ext cx="8051800" cy="1446246"/>
          </a:xfrm>
        </p:spPr>
        <p:txBody>
          <a:bodyPr>
            <a:normAutofit/>
          </a:bodyPr>
          <a:lstStyle/>
          <a:p>
            <a:pPr eaLnBrk="1" hangingPunct="1"/>
            <a:r>
              <a:rPr lang="en-US" dirty="0" smtClean="0"/>
              <a:t/>
            </a:r>
            <a:br>
              <a:rPr lang="en-US" dirty="0" smtClean="0"/>
            </a:br>
            <a:r>
              <a:rPr lang="en-US" dirty="0" smtClean="0"/>
              <a:t>More on association rule mining</a:t>
            </a:r>
          </a:p>
        </p:txBody>
      </p:sp>
      <p:sp>
        <p:nvSpPr>
          <p:cNvPr id="34821" name="Rectangle 3"/>
          <p:cNvSpPr>
            <a:spLocks noGrp="1" noChangeArrowheads="1"/>
          </p:cNvSpPr>
          <p:nvPr>
            <p:ph type="body" idx="4294967295"/>
          </p:nvPr>
        </p:nvSpPr>
        <p:spPr>
          <a:xfrm>
            <a:off x="195943" y="1492898"/>
            <a:ext cx="10879493" cy="4831702"/>
          </a:xfrm>
        </p:spPr>
        <p:txBody>
          <a:bodyPr/>
          <a:lstStyle/>
          <a:p>
            <a:pPr eaLnBrk="1" hangingPunct="1">
              <a:spcBef>
                <a:spcPct val="15000"/>
              </a:spcBef>
            </a:pPr>
            <a:endParaRPr lang="en-US" dirty="0" smtClean="0"/>
          </a:p>
          <a:p>
            <a:pPr eaLnBrk="1" hangingPunct="1">
              <a:spcBef>
                <a:spcPct val="15000"/>
              </a:spcBef>
            </a:pPr>
            <a:endParaRPr lang="en-US" dirty="0" smtClean="0"/>
          </a:p>
          <a:p>
            <a:pPr eaLnBrk="1" hangingPunct="1">
              <a:spcBef>
                <a:spcPct val="15000"/>
              </a:spcBef>
            </a:pPr>
            <a:endParaRPr lang="en-US" dirty="0" smtClean="0"/>
          </a:p>
          <a:p>
            <a:pPr eaLnBrk="1" hangingPunct="1">
              <a:spcBef>
                <a:spcPct val="15000"/>
              </a:spcBef>
            </a:pPr>
            <a:r>
              <a:rPr lang="en-US" dirty="0" smtClean="0"/>
              <a:t>Clearly the space of all association rules is </a:t>
            </a:r>
            <a:r>
              <a:rPr lang="en-US" dirty="0" smtClean="0">
                <a:solidFill>
                  <a:srgbClr val="FF0000"/>
                </a:solidFill>
              </a:rPr>
              <a:t>exponential, O(2</a:t>
            </a:r>
            <a:r>
              <a:rPr lang="en-US" baseline="30000" dirty="0" smtClean="0">
                <a:solidFill>
                  <a:srgbClr val="FF0000"/>
                </a:solidFill>
              </a:rPr>
              <a:t>m</a:t>
            </a:r>
            <a:r>
              <a:rPr lang="en-US" dirty="0" smtClean="0">
                <a:solidFill>
                  <a:srgbClr val="FF0000"/>
                </a:solidFill>
              </a:rPr>
              <a:t>)</a:t>
            </a:r>
            <a:r>
              <a:rPr lang="en-US" dirty="0" smtClean="0"/>
              <a:t>, where m is the number of items in </a:t>
            </a:r>
            <a:r>
              <a:rPr lang="en-US" i="1" dirty="0" smtClean="0"/>
              <a:t>I</a:t>
            </a:r>
            <a:r>
              <a:rPr lang="en-US" dirty="0" smtClean="0"/>
              <a:t>. </a:t>
            </a:r>
          </a:p>
          <a:p>
            <a:pPr eaLnBrk="1" hangingPunct="1">
              <a:spcBef>
                <a:spcPct val="15000"/>
              </a:spcBef>
            </a:pPr>
            <a:r>
              <a:rPr lang="en-US" dirty="0" smtClean="0"/>
              <a:t>The mining exploits </a:t>
            </a:r>
            <a:r>
              <a:rPr lang="en-US" dirty="0" smtClean="0">
                <a:solidFill>
                  <a:srgbClr val="FF0000"/>
                </a:solidFill>
              </a:rPr>
              <a:t>sparseness of data</a:t>
            </a:r>
            <a:r>
              <a:rPr lang="en-US" dirty="0" smtClean="0"/>
              <a:t>, and </a:t>
            </a:r>
            <a:r>
              <a:rPr lang="en-US" dirty="0" smtClean="0">
                <a:solidFill>
                  <a:srgbClr val="FF0000"/>
                </a:solidFill>
              </a:rPr>
              <a:t>high minimum support</a:t>
            </a:r>
            <a:r>
              <a:rPr lang="en-US" dirty="0" smtClean="0"/>
              <a:t> and </a:t>
            </a:r>
            <a:r>
              <a:rPr lang="en-US" dirty="0" smtClean="0">
                <a:solidFill>
                  <a:srgbClr val="FF0000"/>
                </a:solidFill>
              </a:rPr>
              <a:t>high minimum confidence</a:t>
            </a:r>
            <a:r>
              <a:rPr lang="en-US" dirty="0" smtClean="0"/>
              <a:t> values. </a:t>
            </a:r>
          </a:p>
          <a:p>
            <a:pPr eaLnBrk="1" hangingPunct="1">
              <a:spcBef>
                <a:spcPct val="15000"/>
              </a:spcBef>
            </a:pPr>
            <a:r>
              <a:rPr lang="en-US" dirty="0" smtClean="0"/>
              <a:t>Still, it always produces a </a:t>
            </a:r>
            <a:r>
              <a:rPr lang="en-US" dirty="0" smtClean="0">
                <a:solidFill>
                  <a:srgbClr val="FF0000"/>
                </a:solidFill>
              </a:rPr>
              <a:t>huge number of rules</a:t>
            </a:r>
            <a:r>
              <a:rPr lang="en-US" dirty="0" smtClean="0"/>
              <a:t>, thousands, tens of thousands, millions, ... </a:t>
            </a:r>
          </a:p>
          <a:p>
            <a:pPr eaLnBrk="1" hangingPunct="1">
              <a:spcBef>
                <a:spcPct val="15000"/>
              </a:spcBef>
            </a:pPr>
            <a:endParaRPr lang="en-US" dirty="0" smtClean="0"/>
          </a:p>
        </p:txBody>
      </p:sp>
    </p:spTree>
    <p:extLst>
      <p:ext uri="{BB962C8B-B14F-4D97-AF65-F5344CB8AC3E}">
        <p14:creationId xmlns:p14="http://schemas.microsoft.com/office/powerpoint/2010/main" val="316241970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2"/>
          <p:cNvSpPr>
            <a:spLocks noGrp="1" noChangeArrowheads="1"/>
          </p:cNvSpPr>
          <p:nvPr>
            <p:ph type="title" idx="4294967295"/>
          </p:nvPr>
        </p:nvSpPr>
        <p:spPr>
          <a:xfrm>
            <a:off x="0" y="365125"/>
            <a:ext cx="10515600" cy="1325563"/>
          </a:xfrm>
        </p:spPr>
        <p:txBody>
          <a:bodyPr/>
          <a:lstStyle/>
          <a:p>
            <a:pPr eaLnBrk="1" hangingPunct="1"/>
            <a:r>
              <a:rPr lang="en-US" smtClean="0"/>
              <a:t>Road map</a:t>
            </a:r>
          </a:p>
        </p:txBody>
      </p:sp>
      <p:sp>
        <p:nvSpPr>
          <p:cNvPr id="35845" name="Rectangle 3"/>
          <p:cNvSpPr>
            <a:spLocks noGrp="1" noChangeArrowheads="1"/>
          </p:cNvSpPr>
          <p:nvPr>
            <p:ph type="body" idx="4294967295"/>
          </p:nvPr>
        </p:nvSpPr>
        <p:spPr>
          <a:xfrm>
            <a:off x="0" y="1825625"/>
            <a:ext cx="10515600" cy="4351338"/>
          </a:xfrm>
        </p:spPr>
        <p:txBody>
          <a:bodyPr/>
          <a:lstStyle/>
          <a:p>
            <a:pPr eaLnBrk="1" hangingPunct="1"/>
            <a:r>
              <a:rPr lang="en-US" smtClean="0"/>
              <a:t>Basic concepts of Association Rules</a:t>
            </a:r>
          </a:p>
          <a:p>
            <a:pPr eaLnBrk="1" hangingPunct="1"/>
            <a:r>
              <a:rPr lang="en-US" smtClean="0"/>
              <a:t>Apriori algorithm</a:t>
            </a:r>
          </a:p>
          <a:p>
            <a:pPr eaLnBrk="1" hangingPunct="1"/>
            <a:r>
              <a:rPr lang="en-US" smtClean="0">
                <a:solidFill>
                  <a:srgbClr val="FF0000"/>
                </a:solidFill>
              </a:rPr>
              <a:t>Different data formats for mining</a:t>
            </a:r>
          </a:p>
          <a:p>
            <a:pPr eaLnBrk="1" hangingPunct="1"/>
            <a:r>
              <a:rPr lang="en-US" smtClean="0"/>
              <a:t>Mining with multiple minimum supports</a:t>
            </a:r>
          </a:p>
          <a:p>
            <a:pPr eaLnBrk="1" hangingPunct="1"/>
            <a:r>
              <a:rPr lang="en-US" smtClean="0"/>
              <a:t>Mining class association rules</a:t>
            </a:r>
          </a:p>
          <a:p>
            <a:pPr eaLnBrk="1" hangingPunct="1"/>
            <a:r>
              <a:rPr lang="en-US" smtClean="0"/>
              <a:t>Sequential pattern mining</a:t>
            </a:r>
          </a:p>
          <a:p>
            <a:pPr eaLnBrk="1" hangingPunct="1"/>
            <a:r>
              <a:rPr lang="en-US" smtClean="0"/>
              <a:t>Summary</a:t>
            </a:r>
          </a:p>
          <a:p>
            <a:pPr eaLnBrk="1" hangingPunct="1"/>
            <a:endParaRPr lang="en-US" smtClean="0"/>
          </a:p>
        </p:txBody>
      </p:sp>
    </p:spTree>
    <p:extLst>
      <p:ext uri="{BB962C8B-B14F-4D97-AF65-F5344CB8AC3E}">
        <p14:creationId xmlns:p14="http://schemas.microsoft.com/office/powerpoint/2010/main" val="21791460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2"/>
          <p:cNvSpPr>
            <a:spLocks noGrp="1" noChangeArrowheads="1"/>
          </p:cNvSpPr>
          <p:nvPr>
            <p:ph type="title" idx="4294967295"/>
          </p:nvPr>
        </p:nvSpPr>
        <p:spPr>
          <a:xfrm>
            <a:off x="793102" y="952954"/>
            <a:ext cx="10515600" cy="1325563"/>
          </a:xfrm>
        </p:spPr>
        <p:txBody>
          <a:bodyPr/>
          <a:lstStyle/>
          <a:p>
            <a:r>
              <a:rPr lang="en-US" b="1" dirty="0" smtClean="0">
                <a:solidFill>
                  <a:srgbClr val="FF0000"/>
                </a:solidFill>
              </a:rPr>
              <a:t>Different data formats for mining</a:t>
            </a:r>
            <a:r>
              <a:rPr lang="en-US" dirty="0">
                <a:solidFill>
                  <a:srgbClr val="FF0000"/>
                </a:solidFill>
              </a:rPr>
              <a:t> :</a:t>
            </a:r>
            <a:endParaRPr lang="en-US" b="1" dirty="0" smtClean="0">
              <a:solidFill>
                <a:srgbClr val="FF0000"/>
              </a:solidFill>
            </a:endParaRPr>
          </a:p>
        </p:txBody>
      </p:sp>
      <p:sp>
        <p:nvSpPr>
          <p:cNvPr id="36869" name="Rectangle 3"/>
          <p:cNvSpPr>
            <a:spLocks noGrp="1" noChangeArrowheads="1"/>
          </p:cNvSpPr>
          <p:nvPr>
            <p:ph type="body" idx="4294967295"/>
          </p:nvPr>
        </p:nvSpPr>
        <p:spPr>
          <a:xfrm>
            <a:off x="858416" y="2339781"/>
            <a:ext cx="10077061" cy="4199131"/>
          </a:xfrm>
        </p:spPr>
        <p:txBody>
          <a:bodyPr/>
          <a:lstStyle/>
          <a:p>
            <a:pPr eaLnBrk="1" hangingPunct="1">
              <a:lnSpc>
                <a:spcPct val="90000"/>
              </a:lnSpc>
            </a:pPr>
            <a:r>
              <a:rPr lang="en-US" dirty="0" smtClean="0"/>
              <a:t>The data can be in transaction form or table form</a:t>
            </a:r>
          </a:p>
          <a:p>
            <a:pPr marL="742950" lvl="1" indent="-285750">
              <a:buNone/>
            </a:pPr>
            <a:r>
              <a:rPr lang="en-US" dirty="0" smtClean="0">
                <a:solidFill>
                  <a:srgbClr val="FF0000"/>
                </a:solidFill>
              </a:rPr>
              <a:t>Transaction form:</a:t>
            </a:r>
            <a:r>
              <a:rPr lang="en-US" dirty="0" smtClean="0"/>
              <a:t>	a, b</a:t>
            </a:r>
          </a:p>
          <a:p>
            <a:pPr marL="742950" lvl="1" indent="-285750">
              <a:buNone/>
            </a:pPr>
            <a:r>
              <a:rPr lang="en-US" dirty="0" smtClean="0"/>
              <a:t>					a, c, d, e</a:t>
            </a:r>
          </a:p>
          <a:p>
            <a:pPr marL="742950" lvl="1" indent="-285750">
              <a:spcAft>
                <a:spcPct val="40000"/>
              </a:spcAft>
              <a:buNone/>
            </a:pPr>
            <a:r>
              <a:rPr lang="en-US" dirty="0" smtClean="0"/>
              <a:t>					a, d, f</a:t>
            </a:r>
          </a:p>
          <a:p>
            <a:pPr marL="742950" lvl="1" indent="-285750">
              <a:buNone/>
            </a:pPr>
            <a:r>
              <a:rPr lang="en-US" dirty="0" smtClean="0">
                <a:solidFill>
                  <a:srgbClr val="FF0000"/>
                </a:solidFill>
              </a:rPr>
              <a:t>Table form:</a:t>
            </a:r>
            <a:r>
              <a:rPr lang="en-US" dirty="0" smtClean="0"/>
              <a:t>		Attr1	Attr2	Attr3</a:t>
            </a:r>
          </a:p>
          <a:p>
            <a:pPr marL="742950" lvl="1" indent="-285750">
              <a:buNone/>
            </a:pPr>
            <a:r>
              <a:rPr lang="en-US" dirty="0" smtClean="0"/>
              <a:t>					a, 	b, 	d</a:t>
            </a:r>
          </a:p>
          <a:p>
            <a:pPr marL="742950" lvl="1" indent="-285750">
              <a:buNone/>
            </a:pPr>
            <a:r>
              <a:rPr lang="en-US" dirty="0" smtClean="0"/>
              <a:t>					b, 	c,	e</a:t>
            </a:r>
          </a:p>
          <a:p>
            <a:pPr eaLnBrk="1" hangingPunct="1">
              <a:lnSpc>
                <a:spcPct val="90000"/>
              </a:lnSpc>
            </a:pPr>
            <a:r>
              <a:rPr lang="en-US" dirty="0" smtClean="0">
                <a:solidFill>
                  <a:srgbClr val="3333CC"/>
                </a:solidFill>
              </a:rPr>
              <a:t>Table data need to be converted to transaction form for association mining</a:t>
            </a:r>
            <a:r>
              <a:rPr lang="en-US" dirty="0" smtClean="0"/>
              <a:t> </a:t>
            </a:r>
          </a:p>
        </p:txBody>
      </p:sp>
    </p:spTree>
    <p:extLst>
      <p:ext uri="{BB962C8B-B14F-4D97-AF65-F5344CB8AC3E}">
        <p14:creationId xmlns:p14="http://schemas.microsoft.com/office/powerpoint/2010/main" val="356735590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2"/>
          <p:cNvSpPr>
            <a:spLocks noGrp="1" noChangeArrowheads="1"/>
          </p:cNvSpPr>
          <p:nvPr>
            <p:ph type="title" idx="4294967295"/>
          </p:nvPr>
        </p:nvSpPr>
        <p:spPr>
          <a:xfrm>
            <a:off x="718456" y="1160560"/>
            <a:ext cx="10515600" cy="1325563"/>
          </a:xfrm>
        </p:spPr>
        <p:txBody>
          <a:bodyPr/>
          <a:lstStyle/>
          <a:p>
            <a:pPr eaLnBrk="1" hangingPunct="1"/>
            <a:r>
              <a:rPr lang="en-US" b="1" dirty="0" smtClean="0">
                <a:solidFill>
                  <a:srgbClr val="FF0000"/>
                </a:solidFill>
              </a:rPr>
              <a:t>From a table to a set of transactions</a:t>
            </a:r>
          </a:p>
        </p:txBody>
      </p:sp>
      <p:sp>
        <p:nvSpPr>
          <p:cNvPr id="37893" name="Rectangle 3"/>
          <p:cNvSpPr>
            <a:spLocks noGrp="1" noChangeArrowheads="1"/>
          </p:cNvSpPr>
          <p:nvPr>
            <p:ph type="body" idx="4294967295"/>
          </p:nvPr>
        </p:nvSpPr>
        <p:spPr>
          <a:xfrm>
            <a:off x="653142" y="2781268"/>
            <a:ext cx="9750490" cy="4235352"/>
          </a:xfrm>
        </p:spPr>
        <p:txBody>
          <a:bodyPr/>
          <a:lstStyle/>
          <a:p>
            <a:pPr lvl="1" eaLnBrk="1" hangingPunct="1">
              <a:buFont typeface="Wingdings" panose="05000000000000000000" pitchFamily="2" charset="2"/>
              <a:buNone/>
            </a:pPr>
            <a:r>
              <a:rPr lang="en-US" dirty="0" smtClean="0">
                <a:solidFill>
                  <a:srgbClr val="FF0000"/>
                </a:solidFill>
              </a:rPr>
              <a:t>Table form:</a:t>
            </a:r>
            <a:r>
              <a:rPr lang="en-US" dirty="0" smtClean="0"/>
              <a:t>		Attr1	Attr2	Attr3</a:t>
            </a:r>
          </a:p>
          <a:p>
            <a:pPr lvl="1" eaLnBrk="1" hangingPunct="1">
              <a:buFont typeface="Wingdings" panose="05000000000000000000" pitchFamily="2" charset="2"/>
              <a:buNone/>
            </a:pPr>
            <a:r>
              <a:rPr lang="en-US" dirty="0" smtClean="0"/>
              <a:t>					a, 	b, 	d</a:t>
            </a:r>
          </a:p>
          <a:p>
            <a:pPr lvl="1" eaLnBrk="1" hangingPunct="1">
              <a:buFont typeface="Wingdings" panose="05000000000000000000" pitchFamily="2" charset="2"/>
              <a:buNone/>
            </a:pPr>
            <a:r>
              <a:rPr lang="en-US" dirty="0" smtClean="0"/>
              <a:t>					b, 	c,	e</a:t>
            </a:r>
          </a:p>
          <a:p>
            <a:pPr lvl="1" eaLnBrk="1" hangingPunct="1">
              <a:buFont typeface="Wingdings" panose="05000000000000000000" pitchFamily="2" charset="2"/>
              <a:buNone/>
            </a:pPr>
            <a:endParaRPr lang="en-US" dirty="0" smtClean="0"/>
          </a:p>
          <a:p>
            <a:pPr lvl="1" eaLnBrk="1" hangingPunct="1">
              <a:buFont typeface="Symbol" panose="05050102010706020507" pitchFamily="18" charset="2"/>
              <a:buChar char="Þ"/>
            </a:pPr>
            <a:r>
              <a:rPr lang="en-US" dirty="0" smtClean="0">
                <a:solidFill>
                  <a:srgbClr val="FF0000"/>
                </a:solidFill>
              </a:rPr>
              <a:t>Transaction form</a:t>
            </a:r>
            <a:r>
              <a:rPr lang="en-US" dirty="0" smtClean="0"/>
              <a:t>:</a:t>
            </a:r>
          </a:p>
          <a:p>
            <a:pPr lvl="1" eaLnBrk="1" hangingPunct="1">
              <a:buFont typeface="Symbol" panose="05050102010706020507" pitchFamily="18" charset="2"/>
              <a:buNone/>
            </a:pPr>
            <a:r>
              <a:rPr lang="en-US" dirty="0" smtClean="0"/>
              <a:t>		(Attr1, a), (Attr2, b), (Attr3, d)</a:t>
            </a:r>
          </a:p>
          <a:p>
            <a:pPr lvl="1" eaLnBrk="1" hangingPunct="1">
              <a:buFont typeface="Symbol" panose="05050102010706020507" pitchFamily="18" charset="2"/>
              <a:buNone/>
            </a:pPr>
            <a:r>
              <a:rPr lang="en-US" dirty="0" smtClean="0"/>
              <a:t>		(Attr1, b), (Attr2, c), (Attr3, e)</a:t>
            </a:r>
          </a:p>
          <a:p>
            <a:pPr eaLnBrk="1" hangingPunct="1">
              <a:buFont typeface="Wingdings" panose="05000000000000000000" pitchFamily="2" charset="2"/>
              <a:buNone/>
            </a:pPr>
            <a:endParaRPr lang="en-US" dirty="0" smtClean="0"/>
          </a:p>
        </p:txBody>
      </p:sp>
    </p:spTree>
    <p:extLst>
      <p:ext uri="{BB962C8B-B14F-4D97-AF65-F5344CB8AC3E}">
        <p14:creationId xmlns:p14="http://schemas.microsoft.com/office/powerpoint/2010/main" val="37444140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2"/>
          <p:cNvSpPr>
            <a:spLocks noGrp="1" noChangeArrowheads="1"/>
          </p:cNvSpPr>
          <p:nvPr>
            <p:ph type="title" idx="4294967295"/>
          </p:nvPr>
        </p:nvSpPr>
        <p:spPr>
          <a:xfrm>
            <a:off x="0" y="365125"/>
            <a:ext cx="10515600" cy="1325563"/>
          </a:xfrm>
        </p:spPr>
        <p:txBody>
          <a:bodyPr/>
          <a:lstStyle/>
          <a:p>
            <a:pPr eaLnBrk="1" hangingPunct="1"/>
            <a:r>
              <a:rPr lang="en-US" smtClean="0"/>
              <a:t>Road map</a:t>
            </a:r>
          </a:p>
        </p:txBody>
      </p:sp>
      <p:sp>
        <p:nvSpPr>
          <p:cNvPr id="38917" name="Rectangle 3"/>
          <p:cNvSpPr>
            <a:spLocks noGrp="1" noChangeArrowheads="1"/>
          </p:cNvSpPr>
          <p:nvPr>
            <p:ph type="body" idx="4294967295"/>
          </p:nvPr>
        </p:nvSpPr>
        <p:spPr>
          <a:xfrm>
            <a:off x="0" y="1825625"/>
            <a:ext cx="10515600" cy="4351338"/>
          </a:xfrm>
        </p:spPr>
        <p:txBody>
          <a:bodyPr/>
          <a:lstStyle/>
          <a:p>
            <a:pPr eaLnBrk="1" hangingPunct="1"/>
            <a:r>
              <a:rPr lang="en-US" smtClean="0"/>
              <a:t>Basic concepts of Association Rules</a:t>
            </a:r>
          </a:p>
          <a:p>
            <a:pPr eaLnBrk="1" hangingPunct="1"/>
            <a:r>
              <a:rPr lang="en-US" smtClean="0"/>
              <a:t>Apriori algorithm</a:t>
            </a:r>
          </a:p>
          <a:p>
            <a:pPr eaLnBrk="1" hangingPunct="1"/>
            <a:r>
              <a:rPr lang="en-US" smtClean="0"/>
              <a:t>Different data formats for mining</a:t>
            </a:r>
          </a:p>
          <a:p>
            <a:pPr eaLnBrk="1" hangingPunct="1"/>
            <a:r>
              <a:rPr lang="en-US" smtClean="0">
                <a:solidFill>
                  <a:srgbClr val="FF0000"/>
                </a:solidFill>
              </a:rPr>
              <a:t>Mining with multiple minimum supports</a:t>
            </a:r>
          </a:p>
          <a:p>
            <a:pPr eaLnBrk="1" hangingPunct="1"/>
            <a:r>
              <a:rPr lang="en-US" smtClean="0"/>
              <a:t>Mining class association rules</a:t>
            </a:r>
          </a:p>
          <a:p>
            <a:pPr eaLnBrk="1" hangingPunct="1"/>
            <a:r>
              <a:rPr lang="en-US" smtClean="0"/>
              <a:t>Sequential pattern mining</a:t>
            </a:r>
          </a:p>
          <a:p>
            <a:pPr eaLnBrk="1" hangingPunct="1"/>
            <a:r>
              <a:rPr lang="en-US" smtClean="0"/>
              <a:t>Summary</a:t>
            </a:r>
          </a:p>
          <a:p>
            <a:pPr eaLnBrk="1" hangingPunct="1"/>
            <a:endParaRPr lang="en-US" smtClean="0"/>
          </a:p>
        </p:txBody>
      </p:sp>
    </p:spTree>
    <p:extLst>
      <p:ext uri="{BB962C8B-B14F-4D97-AF65-F5344CB8AC3E}">
        <p14:creationId xmlns:p14="http://schemas.microsoft.com/office/powerpoint/2010/main" val="172716042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idx="4294967295"/>
          </p:nvPr>
        </p:nvSpPr>
        <p:spPr>
          <a:xfrm>
            <a:off x="662473" y="1232872"/>
            <a:ext cx="10515600" cy="1325563"/>
          </a:xfrm>
        </p:spPr>
        <p:txBody>
          <a:bodyPr/>
          <a:lstStyle/>
          <a:p>
            <a:pPr eaLnBrk="1" hangingPunct="1"/>
            <a:r>
              <a:rPr lang="en-US" b="1" dirty="0" smtClean="0">
                <a:solidFill>
                  <a:srgbClr val="FF0000"/>
                </a:solidFill>
              </a:rPr>
              <a:t>Problems with the association mining</a:t>
            </a:r>
            <a:endParaRPr lang="en-US" sz="2500" b="1" dirty="0">
              <a:solidFill>
                <a:srgbClr val="FF0000"/>
              </a:solidFill>
            </a:endParaRPr>
          </a:p>
        </p:txBody>
      </p:sp>
      <p:sp>
        <p:nvSpPr>
          <p:cNvPr id="39941" name="Rectangle 3"/>
          <p:cNvSpPr>
            <a:spLocks noGrp="1" noChangeArrowheads="1"/>
          </p:cNvSpPr>
          <p:nvPr>
            <p:ph type="body" idx="4294967295"/>
          </p:nvPr>
        </p:nvSpPr>
        <p:spPr>
          <a:xfrm>
            <a:off x="578498" y="2476564"/>
            <a:ext cx="10515600" cy="4608513"/>
          </a:xfrm>
        </p:spPr>
        <p:txBody>
          <a:bodyPr/>
          <a:lstStyle/>
          <a:p>
            <a:pPr eaLnBrk="1" hangingPunct="1">
              <a:lnSpc>
                <a:spcPct val="90000"/>
              </a:lnSpc>
            </a:pPr>
            <a:r>
              <a:rPr lang="en-US" dirty="0" smtClean="0">
                <a:solidFill>
                  <a:srgbClr val="FF0000"/>
                </a:solidFill>
                <a:cs typeface="Times New Roman" panose="02020603050405020304" pitchFamily="18" charset="0"/>
              </a:rPr>
              <a:t>Single </a:t>
            </a:r>
            <a:r>
              <a:rPr lang="en-US" dirty="0" err="1" smtClean="0">
                <a:solidFill>
                  <a:srgbClr val="FF0000"/>
                </a:solidFill>
                <a:cs typeface="Times New Roman" panose="02020603050405020304" pitchFamily="18" charset="0"/>
              </a:rPr>
              <a:t>minsup</a:t>
            </a:r>
            <a:r>
              <a:rPr lang="en-US" dirty="0" smtClean="0">
                <a:cs typeface="Times New Roman" panose="02020603050405020304" pitchFamily="18" charset="0"/>
              </a:rPr>
              <a:t>: It assumes that all items in the data are of the </a:t>
            </a:r>
            <a:r>
              <a:rPr lang="en-US" dirty="0" smtClean="0">
                <a:solidFill>
                  <a:srgbClr val="FF0000"/>
                </a:solidFill>
                <a:cs typeface="Times New Roman" panose="02020603050405020304" pitchFamily="18" charset="0"/>
              </a:rPr>
              <a:t>same nature</a:t>
            </a:r>
            <a:r>
              <a:rPr lang="en-US" dirty="0" smtClean="0">
                <a:cs typeface="Times New Roman" panose="02020603050405020304" pitchFamily="18" charset="0"/>
              </a:rPr>
              <a:t> and/or have </a:t>
            </a:r>
            <a:r>
              <a:rPr lang="en-US" dirty="0" smtClean="0">
                <a:solidFill>
                  <a:srgbClr val="FF0000"/>
                </a:solidFill>
                <a:cs typeface="Times New Roman" panose="02020603050405020304" pitchFamily="18" charset="0"/>
              </a:rPr>
              <a:t>similar frequencies</a:t>
            </a:r>
            <a:r>
              <a:rPr lang="en-US" dirty="0" smtClean="0">
                <a:cs typeface="Times New Roman" panose="02020603050405020304" pitchFamily="18" charset="0"/>
              </a:rPr>
              <a:t>. </a:t>
            </a:r>
          </a:p>
          <a:p>
            <a:pPr eaLnBrk="1" hangingPunct="1">
              <a:lnSpc>
                <a:spcPct val="90000"/>
              </a:lnSpc>
            </a:pPr>
            <a:r>
              <a:rPr lang="en-US" dirty="0" smtClean="0">
                <a:solidFill>
                  <a:srgbClr val="FF0000"/>
                </a:solidFill>
                <a:cs typeface="Times New Roman" panose="02020603050405020304" pitchFamily="18" charset="0"/>
              </a:rPr>
              <a:t>Not true:</a:t>
            </a:r>
            <a:r>
              <a:rPr lang="en-US" dirty="0" smtClean="0">
                <a:cs typeface="Times New Roman" panose="02020603050405020304" pitchFamily="18" charset="0"/>
              </a:rPr>
              <a:t> In many applications, some items appear very frequently in the data, while others rarely appear. </a:t>
            </a:r>
            <a:endParaRPr lang="en-US" dirty="0" smtClean="0"/>
          </a:p>
          <a:p>
            <a:pPr eaLnBrk="1" hangingPunct="1">
              <a:lnSpc>
                <a:spcPct val="90000"/>
              </a:lnSpc>
              <a:buFont typeface="Wingdings" panose="05000000000000000000" pitchFamily="2" charset="2"/>
              <a:buNone/>
            </a:pPr>
            <a:r>
              <a:rPr lang="en-US" sz="2600" dirty="0">
                <a:cs typeface="Times New Roman" panose="02020603050405020304" pitchFamily="18" charset="0"/>
              </a:rPr>
              <a:t>	E.g., in a supermarket, people buy </a:t>
            </a:r>
            <a:r>
              <a:rPr lang="en-US" sz="2600" i="1" dirty="0">
                <a:solidFill>
                  <a:srgbClr val="3333CC"/>
                </a:solidFill>
                <a:cs typeface="Times New Roman" panose="02020603050405020304" pitchFamily="18" charset="0"/>
              </a:rPr>
              <a:t>food processor</a:t>
            </a:r>
            <a:r>
              <a:rPr lang="en-US" sz="2600" dirty="0">
                <a:cs typeface="Times New Roman" panose="02020603050405020304" pitchFamily="18" charset="0"/>
              </a:rPr>
              <a:t> and </a:t>
            </a:r>
            <a:r>
              <a:rPr lang="en-US" sz="2600" i="1" dirty="0">
                <a:solidFill>
                  <a:srgbClr val="3333CC"/>
                </a:solidFill>
                <a:cs typeface="Times New Roman" panose="02020603050405020304" pitchFamily="18" charset="0"/>
              </a:rPr>
              <a:t>cooking pan</a:t>
            </a:r>
            <a:r>
              <a:rPr lang="en-US" sz="2600" dirty="0">
                <a:cs typeface="Times New Roman" panose="02020603050405020304" pitchFamily="18" charset="0"/>
              </a:rPr>
              <a:t> much less frequently than they buy </a:t>
            </a:r>
            <a:r>
              <a:rPr lang="en-US" sz="2600" i="1" dirty="0">
                <a:solidFill>
                  <a:srgbClr val="3333CC"/>
                </a:solidFill>
                <a:cs typeface="Times New Roman" panose="02020603050405020304" pitchFamily="18" charset="0"/>
              </a:rPr>
              <a:t>bread</a:t>
            </a:r>
            <a:r>
              <a:rPr lang="en-US" sz="2600" dirty="0">
                <a:cs typeface="Times New Roman" panose="02020603050405020304" pitchFamily="18" charset="0"/>
              </a:rPr>
              <a:t> and </a:t>
            </a:r>
            <a:r>
              <a:rPr lang="en-US" sz="2600" i="1" dirty="0">
                <a:solidFill>
                  <a:srgbClr val="3333CC"/>
                </a:solidFill>
                <a:cs typeface="Times New Roman" panose="02020603050405020304" pitchFamily="18" charset="0"/>
              </a:rPr>
              <a:t>milk</a:t>
            </a:r>
            <a:r>
              <a:rPr lang="en-US" sz="2600" dirty="0">
                <a:cs typeface="Times New Roman" panose="02020603050405020304" pitchFamily="18" charset="0"/>
              </a:rPr>
              <a:t>. </a:t>
            </a:r>
          </a:p>
        </p:txBody>
      </p:sp>
    </p:spTree>
    <p:extLst>
      <p:ext uri="{BB962C8B-B14F-4D97-AF65-F5344CB8AC3E}">
        <p14:creationId xmlns:p14="http://schemas.microsoft.com/office/powerpoint/2010/main" val="120306112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2"/>
          <p:cNvSpPr>
            <a:spLocks noGrp="1" noChangeArrowheads="1"/>
          </p:cNvSpPr>
          <p:nvPr>
            <p:ph type="title" idx="4294967295"/>
          </p:nvPr>
        </p:nvSpPr>
        <p:spPr>
          <a:xfrm>
            <a:off x="718457" y="1132115"/>
            <a:ext cx="8285584" cy="1143000"/>
          </a:xfrm>
        </p:spPr>
        <p:txBody>
          <a:bodyPr/>
          <a:lstStyle/>
          <a:p>
            <a:r>
              <a:rPr lang="en-US" b="1" dirty="0" smtClean="0">
                <a:solidFill>
                  <a:srgbClr val="FF0000"/>
                </a:solidFill>
              </a:rPr>
              <a:t>Rare Item Problem</a:t>
            </a:r>
            <a:r>
              <a:rPr lang="en-US" dirty="0">
                <a:solidFill>
                  <a:srgbClr val="FF0000"/>
                </a:solidFill>
              </a:rPr>
              <a:t> :</a:t>
            </a:r>
            <a:endParaRPr lang="en-US" b="1" dirty="0" smtClean="0">
              <a:solidFill>
                <a:srgbClr val="FF0000"/>
              </a:solidFill>
            </a:endParaRPr>
          </a:p>
        </p:txBody>
      </p:sp>
      <p:sp>
        <p:nvSpPr>
          <p:cNvPr id="40965" name="Rectangle 3"/>
          <p:cNvSpPr>
            <a:spLocks noGrp="1" noChangeArrowheads="1"/>
          </p:cNvSpPr>
          <p:nvPr>
            <p:ph type="body" idx="4294967295"/>
          </p:nvPr>
        </p:nvSpPr>
        <p:spPr>
          <a:xfrm>
            <a:off x="569168" y="2194573"/>
            <a:ext cx="11548188" cy="3543754"/>
          </a:xfrm>
        </p:spPr>
        <p:txBody>
          <a:bodyPr/>
          <a:lstStyle/>
          <a:p>
            <a:pPr eaLnBrk="1" hangingPunct="1">
              <a:spcAft>
                <a:spcPct val="30000"/>
              </a:spcAft>
            </a:pPr>
            <a:r>
              <a:rPr lang="en-US" dirty="0" smtClean="0">
                <a:cs typeface="Times New Roman" panose="02020603050405020304" pitchFamily="18" charset="0"/>
              </a:rPr>
              <a:t>If the frequencies of items vary a great deal, we will encounter </a:t>
            </a:r>
            <a:r>
              <a:rPr lang="en-US" dirty="0" smtClean="0">
                <a:solidFill>
                  <a:srgbClr val="FF0000"/>
                </a:solidFill>
                <a:cs typeface="Times New Roman" panose="02020603050405020304" pitchFamily="18" charset="0"/>
              </a:rPr>
              <a:t>two problems</a:t>
            </a:r>
          </a:p>
          <a:p>
            <a:pPr marL="742950" lvl="1" indent="-285750">
              <a:spcAft>
                <a:spcPct val="30000"/>
              </a:spcAft>
            </a:pPr>
            <a:r>
              <a:rPr lang="en-US" dirty="0" smtClean="0">
                <a:solidFill>
                  <a:srgbClr val="FF0000"/>
                </a:solidFill>
                <a:cs typeface="Times New Roman" panose="02020603050405020304" pitchFamily="18" charset="0"/>
              </a:rPr>
              <a:t>If </a:t>
            </a:r>
            <a:r>
              <a:rPr lang="en-US" dirty="0" err="1" smtClean="0">
                <a:solidFill>
                  <a:srgbClr val="FF0000"/>
                </a:solidFill>
                <a:cs typeface="Times New Roman" panose="02020603050405020304" pitchFamily="18" charset="0"/>
              </a:rPr>
              <a:t>minsup</a:t>
            </a:r>
            <a:r>
              <a:rPr lang="en-US" dirty="0" smtClean="0">
                <a:solidFill>
                  <a:srgbClr val="FF0000"/>
                </a:solidFill>
                <a:cs typeface="Times New Roman" panose="02020603050405020304" pitchFamily="18" charset="0"/>
              </a:rPr>
              <a:t> is set too high</a:t>
            </a:r>
            <a:r>
              <a:rPr lang="en-US" dirty="0" smtClean="0">
                <a:cs typeface="Times New Roman" panose="02020603050405020304" pitchFamily="18" charset="0"/>
              </a:rPr>
              <a:t>, those rules that involve rare items will not be found. </a:t>
            </a:r>
          </a:p>
          <a:p>
            <a:pPr marL="742950" lvl="1" indent="-285750"/>
            <a:r>
              <a:rPr lang="en-US" dirty="0" smtClean="0">
                <a:cs typeface="Times New Roman" panose="02020603050405020304" pitchFamily="18" charset="0"/>
              </a:rPr>
              <a:t>To find rules that involve both frequent and rare items, </a:t>
            </a:r>
            <a:r>
              <a:rPr lang="en-US" dirty="0" err="1" smtClean="0">
                <a:solidFill>
                  <a:srgbClr val="FF0000"/>
                </a:solidFill>
                <a:cs typeface="Times New Roman" panose="02020603050405020304" pitchFamily="18" charset="0"/>
              </a:rPr>
              <a:t>minsup</a:t>
            </a:r>
            <a:r>
              <a:rPr lang="en-US" dirty="0" smtClean="0">
                <a:solidFill>
                  <a:srgbClr val="FF0000"/>
                </a:solidFill>
                <a:cs typeface="Times New Roman" panose="02020603050405020304" pitchFamily="18" charset="0"/>
              </a:rPr>
              <a:t> has to be set very low</a:t>
            </a:r>
            <a:r>
              <a:rPr lang="en-US" dirty="0" smtClean="0">
                <a:cs typeface="Times New Roman" panose="02020603050405020304" pitchFamily="18" charset="0"/>
              </a:rPr>
              <a:t>. This may cause </a:t>
            </a:r>
            <a:r>
              <a:rPr lang="en-US" dirty="0" smtClean="0">
                <a:solidFill>
                  <a:srgbClr val="3333CC"/>
                </a:solidFill>
                <a:cs typeface="Times New Roman" panose="02020603050405020304" pitchFamily="18" charset="0"/>
              </a:rPr>
              <a:t>combinatorial explosion</a:t>
            </a:r>
            <a:r>
              <a:rPr lang="en-US" dirty="0" smtClean="0">
                <a:cs typeface="Times New Roman" panose="02020603050405020304" pitchFamily="18" charset="0"/>
              </a:rPr>
              <a:t> because those frequent items will be associated with one another in all possible ways.</a:t>
            </a:r>
            <a:r>
              <a:rPr lang="en-US" b="1" dirty="0" smtClean="0">
                <a:cs typeface="Times New Roman" panose="02020603050405020304" pitchFamily="18" charset="0"/>
              </a:rPr>
              <a:t> </a:t>
            </a:r>
          </a:p>
        </p:txBody>
      </p:sp>
    </p:spTree>
    <p:extLst>
      <p:ext uri="{BB962C8B-B14F-4D97-AF65-F5344CB8AC3E}">
        <p14:creationId xmlns:p14="http://schemas.microsoft.com/office/powerpoint/2010/main" val="73415442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ChangeArrowheads="1"/>
          </p:cNvSpPr>
          <p:nvPr>
            <p:ph type="title" idx="4294967295"/>
          </p:nvPr>
        </p:nvSpPr>
        <p:spPr>
          <a:xfrm>
            <a:off x="830424" y="1056368"/>
            <a:ext cx="8128000" cy="1143000"/>
          </a:xfrm>
        </p:spPr>
        <p:txBody>
          <a:bodyPr/>
          <a:lstStyle/>
          <a:p>
            <a:pPr eaLnBrk="1" hangingPunct="1"/>
            <a:r>
              <a:rPr lang="en-US" b="1" dirty="0" smtClean="0">
                <a:solidFill>
                  <a:srgbClr val="FF0000"/>
                </a:solidFill>
              </a:rPr>
              <a:t>Multiple </a:t>
            </a:r>
            <a:r>
              <a:rPr lang="en-US" b="1" dirty="0" err="1" smtClean="0">
                <a:solidFill>
                  <a:srgbClr val="FF0000"/>
                </a:solidFill>
              </a:rPr>
              <a:t>minsups</a:t>
            </a:r>
            <a:r>
              <a:rPr lang="en-US" b="1" dirty="0" smtClean="0">
                <a:solidFill>
                  <a:srgbClr val="FF0000"/>
                </a:solidFill>
              </a:rPr>
              <a:t> model</a:t>
            </a:r>
          </a:p>
        </p:txBody>
      </p:sp>
      <p:sp>
        <p:nvSpPr>
          <p:cNvPr id="41989" name="Rectangle 3"/>
          <p:cNvSpPr>
            <a:spLocks noGrp="1" noChangeArrowheads="1"/>
          </p:cNvSpPr>
          <p:nvPr>
            <p:ph type="body" idx="4294967295"/>
          </p:nvPr>
        </p:nvSpPr>
        <p:spPr>
          <a:xfrm>
            <a:off x="531845" y="2115393"/>
            <a:ext cx="11485984" cy="4535487"/>
          </a:xfrm>
        </p:spPr>
        <p:txBody>
          <a:bodyPr/>
          <a:lstStyle/>
          <a:p>
            <a:pPr eaLnBrk="1" hangingPunct="1">
              <a:lnSpc>
                <a:spcPct val="90000"/>
              </a:lnSpc>
            </a:pPr>
            <a:r>
              <a:rPr lang="en-US" sz="2600" dirty="0">
                <a:cs typeface="Times New Roman" panose="02020603050405020304" pitchFamily="18" charset="0"/>
              </a:rPr>
              <a:t>The minimum support of a rule is expressed in terms of</a:t>
            </a:r>
            <a:r>
              <a:rPr lang="en-US" sz="2600" i="1" dirty="0">
                <a:cs typeface="Times New Roman" panose="02020603050405020304" pitchFamily="18" charset="0"/>
              </a:rPr>
              <a:t> </a:t>
            </a:r>
            <a:r>
              <a:rPr lang="en-US" sz="2600" i="1" dirty="0">
                <a:solidFill>
                  <a:srgbClr val="FF0000"/>
                </a:solidFill>
                <a:cs typeface="Times New Roman" panose="02020603050405020304" pitchFamily="18" charset="0"/>
              </a:rPr>
              <a:t>minimum item supports </a:t>
            </a:r>
            <a:r>
              <a:rPr lang="en-US" sz="2600" dirty="0">
                <a:solidFill>
                  <a:srgbClr val="FF0000"/>
                </a:solidFill>
                <a:cs typeface="Times New Roman" panose="02020603050405020304" pitchFamily="18" charset="0"/>
              </a:rPr>
              <a:t>(MIS)</a:t>
            </a:r>
            <a:r>
              <a:rPr lang="en-US" sz="2600" dirty="0">
                <a:cs typeface="Times New Roman" panose="02020603050405020304" pitchFamily="18" charset="0"/>
              </a:rPr>
              <a:t> of the items that appear in the rule. </a:t>
            </a:r>
          </a:p>
          <a:p>
            <a:pPr eaLnBrk="1" hangingPunct="1">
              <a:lnSpc>
                <a:spcPct val="90000"/>
              </a:lnSpc>
            </a:pPr>
            <a:r>
              <a:rPr lang="en-US" sz="2600" dirty="0">
                <a:cs typeface="Times New Roman" panose="02020603050405020304" pitchFamily="18" charset="0"/>
              </a:rPr>
              <a:t>Each item can have a </a:t>
            </a:r>
            <a:r>
              <a:rPr lang="en-US" sz="2600" dirty="0">
                <a:solidFill>
                  <a:srgbClr val="FF0000"/>
                </a:solidFill>
                <a:cs typeface="Times New Roman" panose="02020603050405020304" pitchFamily="18" charset="0"/>
              </a:rPr>
              <a:t>minimum item support.</a:t>
            </a:r>
            <a:r>
              <a:rPr lang="en-US" sz="2600" dirty="0">
                <a:cs typeface="Times New Roman" panose="02020603050405020304" pitchFamily="18" charset="0"/>
              </a:rPr>
              <a:t> </a:t>
            </a:r>
          </a:p>
          <a:p>
            <a:pPr eaLnBrk="1" hangingPunct="1">
              <a:lnSpc>
                <a:spcPct val="90000"/>
              </a:lnSpc>
            </a:pPr>
            <a:r>
              <a:rPr lang="en-US" sz="2600" dirty="0">
                <a:cs typeface="Times New Roman" panose="02020603050405020304" pitchFamily="18" charset="0"/>
              </a:rPr>
              <a:t>By providing different MIS values for different items, the user effectively expresses different support requirements for different rules. </a:t>
            </a:r>
          </a:p>
          <a:p>
            <a:pPr eaLnBrk="1" hangingPunct="1">
              <a:lnSpc>
                <a:spcPct val="90000"/>
              </a:lnSpc>
            </a:pPr>
            <a:r>
              <a:rPr lang="en-US" altLang="ja-JP" sz="2600" dirty="0">
                <a:ea typeface="ＭＳ Ｐゴシック" panose="020B0600070205080204" pitchFamily="34" charset="-128"/>
              </a:rPr>
              <a:t>To prevent very frequent items and very rare items from appearing in the same </a:t>
            </a:r>
            <a:r>
              <a:rPr lang="en-US" altLang="ja-JP" sz="2600" dirty="0" err="1">
                <a:ea typeface="ＭＳ Ｐゴシック" panose="020B0600070205080204" pitchFamily="34" charset="-128"/>
              </a:rPr>
              <a:t>itemsets</a:t>
            </a:r>
            <a:r>
              <a:rPr lang="en-US" altLang="ja-JP" sz="2600" dirty="0">
                <a:ea typeface="ＭＳ Ｐゴシック" panose="020B0600070205080204" pitchFamily="34" charset="-128"/>
              </a:rPr>
              <a:t>, we introduce a </a:t>
            </a:r>
            <a:r>
              <a:rPr lang="en-US" altLang="ja-JP" sz="2600" b="1" dirty="0">
                <a:ea typeface="ＭＳ Ｐゴシック" panose="020B0600070205080204" pitchFamily="34" charset="-128"/>
              </a:rPr>
              <a:t>support difference constraint</a:t>
            </a:r>
            <a:r>
              <a:rPr lang="en-US" altLang="ja-JP" sz="2600" dirty="0">
                <a:ea typeface="ＭＳ Ｐゴシック" panose="020B0600070205080204" pitchFamily="34" charset="-128"/>
              </a:rPr>
              <a:t>. </a:t>
            </a:r>
          </a:p>
          <a:p>
            <a:pPr eaLnBrk="1" hangingPunct="1">
              <a:lnSpc>
                <a:spcPct val="90000"/>
              </a:lnSpc>
              <a:buFont typeface="Wingdings" panose="05000000000000000000" pitchFamily="2" charset="2"/>
              <a:buNone/>
            </a:pPr>
            <a:r>
              <a:rPr lang="en-US" altLang="ja-JP" sz="2600" i="1" dirty="0">
                <a:ea typeface="ＭＳ Ｐゴシック" panose="020B0600070205080204" pitchFamily="34" charset="-128"/>
              </a:rPr>
              <a:t>	</a:t>
            </a:r>
            <a:r>
              <a:rPr lang="en-US" altLang="ja-JP" sz="2600" i="1" dirty="0" err="1">
                <a:ea typeface="ＭＳ Ｐゴシック" panose="020B0600070205080204" pitchFamily="34" charset="-128"/>
              </a:rPr>
              <a:t>max</a:t>
            </a:r>
            <a:r>
              <a:rPr lang="en-US" altLang="ja-JP" sz="2600" i="1" baseline="-25000" dirty="0" err="1">
                <a:ea typeface="ＭＳ Ｐゴシック" panose="020B0600070205080204" pitchFamily="34" charset="-128"/>
              </a:rPr>
              <a:t>i</a:t>
            </a:r>
            <a:r>
              <a:rPr lang="en-US" altLang="ja-JP" sz="2600" baseline="-25000" dirty="0" err="1">
                <a:ea typeface="ＭＳ Ｐゴシック" panose="020B0600070205080204" pitchFamily="34" charset="-128"/>
                <a:sym typeface="Symbol" panose="05050102010706020507" pitchFamily="18" charset="2"/>
              </a:rPr>
              <a:t></a:t>
            </a:r>
            <a:r>
              <a:rPr lang="en-US" altLang="ja-JP" sz="2600" i="1" baseline="-25000" dirty="0" err="1">
                <a:ea typeface="ＭＳ Ｐゴシック" panose="020B0600070205080204" pitchFamily="34" charset="-128"/>
              </a:rPr>
              <a:t>s</a:t>
            </a:r>
            <a:r>
              <a:rPr lang="en-US" altLang="ja-JP" sz="2600" dirty="0">
                <a:ea typeface="ＭＳ Ｐゴシック" panose="020B0600070205080204" pitchFamily="34" charset="-128"/>
              </a:rPr>
              <a:t>{</a:t>
            </a:r>
            <a:r>
              <a:rPr lang="en-US" altLang="ja-JP" sz="2600" i="1" dirty="0">
                <a:ea typeface="ＭＳ Ｐゴシック" panose="020B0600070205080204" pitchFamily="34" charset="-128"/>
              </a:rPr>
              <a:t>sup</a:t>
            </a:r>
            <a:r>
              <a:rPr lang="en-US" altLang="ja-JP" sz="2600" dirty="0">
                <a:ea typeface="ＭＳ Ｐゴシック" panose="020B0600070205080204" pitchFamily="34" charset="-128"/>
              </a:rPr>
              <a:t>{</a:t>
            </a:r>
            <a:r>
              <a:rPr lang="en-US" altLang="ja-JP" sz="2600" i="1" dirty="0" err="1">
                <a:ea typeface="ＭＳ Ｐゴシック" panose="020B0600070205080204" pitchFamily="34" charset="-128"/>
              </a:rPr>
              <a:t>i</a:t>
            </a:r>
            <a:r>
              <a:rPr lang="en-US" altLang="ja-JP" sz="2600" dirty="0">
                <a:ea typeface="ＭＳ Ｐゴシック" panose="020B0600070205080204" pitchFamily="34" charset="-128"/>
              </a:rPr>
              <a:t>} </a:t>
            </a:r>
            <a:r>
              <a:rPr lang="en-US" altLang="ja-JP" sz="2600" dirty="0">
                <a:ea typeface="ＭＳ Ｐゴシック" panose="020B0600070205080204" pitchFamily="34" charset="-128"/>
                <a:sym typeface="Symbol" panose="05050102010706020507" pitchFamily="18" charset="2"/>
              </a:rPr>
              <a:t></a:t>
            </a:r>
            <a:r>
              <a:rPr lang="en-US" altLang="ja-JP" sz="2600" dirty="0">
                <a:ea typeface="ＭＳ Ｐゴシック" panose="020B0600070205080204" pitchFamily="34" charset="-128"/>
              </a:rPr>
              <a:t> </a:t>
            </a:r>
            <a:r>
              <a:rPr lang="en-US" altLang="ja-JP" sz="2600" i="1" dirty="0" err="1">
                <a:ea typeface="ＭＳ Ｐゴシック" panose="020B0600070205080204" pitchFamily="34" charset="-128"/>
              </a:rPr>
              <a:t>min</a:t>
            </a:r>
            <a:r>
              <a:rPr lang="en-US" altLang="ja-JP" sz="2600" i="1" baseline="-25000" dirty="0" err="1">
                <a:ea typeface="ＭＳ Ｐゴシック" panose="020B0600070205080204" pitchFamily="34" charset="-128"/>
              </a:rPr>
              <a:t>i</a:t>
            </a:r>
            <a:r>
              <a:rPr lang="en-US" altLang="ja-JP" sz="2600" baseline="-25000" dirty="0" err="1">
                <a:ea typeface="ＭＳ Ｐゴシック" panose="020B0600070205080204" pitchFamily="34" charset="-128"/>
                <a:sym typeface="Symbol" panose="05050102010706020507" pitchFamily="18" charset="2"/>
              </a:rPr>
              <a:t></a:t>
            </a:r>
            <a:r>
              <a:rPr lang="en-US" altLang="ja-JP" sz="2600" i="1" baseline="-25000" dirty="0" err="1">
                <a:ea typeface="ＭＳ Ｐゴシック" panose="020B0600070205080204" pitchFamily="34" charset="-128"/>
              </a:rPr>
              <a:t>s</a:t>
            </a:r>
            <a:r>
              <a:rPr lang="en-US" altLang="ja-JP" sz="2600" dirty="0">
                <a:ea typeface="ＭＳ Ｐゴシック" panose="020B0600070205080204" pitchFamily="34" charset="-128"/>
              </a:rPr>
              <a:t>{</a:t>
            </a:r>
            <a:r>
              <a:rPr lang="en-US" altLang="ja-JP" sz="2600" i="1" dirty="0">
                <a:ea typeface="ＭＳ Ｐゴシック" panose="020B0600070205080204" pitchFamily="34" charset="-128"/>
              </a:rPr>
              <a:t>sup</a:t>
            </a:r>
            <a:r>
              <a:rPr lang="en-US" altLang="ja-JP" sz="2600" dirty="0">
                <a:ea typeface="ＭＳ Ｐゴシック" panose="020B0600070205080204" pitchFamily="34" charset="-128"/>
              </a:rPr>
              <a:t>(</a:t>
            </a:r>
            <a:r>
              <a:rPr lang="en-US" altLang="ja-JP" sz="2600" i="1" dirty="0" err="1">
                <a:ea typeface="ＭＳ Ｐゴシック" panose="020B0600070205080204" pitchFamily="34" charset="-128"/>
              </a:rPr>
              <a:t>i</a:t>
            </a:r>
            <a:r>
              <a:rPr lang="en-US" altLang="ja-JP" sz="2600" dirty="0">
                <a:ea typeface="ＭＳ Ｐゴシック" panose="020B0600070205080204" pitchFamily="34" charset="-128"/>
              </a:rPr>
              <a:t>)} ≤ </a:t>
            </a:r>
            <a:r>
              <a:rPr lang="en-US" altLang="ja-JP" sz="2600" i="1" dirty="0">
                <a:ea typeface="ＭＳ Ｐゴシック" panose="020B0600070205080204" pitchFamily="34" charset="-128"/>
                <a:sym typeface="Symbol" panose="05050102010706020507" pitchFamily="18" charset="2"/>
              </a:rPr>
              <a:t></a:t>
            </a:r>
            <a:r>
              <a:rPr lang="en-US" altLang="ja-JP" sz="2600" dirty="0">
                <a:ea typeface="ＭＳ Ｐゴシック" panose="020B0600070205080204" pitchFamily="34" charset="-128"/>
              </a:rPr>
              <a:t>, </a:t>
            </a:r>
            <a:endParaRPr lang="en-US" sz="2600" dirty="0"/>
          </a:p>
        </p:txBody>
      </p:sp>
    </p:spTree>
    <p:extLst>
      <p:ext uri="{BB962C8B-B14F-4D97-AF65-F5344CB8AC3E}">
        <p14:creationId xmlns:p14="http://schemas.microsoft.com/office/powerpoint/2010/main" val="250780013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2"/>
          <p:cNvSpPr>
            <a:spLocks noGrp="1" noChangeArrowheads="1"/>
          </p:cNvSpPr>
          <p:nvPr>
            <p:ph type="title" idx="4294967295"/>
          </p:nvPr>
        </p:nvSpPr>
        <p:spPr>
          <a:xfrm>
            <a:off x="625897" y="1306285"/>
            <a:ext cx="8779360" cy="1023418"/>
          </a:xfrm>
        </p:spPr>
        <p:txBody>
          <a:bodyPr>
            <a:normAutofit/>
          </a:bodyPr>
          <a:lstStyle/>
          <a:p>
            <a:r>
              <a:rPr lang="en-IN" b="1" dirty="0" smtClean="0">
                <a:solidFill>
                  <a:srgbClr val="FF0000"/>
                </a:solidFill>
              </a:rPr>
              <a:t>Extended </a:t>
            </a:r>
            <a:r>
              <a:rPr lang="en-IN" b="1" dirty="0">
                <a:solidFill>
                  <a:srgbClr val="FF0000"/>
                </a:solidFill>
              </a:rPr>
              <a:t>Model </a:t>
            </a:r>
            <a:endParaRPr lang="en-US" b="1" dirty="0" smtClean="0">
              <a:solidFill>
                <a:srgbClr val="FF0000"/>
              </a:solidFill>
            </a:endParaRPr>
          </a:p>
        </p:txBody>
      </p:sp>
      <p:sp>
        <p:nvSpPr>
          <p:cNvPr id="43013" name="Rectangle 3"/>
          <p:cNvSpPr>
            <a:spLocks noGrp="1" noChangeArrowheads="1"/>
          </p:cNvSpPr>
          <p:nvPr>
            <p:ph type="body" idx="4294967295"/>
          </p:nvPr>
        </p:nvSpPr>
        <p:spPr>
          <a:xfrm>
            <a:off x="551252" y="2208406"/>
            <a:ext cx="11494569" cy="4503738"/>
          </a:xfrm>
        </p:spPr>
        <p:txBody>
          <a:bodyPr>
            <a:normAutofit/>
          </a:bodyPr>
          <a:lstStyle/>
          <a:p>
            <a:r>
              <a:rPr lang="en-US" dirty="0"/>
              <a:t>In the extended model, the minimum support of a rule is </a:t>
            </a:r>
            <a:r>
              <a:rPr lang="en-US" dirty="0" smtClean="0"/>
              <a:t>expressed </a:t>
            </a:r>
            <a:r>
              <a:rPr lang="en-US" dirty="0"/>
              <a:t>in terms of minimum item supports (MIS) of the items that appear in the rule. </a:t>
            </a:r>
            <a:endParaRPr lang="en-US" dirty="0" smtClean="0"/>
          </a:p>
          <a:p>
            <a:r>
              <a:rPr lang="en-US" dirty="0"/>
              <a:t>That is, each item in the data can have a MIS value </a:t>
            </a:r>
            <a:r>
              <a:rPr lang="en-US" dirty="0" err="1"/>
              <a:t>spe</a:t>
            </a:r>
            <a:r>
              <a:rPr lang="en-US" dirty="0"/>
              <a:t> </a:t>
            </a:r>
            <a:r>
              <a:rPr lang="en-US" dirty="0" err="1"/>
              <a:t>cified</a:t>
            </a:r>
            <a:r>
              <a:rPr lang="en-US" dirty="0"/>
              <a:t> by the user</a:t>
            </a:r>
            <a:r>
              <a:rPr lang="en-US" dirty="0" smtClean="0"/>
              <a:t>.</a:t>
            </a:r>
            <a:endParaRPr lang="en-US" dirty="0">
              <a:cs typeface="Times New Roman" panose="02020603050405020304" pitchFamily="18" charset="0"/>
            </a:endParaRPr>
          </a:p>
          <a:p>
            <a:pPr eaLnBrk="1" hangingPunct="1"/>
            <a:r>
              <a:rPr lang="en-US" dirty="0" smtClean="0">
                <a:cs typeface="Times New Roman" panose="02020603050405020304" pitchFamily="18" charset="0"/>
              </a:rPr>
              <a:t>Let </a:t>
            </a:r>
            <a:r>
              <a:rPr lang="en-US" dirty="0" smtClean="0">
                <a:solidFill>
                  <a:srgbClr val="FF0000"/>
                </a:solidFill>
                <a:cs typeface="Times New Roman" panose="02020603050405020304" pitchFamily="18" charset="0"/>
              </a:rPr>
              <a:t>MIS(</a:t>
            </a:r>
            <a:r>
              <a:rPr lang="en-US" i="1" dirty="0" err="1" smtClean="0">
                <a:solidFill>
                  <a:srgbClr val="FF0000"/>
                </a:solidFill>
                <a:cs typeface="Times New Roman" panose="02020603050405020304" pitchFamily="18" charset="0"/>
              </a:rPr>
              <a:t>i</a:t>
            </a:r>
            <a:r>
              <a:rPr lang="en-US" dirty="0" smtClean="0">
                <a:solidFill>
                  <a:srgbClr val="FF0000"/>
                </a:solidFill>
                <a:cs typeface="Times New Roman" panose="02020603050405020304" pitchFamily="18" charset="0"/>
              </a:rPr>
              <a:t>)</a:t>
            </a:r>
            <a:r>
              <a:rPr lang="en-US" dirty="0" smtClean="0">
                <a:cs typeface="Times New Roman" panose="02020603050405020304" pitchFamily="18" charset="0"/>
              </a:rPr>
              <a:t> be the MIS value of item </a:t>
            </a:r>
            <a:r>
              <a:rPr lang="en-US" i="1" dirty="0" err="1" smtClean="0">
                <a:cs typeface="Times New Roman" panose="02020603050405020304" pitchFamily="18" charset="0"/>
              </a:rPr>
              <a:t>i</a:t>
            </a:r>
            <a:r>
              <a:rPr lang="en-US" dirty="0" smtClean="0">
                <a:cs typeface="Times New Roman" panose="02020603050405020304" pitchFamily="18" charset="0"/>
              </a:rPr>
              <a:t>. The </a:t>
            </a:r>
            <a:r>
              <a:rPr lang="en-US" i="1" dirty="0" err="1" smtClean="0">
                <a:cs typeface="Times New Roman" panose="02020603050405020304" pitchFamily="18" charset="0"/>
              </a:rPr>
              <a:t>minsup</a:t>
            </a:r>
            <a:r>
              <a:rPr lang="en-US" i="1" dirty="0" smtClean="0">
                <a:cs typeface="Times New Roman" panose="02020603050405020304" pitchFamily="18" charset="0"/>
              </a:rPr>
              <a:t> </a:t>
            </a:r>
            <a:r>
              <a:rPr lang="en-US" dirty="0" smtClean="0">
                <a:cs typeface="Times New Roman" panose="02020603050405020304" pitchFamily="18" charset="0"/>
              </a:rPr>
              <a:t>of a rule </a:t>
            </a:r>
            <a:r>
              <a:rPr lang="en-US" i="1" dirty="0" smtClean="0">
                <a:cs typeface="Times New Roman" panose="02020603050405020304" pitchFamily="18" charset="0"/>
              </a:rPr>
              <a:t>R</a:t>
            </a:r>
            <a:r>
              <a:rPr lang="en-US" dirty="0" smtClean="0">
                <a:cs typeface="Times New Roman" panose="02020603050405020304" pitchFamily="18" charset="0"/>
              </a:rPr>
              <a:t> is the lowest MIS value of the items in the rule. </a:t>
            </a:r>
          </a:p>
          <a:p>
            <a:pPr eaLnBrk="1" hangingPunct="1"/>
            <a:r>
              <a:rPr lang="en-US" dirty="0" smtClean="0">
                <a:cs typeface="Times New Roman" panose="02020603050405020304" pitchFamily="18" charset="0"/>
              </a:rPr>
              <a:t>I.e., a rule </a:t>
            </a:r>
            <a:r>
              <a:rPr lang="en-US" i="1" dirty="0" smtClean="0">
                <a:cs typeface="Times New Roman" panose="02020603050405020304" pitchFamily="18" charset="0"/>
              </a:rPr>
              <a:t>R</a:t>
            </a:r>
            <a:r>
              <a:rPr lang="en-US" dirty="0" smtClean="0">
                <a:cs typeface="Times New Roman" panose="02020603050405020304" pitchFamily="18" charset="0"/>
              </a:rPr>
              <a:t>:    </a:t>
            </a:r>
            <a:r>
              <a:rPr lang="en-US" i="1" dirty="0" smtClean="0">
                <a:solidFill>
                  <a:srgbClr val="FF0000"/>
                </a:solidFill>
                <a:cs typeface="Times New Roman" panose="02020603050405020304" pitchFamily="18" charset="0"/>
              </a:rPr>
              <a:t>a</a:t>
            </a:r>
            <a:r>
              <a:rPr lang="en-US" baseline="-30000" dirty="0" smtClean="0">
                <a:solidFill>
                  <a:srgbClr val="FF0000"/>
                </a:solidFill>
                <a:cs typeface="Times New Roman" panose="02020603050405020304" pitchFamily="18" charset="0"/>
              </a:rPr>
              <a:t>1</a:t>
            </a:r>
            <a:r>
              <a:rPr lang="en-US" dirty="0" smtClean="0">
                <a:solidFill>
                  <a:srgbClr val="FF0000"/>
                </a:solidFill>
                <a:cs typeface="Times New Roman" panose="02020603050405020304" pitchFamily="18" charset="0"/>
              </a:rPr>
              <a:t>, </a:t>
            </a:r>
            <a:r>
              <a:rPr lang="en-US" i="1" dirty="0" smtClean="0">
                <a:solidFill>
                  <a:srgbClr val="FF0000"/>
                </a:solidFill>
                <a:cs typeface="Times New Roman" panose="02020603050405020304" pitchFamily="18" charset="0"/>
              </a:rPr>
              <a:t>a</a:t>
            </a:r>
            <a:r>
              <a:rPr lang="en-US" baseline="-30000" dirty="0" smtClean="0">
                <a:solidFill>
                  <a:srgbClr val="FF0000"/>
                </a:solidFill>
                <a:cs typeface="Times New Roman" panose="02020603050405020304" pitchFamily="18" charset="0"/>
              </a:rPr>
              <a:t>2</a:t>
            </a:r>
            <a:r>
              <a:rPr lang="en-US" dirty="0" smtClean="0">
                <a:solidFill>
                  <a:srgbClr val="FF0000"/>
                </a:solidFill>
                <a:cs typeface="Times New Roman" panose="02020603050405020304" pitchFamily="18" charset="0"/>
              </a:rPr>
              <a:t>, …, </a:t>
            </a:r>
            <a:r>
              <a:rPr lang="en-US" i="1" dirty="0" err="1" smtClean="0">
                <a:solidFill>
                  <a:srgbClr val="FF0000"/>
                </a:solidFill>
                <a:cs typeface="Times New Roman" panose="02020603050405020304" pitchFamily="18" charset="0"/>
              </a:rPr>
              <a:t>a</a:t>
            </a:r>
            <a:r>
              <a:rPr lang="en-US" i="1" baseline="-30000" dirty="0" err="1" smtClean="0">
                <a:solidFill>
                  <a:srgbClr val="FF0000"/>
                </a:solidFill>
                <a:cs typeface="Times New Roman" panose="02020603050405020304" pitchFamily="18" charset="0"/>
              </a:rPr>
              <a:t>k</a:t>
            </a:r>
            <a:r>
              <a:rPr lang="en-US" dirty="0" smtClean="0">
                <a:solidFill>
                  <a:srgbClr val="FF0000"/>
                </a:solidFill>
                <a:cs typeface="Times New Roman" panose="02020603050405020304" pitchFamily="18" charset="0"/>
              </a:rPr>
              <a:t> </a:t>
            </a:r>
            <a:r>
              <a:rPr lang="en-US" dirty="0" smtClean="0">
                <a:solidFill>
                  <a:srgbClr val="FF0000"/>
                </a:solidFill>
                <a:cs typeface="Times New Roman" panose="02020603050405020304" pitchFamily="18" charset="0"/>
                <a:sym typeface="Symbol" panose="05050102010706020507" pitchFamily="18" charset="2"/>
              </a:rPr>
              <a:t></a:t>
            </a:r>
            <a:r>
              <a:rPr lang="en-US" dirty="0" smtClean="0">
                <a:solidFill>
                  <a:srgbClr val="FF0000"/>
                </a:solidFill>
                <a:cs typeface="Times New Roman" panose="02020603050405020304" pitchFamily="18" charset="0"/>
              </a:rPr>
              <a:t> </a:t>
            </a:r>
            <a:r>
              <a:rPr lang="en-US" i="1" dirty="0" smtClean="0">
                <a:solidFill>
                  <a:srgbClr val="FF0000"/>
                </a:solidFill>
                <a:cs typeface="Times New Roman" panose="02020603050405020304" pitchFamily="18" charset="0"/>
              </a:rPr>
              <a:t>a</a:t>
            </a:r>
            <a:r>
              <a:rPr lang="en-US" i="1" baseline="-30000" dirty="0" smtClean="0">
                <a:solidFill>
                  <a:srgbClr val="FF0000"/>
                </a:solidFill>
                <a:cs typeface="Times New Roman" panose="02020603050405020304" pitchFamily="18" charset="0"/>
              </a:rPr>
              <a:t>k+</a:t>
            </a:r>
            <a:r>
              <a:rPr lang="en-US" baseline="-30000" dirty="0" smtClean="0">
                <a:solidFill>
                  <a:srgbClr val="FF0000"/>
                </a:solidFill>
                <a:cs typeface="Times New Roman" panose="02020603050405020304" pitchFamily="18" charset="0"/>
              </a:rPr>
              <a:t>1</a:t>
            </a:r>
            <a:r>
              <a:rPr lang="en-US" dirty="0" smtClean="0">
                <a:solidFill>
                  <a:srgbClr val="FF0000"/>
                </a:solidFill>
                <a:cs typeface="Times New Roman" panose="02020603050405020304" pitchFamily="18" charset="0"/>
              </a:rPr>
              <a:t>, …, </a:t>
            </a:r>
            <a:r>
              <a:rPr lang="en-US" i="1" dirty="0" err="1" smtClean="0">
                <a:solidFill>
                  <a:srgbClr val="FF0000"/>
                </a:solidFill>
                <a:cs typeface="Times New Roman" panose="02020603050405020304" pitchFamily="18" charset="0"/>
              </a:rPr>
              <a:t>a</a:t>
            </a:r>
            <a:r>
              <a:rPr lang="en-US" i="1" baseline="-30000" dirty="0" err="1" smtClean="0">
                <a:solidFill>
                  <a:srgbClr val="FF0000"/>
                </a:solidFill>
                <a:cs typeface="Times New Roman" panose="02020603050405020304" pitchFamily="18" charset="0"/>
              </a:rPr>
              <a:t>r</a:t>
            </a:r>
            <a:r>
              <a:rPr lang="en-US" dirty="0" smtClean="0">
                <a:cs typeface="Times New Roman" panose="02020603050405020304" pitchFamily="18" charset="0"/>
              </a:rPr>
              <a:t> satisfies its minimum support if its actual support is </a:t>
            </a:r>
            <a:r>
              <a:rPr lang="en-US" dirty="0" smtClean="0">
                <a:cs typeface="Times New Roman" panose="02020603050405020304" pitchFamily="18" charset="0"/>
                <a:sym typeface="Symbol" panose="05050102010706020507" pitchFamily="18" charset="2"/>
              </a:rPr>
              <a:t></a:t>
            </a:r>
            <a:endParaRPr lang="en-US" dirty="0" smtClean="0"/>
          </a:p>
          <a:p>
            <a:pPr eaLnBrk="1" hangingPunct="1">
              <a:buFont typeface="Wingdings" panose="05000000000000000000" pitchFamily="2" charset="2"/>
              <a:buNone/>
            </a:pPr>
            <a:r>
              <a:rPr lang="en-US" dirty="0" smtClean="0">
                <a:cs typeface="Times New Roman" panose="02020603050405020304" pitchFamily="18" charset="0"/>
              </a:rPr>
              <a:t>		</a:t>
            </a:r>
            <a:r>
              <a:rPr lang="en-US" dirty="0" smtClean="0">
                <a:solidFill>
                  <a:srgbClr val="FF0000"/>
                </a:solidFill>
                <a:cs typeface="Times New Roman" panose="02020603050405020304" pitchFamily="18" charset="0"/>
              </a:rPr>
              <a:t>min(MIS(</a:t>
            </a:r>
            <a:r>
              <a:rPr lang="en-US" i="1" dirty="0" smtClean="0">
                <a:solidFill>
                  <a:srgbClr val="FF0000"/>
                </a:solidFill>
                <a:cs typeface="Times New Roman" panose="02020603050405020304" pitchFamily="18" charset="0"/>
              </a:rPr>
              <a:t>a</a:t>
            </a:r>
            <a:r>
              <a:rPr lang="en-US" baseline="-30000" dirty="0" smtClean="0">
                <a:solidFill>
                  <a:srgbClr val="FF0000"/>
                </a:solidFill>
                <a:cs typeface="Times New Roman" panose="02020603050405020304" pitchFamily="18" charset="0"/>
              </a:rPr>
              <a:t>1</a:t>
            </a:r>
            <a:r>
              <a:rPr lang="en-US" dirty="0" smtClean="0">
                <a:solidFill>
                  <a:srgbClr val="FF0000"/>
                </a:solidFill>
                <a:cs typeface="Times New Roman" panose="02020603050405020304" pitchFamily="18" charset="0"/>
              </a:rPr>
              <a:t>), MIS(</a:t>
            </a:r>
            <a:r>
              <a:rPr lang="en-US" i="1" dirty="0" smtClean="0">
                <a:solidFill>
                  <a:srgbClr val="FF0000"/>
                </a:solidFill>
                <a:cs typeface="Times New Roman" panose="02020603050405020304" pitchFamily="18" charset="0"/>
              </a:rPr>
              <a:t>a</a:t>
            </a:r>
            <a:r>
              <a:rPr lang="en-US" baseline="-30000" dirty="0" smtClean="0">
                <a:solidFill>
                  <a:srgbClr val="FF0000"/>
                </a:solidFill>
                <a:cs typeface="Times New Roman" panose="02020603050405020304" pitchFamily="18" charset="0"/>
              </a:rPr>
              <a:t>2</a:t>
            </a:r>
            <a:r>
              <a:rPr lang="en-US" dirty="0" smtClean="0">
                <a:solidFill>
                  <a:srgbClr val="FF0000"/>
                </a:solidFill>
                <a:cs typeface="Times New Roman" panose="02020603050405020304" pitchFamily="18" charset="0"/>
              </a:rPr>
              <a:t>), …, MIS(</a:t>
            </a:r>
            <a:r>
              <a:rPr lang="en-US" i="1" dirty="0" err="1" smtClean="0">
                <a:solidFill>
                  <a:srgbClr val="FF0000"/>
                </a:solidFill>
                <a:cs typeface="Times New Roman" panose="02020603050405020304" pitchFamily="18" charset="0"/>
              </a:rPr>
              <a:t>a</a:t>
            </a:r>
            <a:r>
              <a:rPr lang="en-US" i="1" baseline="-30000" dirty="0" err="1" smtClean="0">
                <a:solidFill>
                  <a:srgbClr val="FF0000"/>
                </a:solidFill>
                <a:cs typeface="Times New Roman" panose="02020603050405020304" pitchFamily="18" charset="0"/>
              </a:rPr>
              <a:t>r</a:t>
            </a:r>
            <a:r>
              <a:rPr lang="en-US" dirty="0" smtClean="0">
                <a:solidFill>
                  <a:srgbClr val="FF0000"/>
                </a:solidFill>
                <a:cs typeface="Times New Roman" panose="02020603050405020304" pitchFamily="18" charset="0"/>
              </a:rPr>
              <a:t>)).</a:t>
            </a:r>
            <a:r>
              <a:rPr lang="en-US" dirty="0" smtClean="0">
                <a:cs typeface="Times New Roman" panose="02020603050405020304" pitchFamily="18" charset="0"/>
              </a:rPr>
              <a:t> </a:t>
            </a:r>
          </a:p>
          <a:p>
            <a:pPr eaLnBrk="1" hangingPunct="1">
              <a:buFont typeface="Wingdings" panose="05000000000000000000" pitchFamily="2" charset="2"/>
              <a:buNone/>
            </a:pPr>
            <a:endParaRPr lang="en-US" dirty="0" smtClean="0">
              <a:cs typeface="Times New Roman" panose="02020603050405020304" pitchFamily="18" charset="0"/>
            </a:endParaRPr>
          </a:p>
        </p:txBody>
      </p:sp>
    </p:spTree>
    <p:extLst>
      <p:ext uri="{BB962C8B-B14F-4D97-AF65-F5344CB8AC3E}">
        <p14:creationId xmlns:p14="http://schemas.microsoft.com/office/powerpoint/2010/main" val="201308889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2"/>
          <p:cNvSpPr>
            <a:spLocks noGrp="1" noChangeArrowheads="1"/>
          </p:cNvSpPr>
          <p:nvPr>
            <p:ph type="title" idx="4294967295"/>
          </p:nvPr>
        </p:nvSpPr>
        <p:spPr>
          <a:xfrm>
            <a:off x="1390262" y="1112189"/>
            <a:ext cx="7782719" cy="659687"/>
          </a:xfrm>
        </p:spPr>
        <p:txBody>
          <a:bodyPr>
            <a:normAutofit fontScale="90000"/>
          </a:bodyPr>
          <a:lstStyle/>
          <a:p>
            <a:pPr eaLnBrk="1" hangingPunct="1"/>
            <a:r>
              <a:rPr lang="en-US" b="1" dirty="0" smtClean="0"/>
              <a:t>An Example1</a:t>
            </a:r>
          </a:p>
        </p:txBody>
      </p:sp>
      <p:sp>
        <p:nvSpPr>
          <p:cNvPr id="44037" name="Rectangle 3"/>
          <p:cNvSpPr>
            <a:spLocks noGrp="1" noChangeArrowheads="1"/>
          </p:cNvSpPr>
          <p:nvPr>
            <p:ph type="body" idx="4294967295"/>
          </p:nvPr>
        </p:nvSpPr>
        <p:spPr>
          <a:xfrm>
            <a:off x="391887" y="1218876"/>
            <a:ext cx="12017828" cy="5639124"/>
          </a:xfrm>
        </p:spPr>
        <p:txBody>
          <a:bodyPr>
            <a:normAutofit/>
          </a:bodyPr>
          <a:lstStyle/>
          <a:p>
            <a:pPr marL="0" indent="0" eaLnBrk="1" hangingPunct="1">
              <a:lnSpc>
                <a:spcPct val="90000"/>
              </a:lnSpc>
              <a:buNone/>
            </a:pPr>
            <a:endParaRPr lang="en-US" dirty="0" smtClean="0">
              <a:cs typeface="Times New Roman" panose="02020603050405020304" pitchFamily="18" charset="0"/>
            </a:endParaRPr>
          </a:p>
          <a:p>
            <a:pPr eaLnBrk="1" hangingPunct="1">
              <a:lnSpc>
                <a:spcPct val="90000"/>
              </a:lnSpc>
            </a:pPr>
            <a:r>
              <a:rPr lang="en-US" dirty="0" smtClean="0">
                <a:cs typeface="Times New Roman" panose="02020603050405020304" pitchFamily="18" charset="0"/>
              </a:rPr>
              <a:t>Consider the following items:</a:t>
            </a:r>
          </a:p>
          <a:p>
            <a:pPr eaLnBrk="1" hangingPunct="1">
              <a:lnSpc>
                <a:spcPct val="90000"/>
              </a:lnSpc>
              <a:buFont typeface="Wingdings" panose="05000000000000000000" pitchFamily="2" charset="2"/>
              <a:buNone/>
            </a:pPr>
            <a:r>
              <a:rPr lang="en-US" sz="2600" dirty="0">
                <a:cs typeface="Times New Roman" panose="02020603050405020304" pitchFamily="18" charset="0"/>
              </a:rPr>
              <a:t>		</a:t>
            </a:r>
            <a:r>
              <a:rPr lang="en-US" sz="2600" i="1" dirty="0">
                <a:solidFill>
                  <a:srgbClr val="FF0000"/>
                </a:solidFill>
                <a:cs typeface="Times New Roman" panose="02020603050405020304" pitchFamily="18" charset="0"/>
              </a:rPr>
              <a:t>bread</a:t>
            </a:r>
            <a:r>
              <a:rPr lang="en-US" sz="2600" dirty="0">
                <a:solidFill>
                  <a:srgbClr val="FF0000"/>
                </a:solidFill>
                <a:cs typeface="Times New Roman" panose="02020603050405020304" pitchFamily="18" charset="0"/>
              </a:rPr>
              <a:t>, </a:t>
            </a:r>
            <a:r>
              <a:rPr lang="en-US" sz="2600" i="1" dirty="0">
                <a:solidFill>
                  <a:srgbClr val="FF0000"/>
                </a:solidFill>
                <a:cs typeface="Times New Roman" panose="02020603050405020304" pitchFamily="18" charset="0"/>
              </a:rPr>
              <a:t>shoes</a:t>
            </a:r>
            <a:r>
              <a:rPr lang="en-US" sz="2600" dirty="0">
                <a:solidFill>
                  <a:srgbClr val="FF0000"/>
                </a:solidFill>
                <a:cs typeface="Times New Roman" panose="02020603050405020304" pitchFamily="18" charset="0"/>
              </a:rPr>
              <a:t>, </a:t>
            </a:r>
            <a:r>
              <a:rPr lang="en-US" sz="2600" i="1" dirty="0">
                <a:solidFill>
                  <a:srgbClr val="FF0000"/>
                </a:solidFill>
                <a:cs typeface="Times New Roman" panose="02020603050405020304" pitchFamily="18" charset="0"/>
              </a:rPr>
              <a:t>clothes</a:t>
            </a:r>
            <a:r>
              <a:rPr lang="en-US" sz="2600" dirty="0">
                <a:cs typeface="Times New Roman" panose="02020603050405020304" pitchFamily="18" charset="0"/>
              </a:rPr>
              <a:t>  </a:t>
            </a:r>
          </a:p>
          <a:p>
            <a:pPr algn="just" eaLnBrk="1" hangingPunct="1">
              <a:lnSpc>
                <a:spcPct val="90000"/>
              </a:lnSpc>
              <a:buFont typeface="Wingdings" panose="05000000000000000000" pitchFamily="2" charset="2"/>
              <a:buNone/>
            </a:pPr>
            <a:r>
              <a:rPr lang="en-US" sz="2600" dirty="0">
                <a:cs typeface="Times New Roman" panose="02020603050405020304" pitchFamily="18" charset="0"/>
              </a:rPr>
              <a:t>	The user-specified MIS values are as follows:</a:t>
            </a:r>
          </a:p>
          <a:p>
            <a:pPr algn="just" eaLnBrk="1" hangingPunct="1">
              <a:lnSpc>
                <a:spcPct val="90000"/>
              </a:lnSpc>
              <a:buFont typeface="Wingdings" panose="05000000000000000000" pitchFamily="2" charset="2"/>
              <a:buNone/>
            </a:pPr>
            <a:r>
              <a:rPr lang="en-US" sz="2600" dirty="0">
                <a:cs typeface="Times New Roman" panose="02020603050405020304" pitchFamily="18" charset="0"/>
              </a:rPr>
              <a:t>		MIS(</a:t>
            </a:r>
            <a:r>
              <a:rPr lang="en-US" sz="2600" i="1" dirty="0">
                <a:cs typeface="Times New Roman" panose="02020603050405020304" pitchFamily="18" charset="0"/>
              </a:rPr>
              <a:t>bread</a:t>
            </a:r>
            <a:r>
              <a:rPr lang="en-US" sz="2600" dirty="0">
                <a:cs typeface="Times New Roman" panose="02020603050405020304" pitchFamily="18" charset="0"/>
              </a:rPr>
              <a:t>) = 2% 	MIS(</a:t>
            </a:r>
            <a:r>
              <a:rPr lang="en-US" sz="2600" i="1" dirty="0">
                <a:cs typeface="Times New Roman" panose="02020603050405020304" pitchFamily="18" charset="0"/>
              </a:rPr>
              <a:t>shoes</a:t>
            </a:r>
            <a:r>
              <a:rPr lang="en-US" sz="2600" dirty="0">
                <a:cs typeface="Times New Roman" panose="02020603050405020304" pitchFamily="18" charset="0"/>
              </a:rPr>
              <a:t>) = 0.1%</a:t>
            </a:r>
          </a:p>
          <a:p>
            <a:pPr algn="just" eaLnBrk="1" hangingPunct="1">
              <a:lnSpc>
                <a:spcPct val="90000"/>
              </a:lnSpc>
              <a:buFont typeface="Wingdings" panose="05000000000000000000" pitchFamily="2" charset="2"/>
              <a:buNone/>
            </a:pPr>
            <a:r>
              <a:rPr lang="en-US" sz="2600" dirty="0">
                <a:cs typeface="Times New Roman" panose="02020603050405020304" pitchFamily="18" charset="0"/>
              </a:rPr>
              <a:t>		MIS(</a:t>
            </a:r>
            <a:r>
              <a:rPr lang="en-US" sz="2600" i="1" dirty="0">
                <a:cs typeface="Times New Roman" panose="02020603050405020304" pitchFamily="18" charset="0"/>
              </a:rPr>
              <a:t>clothes</a:t>
            </a:r>
            <a:r>
              <a:rPr lang="en-US" sz="2600" dirty="0">
                <a:cs typeface="Times New Roman" panose="02020603050405020304" pitchFamily="18" charset="0"/>
              </a:rPr>
              <a:t>) = 0.2%</a:t>
            </a:r>
          </a:p>
          <a:p>
            <a:pPr algn="just" eaLnBrk="1" hangingPunct="1">
              <a:lnSpc>
                <a:spcPct val="90000"/>
              </a:lnSpc>
              <a:buFont typeface="Wingdings" panose="05000000000000000000" pitchFamily="2" charset="2"/>
              <a:buNone/>
            </a:pPr>
            <a:r>
              <a:rPr lang="en-US" sz="2600" dirty="0">
                <a:cs typeface="Times New Roman" panose="02020603050405020304" pitchFamily="18" charset="0"/>
              </a:rPr>
              <a:t>	</a:t>
            </a:r>
            <a:r>
              <a:rPr lang="en-US" sz="2600" dirty="0" err="1" smtClean="0">
                <a:cs typeface="Times New Roman" panose="02020603050405020304" pitchFamily="18" charset="0"/>
              </a:rPr>
              <a:t>i</a:t>
            </a:r>
            <a:r>
              <a:rPr lang="en-US" sz="2600" dirty="0" smtClean="0">
                <a:cs typeface="Times New Roman" panose="02020603050405020304" pitchFamily="18" charset="0"/>
              </a:rPr>
              <a:t>)The </a:t>
            </a:r>
            <a:r>
              <a:rPr lang="en-US" sz="2600" dirty="0">
                <a:cs typeface="Times New Roman" panose="02020603050405020304" pitchFamily="18" charset="0"/>
              </a:rPr>
              <a:t>following rule </a:t>
            </a:r>
            <a:r>
              <a:rPr lang="en-US" sz="2600" dirty="0">
                <a:solidFill>
                  <a:srgbClr val="FF0000"/>
                </a:solidFill>
                <a:cs typeface="Times New Roman" panose="02020603050405020304" pitchFamily="18" charset="0"/>
              </a:rPr>
              <a:t>doesn’t satisfy its </a:t>
            </a:r>
            <a:r>
              <a:rPr lang="en-US" sz="2600" dirty="0" err="1">
                <a:solidFill>
                  <a:srgbClr val="FF0000"/>
                </a:solidFill>
                <a:cs typeface="Times New Roman" panose="02020603050405020304" pitchFamily="18" charset="0"/>
              </a:rPr>
              <a:t>minsup</a:t>
            </a:r>
            <a:r>
              <a:rPr lang="en-US" sz="2600" dirty="0">
                <a:cs typeface="Times New Roman" panose="02020603050405020304" pitchFamily="18" charset="0"/>
              </a:rPr>
              <a:t>:</a:t>
            </a:r>
          </a:p>
          <a:p>
            <a:pPr algn="just" eaLnBrk="1" hangingPunct="1">
              <a:lnSpc>
                <a:spcPct val="90000"/>
              </a:lnSpc>
              <a:buFont typeface="Wingdings" panose="05000000000000000000" pitchFamily="2" charset="2"/>
              <a:buNone/>
            </a:pPr>
            <a:r>
              <a:rPr lang="en-US" sz="2600" dirty="0">
                <a:cs typeface="Times New Roman" panose="02020603050405020304" pitchFamily="18" charset="0"/>
              </a:rPr>
              <a:t>		</a:t>
            </a:r>
            <a:r>
              <a:rPr lang="en-US" sz="2600" i="1" dirty="0">
                <a:cs typeface="Times New Roman" panose="02020603050405020304" pitchFamily="18" charset="0"/>
              </a:rPr>
              <a:t>clothes</a:t>
            </a:r>
            <a:r>
              <a:rPr lang="en-US" sz="2600" dirty="0">
                <a:cs typeface="Times New Roman" panose="02020603050405020304" pitchFamily="18" charset="0"/>
              </a:rPr>
              <a:t> </a:t>
            </a:r>
            <a:r>
              <a:rPr lang="en-US" sz="2600" dirty="0">
                <a:cs typeface="Times New Roman" panose="02020603050405020304" pitchFamily="18" charset="0"/>
                <a:sym typeface="Symbol" panose="05050102010706020507" pitchFamily="18" charset="2"/>
              </a:rPr>
              <a:t></a:t>
            </a:r>
            <a:r>
              <a:rPr lang="en-US" sz="2600" dirty="0">
                <a:cs typeface="Times New Roman" panose="02020603050405020304" pitchFamily="18" charset="0"/>
              </a:rPr>
              <a:t> </a:t>
            </a:r>
            <a:r>
              <a:rPr lang="en-US" sz="2600" i="1" dirty="0">
                <a:cs typeface="Times New Roman" panose="02020603050405020304" pitchFamily="18" charset="0"/>
              </a:rPr>
              <a:t>bread</a:t>
            </a:r>
            <a:r>
              <a:rPr lang="en-US" sz="2600" dirty="0">
                <a:cs typeface="Times New Roman" panose="02020603050405020304" pitchFamily="18" charset="0"/>
              </a:rPr>
              <a:t> [sup=0.15%,conf =</a:t>
            </a:r>
            <a:r>
              <a:rPr lang="en-US" sz="2600" dirty="0" smtClean="0">
                <a:cs typeface="Times New Roman" panose="02020603050405020304" pitchFamily="18" charset="0"/>
              </a:rPr>
              <a:t>70%]</a:t>
            </a:r>
          </a:p>
          <a:p>
            <a:pPr algn="just">
              <a:buNone/>
            </a:pPr>
            <a:r>
              <a:rPr lang="en-US" sz="2400" b="1" dirty="0" smtClean="0"/>
              <a:t>	MIS({</a:t>
            </a:r>
            <a:r>
              <a:rPr lang="en-US" sz="2400" b="1" dirty="0" err="1" smtClean="0"/>
              <a:t>clothes,bread</a:t>
            </a:r>
            <a:r>
              <a:rPr lang="en-US" sz="2400" b="1" dirty="0" smtClean="0"/>
              <a:t>})=min(0.2%,2%)=0.2%</a:t>
            </a:r>
            <a:r>
              <a:rPr lang="en-US" sz="2400" dirty="0" smtClean="0"/>
              <a:t>.</a:t>
            </a:r>
          </a:p>
          <a:p>
            <a:pPr algn="just">
              <a:buNone/>
            </a:pPr>
            <a:r>
              <a:rPr lang="en-US" sz="2400" dirty="0" smtClean="0"/>
              <a:t/>
            </a:r>
            <a:br>
              <a:rPr lang="en-US" sz="2400" dirty="0" smtClean="0"/>
            </a:br>
            <a:r>
              <a:rPr lang="en-US" sz="2400" dirty="0" smtClean="0"/>
              <a:t>Given support = </a:t>
            </a:r>
            <a:r>
              <a:rPr lang="en-US" sz="2400" b="1" dirty="0" smtClean="0"/>
              <a:t>0.15%</a:t>
            </a:r>
            <a:r>
              <a:rPr lang="en-US" sz="2400" dirty="0" smtClean="0"/>
              <a:t>, and </a:t>
            </a:r>
            <a:r>
              <a:rPr lang="en-US" sz="2400" b="1" dirty="0" smtClean="0"/>
              <a:t>0.15% &lt; 0.2%</a:t>
            </a:r>
            <a:r>
              <a:rPr lang="en-US" sz="2400" dirty="0" smtClean="0"/>
              <a:t>, the </a:t>
            </a:r>
            <a:r>
              <a:rPr lang="en-US" sz="2400" dirty="0" err="1" smtClean="0"/>
              <a:t>itemset</a:t>
            </a:r>
            <a:r>
              <a:rPr lang="en-US" sz="2400" dirty="0" smtClean="0"/>
              <a:t> is </a:t>
            </a:r>
            <a:r>
              <a:rPr lang="en-US" sz="2400" b="1" dirty="0" smtClean="0"/>
              <a:t>not frequent</a:t>
            </a:r>
            <a:r>
              <a:rPr lang="en-US" sz="2400" dirty="0" smtClean="0"/>
              <a:t>, </a:t>
            </a:r>
          </a:p>
          <a:p>
            <a:pPr algn="just">
              <a:buNone/>
            </a:pPr>
            <a:r>
              <a:rPr lang="en-US" sz="2400" dirty="0" smtClean="0"/>
              <a:t>so the rule </a:t>
            </a:r>
            <a:r>
              <a:rPr lang="en-US" sz="2400" b="1" dirty="0" smtClean="0"/>
              <a:t>does not satisfy its </a:t>
            </a:r>
            <a:r>
              <a:rPr lang="en-US" sz="2400" b="1" dirty="0" err="1" smtClean="0"/>
              <a:t>minsup</a:t>
            </a:r>
            <a:r>
              <a:rPr lang="en-US" sz="2400" dirty="0" smtClean="0"/>
              <a:t> (confidence 70% is irrelevant to the </a:t>
            </a:r>
            <a:r>
              <a:rPr lang="en-US" sz="2400" dirty="0" err="1" smtClean="0"/>
              <a:t>minsup</a:t>
            </a:r>
            <a:r>
              <a:rPr lang="en-US" sz="2400" dirty="0" smtClean="0"/>
              <a:t> test).</a:t>
            </a:r>
            <a:endParaRPr lang="en-US" sz="2600" dirty="0" smtClean="0">
              <a:cs typeface="Times New Roman" panose="02020603050405020304" pitchFamily="18" charset="0"/>
            </a:endParaRPr>
          </a:p>
          <a:p>
            <a:pPr eaLnBrk="1" hangingPunct="1">
              <a:lnSpc>
                <a:spcPct val="90000"/>
              </a:lnSpc>
              <a:buFont typeface="Wingdings" panose="05000000000000000000" pitchFamily="2" charset="2"/>
              <a:buNone/>
            </a:pPr>
            <a:endParaRPr lang="en-US" sz="2600" dirty="0">
              <a:cs typeface="Times New Roman" panose="02020603050405020304" pitchFamily="18" charset="0"/>
            </a:endParaRPr>
          </a:p>
        </p:txBody>
      </p:sp>
    </p:spTree>
    <p:extLst>
      <p:ext uri="{BB962C8B-B14F-4D97-AF65-F5344CB8AC3E}">
        <p14:creationId xmlns:p14="http://schemas.microsoft.com/office/powerpoint/2010/main" val="100511415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2"/>
          <p:cNvSpPr>
            <a:spLocks noGrp="1" noChangeArrowheads="1"/>
          </p:cNvSpPr>
          <p:nvPr>
            <p:ph type="title" idx="4294967295"/>
          </p:nvPr>
        </p:nvSpPr>
        <p:spPr>
          <a:xfrm>
            <a:off x="0" y="441325"/>
            <a:ext cx="7793038" cy="1143000"/>
          </a:xfrm>
        </p:spPr>
        <p:txBody>
          <a:bodyPr/>
          <a:lstStyle/>
          <a:p>
            <a:pPr eaLnBrk="1" hangingPunct="1"/>
            <a:endParaRPr lang="en-US" dirty="0" smtClean="0"/>
          </a:p>
        </p:txBody>
      </p:sp>
      <p:sp>
        <p:nvSpPr>
          <p:cNvPr id="44037" name="Rectangle 3"/>
          <p:cNvSpPr>
            <a:spLocks noGrp="1" noChangeArrowheads="1"/>
          </p:cNvSpPr>
          <p:nvPr>
            <p:ph type="body" idx="4294967295"/>
          </p:nvPr>
        </p:nvSpPr>
        <p:spPr>
          <a:xfrm>
            <a:off x="0" y="1082351"/>
            <a:ext cx="11028784" cy="5639124"/>
          </a:xfrm>
        </p:spPr>
        <p:txBody>
          <a:bodyPr>
            <a:normAutofit/>
          </a:bodyPr>
          <a:lstStyle/>
          <a:p>
            <a:pPr algn="just">
              <a:buNone/>
            </a:pPr>
            <a:endParaRPr lang="en-US" dirty="0" smtClean="0">
              <a:cs typeface="Times New Roman" panose="02020603050405020304" pitchFamily="18" charset="0"/>
            </a:endParaRPr>
          </a:p>
          <a:p>
            <a:pPr algn="just">
              <a:buNone/>
            </a:pPr>
            <a:endParaRPr lang="en-US" dirty="0">
              <a:cs typeface="Times New Roman" panose="02020603050405020304" pitchFamily="18" charset="0"/>
            </a:endParaRPr>
          </a:p>
          <a:p>
            <a:pPr algn="just">
              <a:buNone/>
            </a:pPr>
            <a:r>
              <a:rPr lang="en-US" dirty="0" smtClean="0">
                <a:cs typeface="Times New Roman" panose="02020603050405020304" pitchFamily="18" charset="0"/>
              </a:rPr>
              <a:t>ii)The </a:t>
            </a:r>
            <a:r>
              <a:rPr lang="en-US" dirty="0">
                <a:cs typeface="Times New Roman" panose="02020603050405020304" pitchFamily="18" charset="0"/>
              </a:rPr>
              <a:t>following rule </a:t>
            </a:r>
            <a:r>
              <a:rPr lang="en-US" dirty="0">
                <a:solidFill>
                  <a:srgbClr val="FF0000"/>
                </a:solidFill>
                <a:cs typeface="Times New Roman" panose="02020603050405020304" pitchFamily="18" charset="0"/>
              </a:rPr>
              <a:t>satisfies its </a:t>
            </a:r>
            <a:r>
              <a:rPr lang="en-US" dirty="0" err="1">
                <a:solidFill>
                  <a:srgbClr val="FF0000"/>
                </a:solidFill>
                <a:cs typeface="Times New Roman" panose="02020603050405020304" pitchFamily="18" charset="0"/>
              </a:rPr>
              <a:t>minsup</a:t>
            </a:r>
            <a:r>
              <a:rPr lang="en-US" dirty="0">
                <a:cs typeface="Times New Roman" panose="02020603050405020304" pitchFamily="18" charset="0"/>
              </a:rPr>
              <a:t>:</a:t>
            </a:r>
          </a:p>
          <a:p>
            <a:pPr algn="just">
              <a:buNone/>
            </a:pPr>
            <a:r>
              <a:rPr lang="en-US" dirty="0">
                <a:cs typeface="Times New Roman" panose="02020603050405020304" pitchFamily="18" charset="0"/>
              </a:rPr>
              <a:t>		</a:t>
            </a:r>
            <a:r>
              <a:rPr lang="en-US" i="1" dirty="0">
                <a:cs typeface="Times New Roman" panose="02020603050405020304" pitchFamily="18" charset="0"/>
              </a:rPr>
              <a:t>clothes</a:t>
            </a:r>
            <a:r>
              <a:rPr lang="en-US" dirty="0">
                <a:cs typeface="Times New Roman" panose="02020603050405020304" pitchFamily="18" charset="0"/>
              </a:rPr>
              <a:t> </a:t>
            </a:r>
            <a:r>
              <a:rPr lang="en-US" dirty="0">
                <a:cs typeface="Times New Roman" panose="02020603050405020304" pitchFamily="18" charset="0"/>
                <a:sym typeface="Symbol" panose="05050102010706020507" pitchFamily="18" charset="2"/>
              </a:rPr>
              <a:t></a:t>
            </a:r>
            <a:r>
              <a:rPr lang="en-US" dirty="0">
                <a:cs typeface="Times New Roman" panose="02020603050405020304" pitchFamily="18" charset="0"/>
              </a:rPr>
              <a:t> </a:t>
            </a:r>
            <a:r>
              <a:rPr lang="en-US" i="1" dirty="0">
                <a:cs typeface="Times New Roman" panose="02020603050405020304" pitchFamily="18" charset="0"/>
              </a:rPr>
              <a:t>shoes</a:t>
            </a:r>
            <a:r>
              <a:rPr lang="en-US" dirty="0">
                <a:cs typeface="Times New Roman" panose="02020603050405020304" pitchFamily="18" charset="0"/>
              </a:rPr>
              <a:t> [sup=0.15%,conf =70%]</a:t>
            </a:r>
          </a:p>
          <a:p>
            <a:pPr algn="just">
              <a:buNone/>
            </a:pPr>
            <a:r>
              <a:rPr lang="en-US" dirty="0"/>
              <a:t>MIS({</a:t>
            </a:r>
            <a:r>
              <a:rPr lang="en-US" dirty="0" err="1"/>
              <a:t>clothes,shoes</a:t>
            </a:r>
            <a:r>
              <a:rPr lang="en-US" dirty="0"/>
              <a:t>}) = min(0.2%, 0.1%) = 0.1%</a:t>
            </a:r>
            <a:endParaRPr lang="en-US" dirty="0">
              <a:cs typeface="Times New Roman" panose="02020603050405020304" pitchFamily="18" charset="0"/>
            </a:endParaRPr>
          </a:p>
          <a:p>
            <a:pPr algn="just">
              <a:buNone/>
            </a:pPr>
            <a:r>
              <a:rPr lang="en-US" dirty="0"/>
              <a:t>Given support = </a:t>
            </a:r>
            <a:r>
              <a:rPr lang="en-US" b="1" dirty="0"/>
              <a:t>0.15%</a:t>
            </a:r>
            <a:r>
              <a:rPr lang="en-US" dirty="0"/>
              <a:t>, and </a:t>
            </a:r>
            <a:r>
              <a:rPr lang="en-US" b="1" dirty="0"/>
              <a:t>0.15% ≥ 0.1%</a:t>
            </a:r>
            <a:r>
              <a:rPr lang="en-US" dirty="0"/>
              <a:t>, the </a:t>
            </a:r>
            <a:r>
              <a:rPr lang="en-US" dirty="0" err="1"/>
              <a:t>itemset</a:t>
            </a:r>
            <a:r>
              <a:rPr lang="en-US" dirty="0"/>
              <a:t> is </a:t>
            </a:r>
            <a:r>
              <a:rPr lang="en-US" b="1" dirty="0"/>
              <a:t>frequent</a:t>
            </a:r>
            <a:r>
              <a:rPr lang="en-US" dirty="0"/>
              <a:t>, so the rule </a:t>
            </a:r>
            <a:r>
              <a:rPr lang="en-US" b="1" dirty="0"/>
              <a:t>satisfies its </a:t>
            </a:r>
            <a:r>
              <a:rPr lang="en-US" b="1" dirty="0" err="1"/>
              <a:t>minsup</a:t>
            </a:r>
            <a:endParaRPr lang="en-US" dirty="0">
              <a:cs typeface="Times New Roman" panose="02020603050405020304" pitchFamily="18" charset="0"/>
            </a:endParaRPr>
          </a:p>
          <a:p>
            <a:endParaRPr lang="en-IN" dirty="0"/>
          </a:p>
          <a:p>
            <a:pPr eaLnBrk="1" hangingPunct="1">
              <a:lnSpc>
                <a:spcPct val="90000"/>
              </a:lnSpc>
            </a:pPr>
            <a:endParaRPr lang="en-US" dirty="0" smtClean="0">
              <a:cs typeface="Times New Roman" panose="02020603050405020304" pitchFamily="18" charset="0"/>
            </a:endParaRPr>
          </a:p>
        </p:txBody>
      </p:sp>
    </p:spTree>
    <p:extLst>
      <p:ext uri="{BB962C8B-B14F-4D97-AF65-F5344CB8AC3E}">
        <p14:creationId xmlns:p14="http://schemas.microsoft.com/office/powerpoint/2010/main" val="2872821276"/>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2"/>
          <p:cNvSpPr>
            <a:spLocks noGrp="1" noChangeArrowheads="1"/>
          </p:cNvSpPr>
          <p:nvPr>
            <p:ph type="title" idx="4294967295"/>
          </p:nvPr>
        </p:nvSpPr>
        <p:spPr>
          <a:xfrm>
            <a:off x="681135" y="1000125"/>
            <a:ext cx="7793038" cy="1143000"/>
          </a:xfrm>
        </p:spPr>
        <p:txBody>
          <a:bodyPr/>
          <a:lstStyle/>
          <a:p>
            <a:pPr eaLnBrk="1" hangingPunct="1"/>
            <a:r>
              <a:rPr lang="en-US" b="1" dirty="0" smtClean="0"/>
              <a:t>An Example 2</a:t>
            </a:r>
          </a:p>
        </p:txBody>
      </p:sp>
      <p:sp>
        <p:nvSpPr>
          <p:cNvPr id="44037" name="Rectangle 3"/>
          <p:cNvSpPr>
            <a:spLocks noGrp="1" noChangeArrowheads="1"/>
          </p:cNvSpPr>
          <p:nvPr>
            <p:ph type="body" idx="4294967295"/>
          </p:nvPr>
        </p:nvSpPr>
        <p:spPr>
          <a:xfrm>
            <a:off x="681135" y="2039938"/>
            <a:ext cx="11084767" cy="4419600"/>
          </a:xfrm>
        </p:spPr>
        <p:txBody>
          <a:bodyPr/>
          <a:lstStyle/>
          <a:p>
            <a:pPr eaLnBrk="1" hangingPunct="1">
              <a:lnSpc>
                <a:spcPct val="90000"/>
              </a:lnSpc>
            </a:pPr>
            <a:r>
              <a:rPr lang="en-US" dirty="0" smtClean="0">
                <a:cs typeface="Times New Roman" panose="02020603050405020304" pitchFamily="18" charset="0"/>
              </a:rPr>
              <a:t>Consider the following items:</a:t>
            </a:r>
          </a:p>
          <a:p>
            <a:pPr eaLnBrk="1" hangingPunct="1">
              <a:lnSpc>
                <a:spcPct val="90000"/>
              </a:lnSpc>
              <a:buFont typeface="Wingdings" panose="05000000000000000000" pitchFamily="2" charset="2"/>
              <a:buNone/>
            </a:pPr>
            <a:r>
              <a:rPr lang="en-US" sz="2600" dirty="0">
                <a:cs typeface="Times New Roman" panose="02020603050405020304" pitchFamily="18" charset="0"/>
              </a:rPr>
              <a:t>		</a:t>
            </a:r>
            <a:r>
              <a:rPr lang="en-US" sz="2600" i="1" dirty="0">
                <a:solidFill>
                  <a:srgbClr val="FF0000"/>
                </a:solidFill>
                <a:cs typeface="Times New Roman" panose="02020603050405020304" pitchFamily="18" charset="0"/>
              </a:rPr>
              <a:t>bread</a:t>
            </a:r>
            <a:r>
              <a:rPr lang="en-US" sz="2600" dirty="0">
                <a:solidFill>
                  <a:srgbClr val="FF0000"/>
                </a:solidFill>
                <a:cs typeface="Times New Roman" panose="02020603050405020304" pitchFamily="18" charset="0"/>
              </a:rPr>
              <a:t>, </a:t>
            </a:r>
            <a:r>
              <a:rPr lang="en-US" sz="2600" i="1" dirty="0">
                <a:solidFill>
                  <a:srgbClr val="FF0000"/>
                </a:solidFill>
                <a:cs typeface="Times New Roman" panose="02020603050405020304" pitchFamily="18" charset="0"/>
              </a:rPr>
              <a:t>shoes</a:t>
            </a:r>
            <a:r>
              <a:rPr lang="en-US" sz="2600" dirty="0">
                <a:solidFill>
                  <a:srgbClr val="FF0000"/>
                </a:solidFill>
                <a:cs typeface="Times New Roman" panose="02020603050405020304" pitchFamily="18" charset="0"/>
              </a:rPr>
              <a:t>, </a:t>
            </a:r>
            <a:r>
              <a:rPr lang="en-US" sz="2600" i="1" dirty="0">
                <a:solidFill>
                  <a:srgbClr val="FF0000"/>
                </a:solidFill>
                <a:cs typeface="Times New Roman" panose="02020603050405020304" pitchFamily="18" charset="0"/>
              </a:rPr>
              <a:t>clothes</a:t>
            </a:r>
            <a:r>
              <a:rPr lang="en-US" sz="2600" dirty="0">
                <a:cs typeface="Times New Roman" panose="02020603050405020304" pitchFamily="18" charset="0"/>
              </a:rPr>
              <a:t>  </a:t>
            </a:r>
          </a:p>
          <a:p>
            <a:pPr algn="just" eaLnBrk="1" hangingPunct="1">
              <a:lnSpc>
                <a:spcPct val="90000"/>
              </a:lnSpc>
              <a:buFont typeface="Wingdings" panose="05000000000000000000" pitchFamily="2" charset="2"/>
              <a:buNone/>
            </a:pPr>
            <a:r>
              <a:rPr lang="en-US" sz="2600" dirty="0">
                <a:cs typeface="Times New Roman" panose="02020603050405020304" pitchFamily="18" charset="0"/>
              </a:rPr>
              <a:t>	The user-specified MIS values are as follows:</a:t>
            </a:r>
          </a:p>
          <a:p>
            <a:pPr algn="just" eaLnBrk="1" hangingPunct="1">
              <a:lnSpc>
                <a:spcPct val="90000"/>
              </a:lnSpc>
              <a:buFont typeface="Wingdings" panose="05000000000000000000" pitchFamily="2" charset="2"/>
              <a:buNone/>
            </a:pPr>
            <a:r>
              <a:rPr lang="en-US" sz="2600" dirty="0">
                <a:cs typeface="Times New Roman" panose="02020603050405020304" pitchFamily="18" charset="0"/>
              </a:rPr>
              <a:t>		MIS(</a:t>
            </a:r>
            <a:r>
              <a:rPr lang="en-US" sz="2600" i="1" dirty="0">
                <a:cs typeface="Times New Roman" panose="02020603050405020304" pitchFamily="18" charset="0"/>
              </a:rPr>
              <a:t>bread</a:t>
            </a:r>
            <a:r>
              <a:rPr lang="en-US" sz="2600" dirty="0">
                <a:cs typeface="Times New Roman" panose="02020603050405020304" pitchFamily="18" charset="0"/>
              </a:rPr>
              <a:t>) = 2% 	MIS(</a:t>
            </a:r>
            <a:r>
              <a:rPr lang="en-US" sz="2600" i="1" dirty="0">
                <a:cs typeface="Times New Roman" panose="02020603050405020304" pitchFamily="18" charset="0"/>
              </a:rPr>
              <a:t>shoes</a:t>
            </a:r>
            <a:r>
              <a:rPr lang="en-US" sz="2600" dirty="0">
                <a:cs typeface="Times New Roman" panose="02020603050405020304" pitchFamily="18" charset="0"/>
              </a:rPr>
              <a:t>) = 0.1%</a:t>
            </a:r>
          </a:p>
          <a:p>
            <a:pPr algn="just" eaLnBrk="1" hangingPunct="1">
              <a:lnSpc>
                <a:spcPct val="90000"/>
              </a:lnSpc>
              <a:buFont typeface="Wingdings" panose="05000000000000000000" pitchFamily="2" charset="2"/>
              <a:buNone/>
            </a:pPr>
            <a:r>
              <a:rPr lang="en-US" sz="2600" dirty="0">
                <a:cs typeface="Times New Roman" panose="02020603050405020304" pitchFamily="18" charset="0"/>
              </a:rPr>
              <a:t>		MIS(</a:t>
            </a:r>
            <a:r>
              <a:rPr lang="en-US" sz="2600" i="1" dirty="0">
                <a:cs typeface="Times New Roman" panose="02020603050405020304" pitchFamily="18" charset="0"/>
              </a:rPr>
              <a:t>clothes</a:t>
            </a:r>
            <a:r>
              <a:rPr lang="en-US" sz="2600" dirty="0">
                <a:cs typeface="Times New Roman" panose="02020603050405020304" pitchFamily="18" charset="0"/>
              </a:rPr>
              <a:t>) = 0.2%</a:t>
            </a:r>
          </a:p>
          <a:p>
            <a:pPr algn="just" eaLnBrk="1" hangingPunct="1">
              <a:lnSpc>
                <a:spcPct val="90000"/>
              </a:lnSpc>
              <a:buFont typeface="Wingdings" panose="05000000000000000000" pitchFamily="2" charset="2"/>
              <a:buNone/>
            </a:pPr>
            <a:r>
              <a:rPr lang="en-US" sz="2600" dirty="0">
                <a:cs typeface="Times New Roman" panose="02020603050405020304" pitchFamily="18" charset="0"/>
              </a:rPr>
              <a:t>	The following rule </a:t>
            </a:r>
            <a:r>
              <a:rPr lang="en-US" sz="2600" dirty="0">
                <a:solidFill>
                  <a:srgbClr val="FF0000"/>
                </a:solidFill>
                <a:cs typeface="Times New Roman" panose="02020603050405020304" pitchFamily="18" charset="0"/>
              </a:rPr>
              <a:t>doesn’t satisfy its </a:t>
            </a:r>
            <a:r>
              <a:rPr lang="en-US" sz="2600" dirty="0" err="1">
                <a:solidFill>
                  <a:srgbClr val="FF0000"/>
                </a:solidFill>
                <a:cs typeface="Times New Roman" panose="02020603050405020304" pitchFamily="18" charset="0"/>
              </a:rPr>
              <a:t>minsup</a:t>
            </a:r>
            <a:r>
              <a:rPr lang="en-US" sz="2600" dirty="0">
                <a:cs typeface="Times New Roman" panose="02020603050405020304" pitchFamily="18" charset="0"/>
              </a:rPr>
              <a:t>:</a:t>
            </a:r>
          </a:p>
          <a:p>
            <a:pPr algn="just" eaLnBrk="1" hangingPunct="1">
              <a:lnSpc>
                <a:spcPct val="90000"/>
              </a:lnSpc>
              <a:buFont typeface="Wingdings" panose="05000000000000000000" pitchFamily="2" charset="2"/>
              <a:buNone/>
            </a:pPr>
            <a:r>
              <a:rPr lang="en-US" sz="2600" dirty="0">
                <a:cs typeface="Times New Roman" panose="02020603050405020304" pitchFamily="18" charset="0"/>
              </a:rPr>
              <a:t>		</a:t>
            </a:r>
            <a:r>
              <a:rPr lang="en-US" sz="2600" i="1" dirty="0">
                <a:cs typeface="Times New Roman" panose="02020603050405020304" pitchFamily="18" charset="0"/>
              </a:rPr>
              <a:t>clothes</a:t>
            </a:r>
            <a:r>
              <a:rPr lang="en-US" sz="2600" dirty="0">
                <a:cs typeface="Times New Roman" panose="02020603050405020304" pitchFamily="18" charset="0"/>
              </a:rPr>
              <a:t> </a:t>
            </a:r>
            <a:r>
              <a:rPr lang="en-US" sz="2600" dirty="0">
                <a:cs typeface="Times New Roman" panose="02020603050405020304" pitchFamily="18" charset="0"/>
                <a:sym typeface="Symbol" panose="05050102010706020507" pitchFamily="18" charset="2"/>
              </a:rPr>
              <a:t></a:t>
            </a:r>
            <a:r>
              <a:rPr lang="en-US" sz="2600" dirty="0">
                <a:cs typeface="Times New Roman" panose="02020603050405020304" pitchFamily="18" charset="0"/>
              </a:rPr>
              <a:t> </a:t>
            </a:r>
            <a:r>
              <a:rPr lang="en-US" sz="2600" i="1" dirty="0">
                <a:cs typeface="Times New Roman" panose="02020603050405020304" pitchFamily="18" charset="0"/>
              </a:rPr>
              <a:t>bread</a:t>
            </a:r>
            <a:r>
              <a:rPr lang="en-US" sz="2600" dirty="0">
                <a:cs typeface="Times New Roman" panose="02020603050405020304" pitchFamily="18" charset="0"/>
              </a:rPr>
              <a:t> [sup=0.15%,conf =70%]</a:t>
            </a:r>
          </a:p>
          <a:p>
            <a:pPr algn="just" eaLnBrk="1" hangingPunct="1">
              <a:lnSpc>
                <a:spcPct val="90000"/>
              </a:lnSpc>
              <a:buFont typeface="Wingdings" panose="05000000000000000000" pitchFamily="2" charset="2"/>
              <a:buNone/>
            </a:pPr>
            <a:r>
              <a:rPr lang="en-US" sz="2600" dirty="0">
                <a:cs typeface="Times New Roman" panose="02020603050405020304" pitchFamily="18" charset="0"/>
              </a:rPr>
              <a:t>	The following rule </a:t>
            </a:r>
            <a:r>
              <a:rPr lang="en-US" sz="2600" dirty="0">
                <a:solidFill>
                  <a:srgbClr val="FF0000"/>
                </a:solidFill>
                <a:cs typeface="Times New Roman" panose="02020603050405020304" pitchFamily="18" charset="0"/>
              </a:rPr>
              <a:t>satisfies its </a:t>
            </a:r>
            <a:r>
              <a:rPr lang="en-US" sz="2600" dirty="0" err="1">
                <a:solidFill>
                  <a:srgbClr val="FF0000"/>
                </a:solidFill>
                <a:cs typeface="Times New Roman" panose="02020603050405020304" pitchFamily="18" charset="0"/>
              </a:rPr>
              <a:t>minsup</a:t>
            </a:r>
            <a:r>
              <a:rPr lang="en-US" sz="2600" dirty="0">
                <a:cs typeface="Times New Roman" panose="02020603050405020304" pitchFamily="18" charset="0"/>
              </a:rPr>
              <a:t>:</a:t>
            </a:r>
          </a:p>
          <a:p>
            <a:pPr algn="just" eaLnBrk="1" hangingPunct="1">
              <a:lnSpc>
                <a:spcPct val="90000"/>
              </a:lnSpc>
              <a:buFont typeface="Wingdings" panose="05000000000000000000" pitchFamily="2" charset="2"/>
              <a:buNone/>
            </a:pPr>
            <a:r>
              <a:rPr lang="en-US" sz="2600" dirty="0">
                <a:cs typeface="Times New Roman" panose="02020603050405020304" pitchFamily="18" charset="0"/>
              </a:rPr>
              <a:t>		</a:t>
            </a:r>
            <a:r>
              <a:rPr lang="en-US" sz="2600" i="1" dirty="0">
                <a:cs typeface="Times New Roman" panose="02020603050405020304" pitchFamily="18" charset="0"/>
              </a:rPr>
              <a:t>clothes</a:t>
            </a:r>
            <a:r>
              <a:rPr lang="en-US" sz="2600" dirty="0">
                <a:cs typeface="Times New Roman" panose="02020603050405020304" pitchFamily="18" charset="0"/>
              </a:rPr>
              <a:t> </a:t>
            </a:r>
            <a:r>
              <a:rPr lang="en-US" sz="2600" dirty="0">
                <a:cs typeface="Times New Roman" panose="02020603050405020304" pitchFamily="18" charset="0"/>
                <a:sym typeface="Symbol" panose="05050102010706020507" pitchFamily="18" charset="2"/>
              </a:rPr>
              <a:t></a:t>
            </a:r>
            <a:r>
              <a:rPr lang="en-US" sz="2600" dirty="0">
                <a:cs typeface="Times New Roman" panose="02020603050405020304" pitchFamily="18" charset="0"/>
              </a:rPr>
              <a:t> </a:t>
            </a:r>
            <a:r>
              <a:rPr lang="en-US" sz="2600" i="1" dirty="0">
                <a:cs typeface="Times New Roman" panose="02020603050405020304" pitchFamily="18" charset="0"/>
              </a:rPr>
              <a:t>shoes</a:t>
            </a:r>
            <a:r>
              <a:rPr lang="en-US" sz="2600" dirty="0">
                <a:cs typeface="Times New Roman" panose="02020603050405020304" pitchFamily="18" charset="0"/>
              </a:rPr>
              <a:t> [sup=0.15%,conf =70%]</a:t>
            </a:r>
          </a:p>
          <a:p>
            <a:pPr eaLnBrk="1" hangingPunct="1">
              <a:lnSpc>
                <a:spcPct val="90000"/>
              </a:lnSpc>
              <a:buFont typeface="Wingdings" panose="05000000000000000000" pitchFamily="2" charset="2"/>
              <a:buNone/>
            </a:pPr>
            <a:endParaRPr lang="en-US" sz="2600" dirty="0">
              <a:cs typeface="Times New Roman" panose="02020603050405020304" pitchFamily="18" charset="0"/>
            </a:endParaRPr>
          </a:p>
        </p:txBody>
      </p:sp>
    </p:spTree>
    <p:extLst>
      <p:ext uri="{BB962C8B-B14F-4D97-AF65-F5344CB8AC3E}">
        <p14:creationId xmlns:p14="http://schemas.microsoft.com/office/powerpoint/2010/main" val="361706410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2"/>
          <p:cNvSpPr>
            <a:spLocks noGrp="1" noChangeArrowheads="1"/>
          </p:cNvSpPr>
          <p:nvPr>
            <p:ph type="title" idx="4294967295"/>
          </p:nvPr>
        </p:nvSpPr>
        <p:spPr>
          <a:xfrm>
            <a:off x="709127" y="1048819"/>
            <a:ext cx="8128000" cy="1143000"/>
          </a:xfrm>
        </p:spPr>
        <p:txBody>
          <a:bodyPr/>
          <a:lstStyle/>
          <a:p>
            <a:pPr eaLnBrk="1" hangingPunct="1"/>
            <a:r>
              <a:rPr lang="en-US" b="1" dirty="0" smtClean="0"/>
              <a:t>Downward closure property</a:t>
            </a:r>
          </a:p>
        </p:txBody>
      </p:sp>
      <p:sp>
        <p:nvSpPr>
          <p:cNvPr id="45061" name="Rectangle 3"/>
          <p:cNvSpPr>
            <a:spLocks noGrp="1" noChangeArrowheads="1"/>
          </p:cNvSpPr>
          <p:nvPr>
            <p:ph type="body" idx="4294967295"/>
          </p:nvPr>
        </p:nvSpPr>
        <p:spPr>
          <a:xfrm>
            <a:off x="709127" y="2191819"/>
            <a:ext cx="12521682" cy="4767262"/>
          </a:xfrm>
        </p:spPr>
        <p:txBody>
          <a:bodyPr/>
          <a:lstStyle/>
          <a:p>
            <a:pPr eaLnBrk="1" hangingPunct="1">
              <a:lnSpc>
                <a:spcPct val="90000"/>
              </a:lnSpc>
            </a:pPr>
            <a:r>
              <a:rPr lang="en-US" dirty="0" smtClean="0"/>
              <a:t>In the new model, </a:t>
            </a:r>
            <a:r>
              <a:rPr lang="en-US" dirty="0" smtClean="0">
                <a:solidFill>
                  <a:srgbClr val="FF0000"/>
                </a:solidFill>
              </a:rPr>
              <a:t>the property no longer holds </a:t>
            </a:r>
            <a:r>
              <a:rPr lang="en-US" dirty="0" smtClean="0">
                <a:solidFill>
                  <a:srgbClr val="3333CC"/>
                </a:solidFill>
              </a:rPr>
              <a:t>(?)</a:t>
            </a:r>
          </a:p>
          <a:p>
            <a:pPr eaLnBrk="1" hangingPunct="1">
              <a:lnSpc>
                <a:spcPct val="90000"/>
              </a:lnSpc>
              <a:buFont typeface="Wingdings" panose="05000000000000000000" pitchFamily="2" charset="2"/>
              <a:buNone/>
            </a:pPr>
            <a:r>
              <a:rPr lang="en-US" sz="2600" b="1" dirty="0">
                <a:cs typeface="Times New Roman" panose="02020603050405020304" pitchFamily="18" charset="0"/>
              </a:rPr>
              <a:t>E.g., </a:t>
            </a:r>
            <a:r>
              <a:rPr lang="en-US" sz="2600" dirty="0">
                <a:cs typeface="Times New Roman" panose="02020603050405020304" pitchFamily="18" charset="0"/>
              </a:rPr>
              <a:t>Consider four items 1, 2, 3 and 4 in a database. Their minimum item supports are</a:t>
            </a:r>
          </a:p>
          <a:p>
            <a:pPr algn="just" eaLnBrk="1" hangingPunct="1">
              <a:lnSpc>
                <a:spcPct val="90000"/>
              </a:lnSpc>
              <a:buFont typeface="Wingdings" panose="05000000000000000000" pitchFamily="2" charset="2"/>
              <a:buNone/>
            </a:pPr>
            <a:r>
              <a:rPr lang="en-US" sz="2600" dirty="0">
                <a:cs typeface="Times New Roman" panose="02020603050405020304" pitchFamily="18" charset="0"/>
              </a:rPr>
              <a:t>		MIS(1) = 10% 	MIS(2) = 20%</a:t>
            </a:r>
          </a:p>
          <a:p>
            <a:pPr algn="just" eaLnBrk="1" hangingPunct="1">
              <a:lnSpc>
                <a:spcPct val="90000"/>
              </a:lnSpc>
              <a:buFont typeface="Wingdings" panose="05000000000000000000" pitchFamily="2" charset="2"/>
              <a:buNone/>
            </a:pPr>
            <a:r>
              <a:rPr lang="en-US" sz="2600" dirty="0">
                <a:cs typeface="Times New Roman" panose="02020603050405020304" pitchFamily="18" charset="0"/>
              </a:rPr>
              <a:t>		MIS(3) = 5% 	MIS(4) = 6%</a:t>
            </a:r>
          </a:p>
          <a:p>
            <a:pPr eaLnBrk="1" hangingPunct="1">
              <a:lnSpc>
                <a:spcPct val="90000"/>
              </a:lnSpc>
              <a:buFont typeface="Wingdings" panose="05000000000000000000" pitchFamily="2" charset="2"/>
              <a:buNone/>
            </a:pPr>
            <a:r>
              <a:rPr lang="en-US" sz="2600" dirty="0"/>
              <a:t>	</a:t>
            </a:r>
          </a:p>
          <a:p>
            <a:pPr eaLnBrk="1" hangingPunct="1">
              <a:lnSpc>
                <a:spcPct val="90000"/>
              </a:lnSpc>
              <a:buFont typeface="Wingdings" panose="05000000000000000000" pitchFamily="2" charset="2"/>
              <a:buNone/>
            </a:pPr>
            <a:r>
              <a:rPr lang="en-US" sz="2600" dirty="0"/>
              <a:t>	{1, 2} with support 9% is infrequent, but {1, 2, 3} and {1, 2, 4} could be frequent.</a:t>
            </a:r>
          </a:p>
        </p:txBody>
      </p:sp>
    </p:spTree>
    <p:extLst>
      <p:ext uri="{BB962C8B-B14F-4D97-AF65-F5344CB8AC3E}">
        <p14:creationId xmlns:p14="http://schemas.microsoft.com/office/powerpoint/2010/main" val="4037246061"/>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2"/>
          <p:cNvSpPr>
            <a:spLocks noGrp="1" noChangeArrowheads="1"/>
          </p:cNvSpPr>
          <p:nvPr>
            <p:ph type="title" idx="4294967295"/>
          </p:nvPr>
        </p:nvSpPr>
        <p:spPr>
          <a:xfrm>
            <a:off x="802433" y="1083583"/>
            <a:ext cx="10515600" cy="1325563"/>
          </a:xfrm>
        </p:spPr>
        <p:txBody>
          <a:bodyPr/>
          <a:lstStyle/>
          <a:p>
            <a:pPr eaLnBrk="1" hangingPunct="1"/>
            <a:r>
              <a:rPr lang="en-US" b="1" dirty="0" smtClean="0"/>
              <a:t>To deal with the problem</a:t>
            </a:r>
          </a:p>
        </p:txBody>
      </p:sp>
      <p:sp>
        <p:nvSpPr>
          <p:cNvPr id="46085" name="Rectangle 3"/>
          <p:cNvSpPr>
            <a:spLocks noGrp="1" noChangeArrowheads="1"/>
          </p:cNvSpPr>
          <p:nvPr>
            <p:ph type="body" idx="4294967295"/>
          </p:nvPr>
        </p:nvSpPr>
        <p:spPr>
          <a:xfrm>
            <a:off x="802433" y="2525713"/>
            <a:ext cx="11019454" cy="4789487"/>
          </a:xfrm>
        </p:spPr>
        <p:txBody>
          <a:bodyPr/>
          <a:lstStyle/>
          <a:p>
            <a:pPr eaLnBrk="1" hangingPunct="1"/>
            <a:r>
              <a:rPr lang="en-GB" altLang="ja-JP" dirty="0" smtClean="0">
                <a:solidFill>
                  <a:srgbClr val="FF0000"/>
                </a:solidFill>
                <a:ea typeface="ＭＳ Ｐゴシック" panose="020B0600070205080204" pitchFamily="34" charset="-128"/>
              </a:rPr>
              <a:t>We sort all items in </a:t>
            </a:r>
            <a:r>
              <a:rPr lang="en-GB" altLang="ja-JP" i="1" dirty="0" smtClean="0">
                <a:solidFill>
                  <a:srgbClr val="FF0000"/>
                </a:solidFill>
                <a:ea typeface="ＭＳ Ｐゴシック" panose="020B0600070205080204" pitchFamily="34" charset="-128"/>
              </a:rPr>
              <a:t>I</a:t>
            </a:r>
            <a:r>
              <a:rPr lang="en-GB" altLang="ja-JP" dirty="0" smtClean="0">
                <a:solidFill>
                  <a:srgbClr val="FF0000"/>
                </a:solidFill>
                <a:ea typeface="ＭＳ Ｐゴシック" panose="020B0600070205080204" pitchFamily="34" charset="-128"/>
              </a:rPr>
              <a:t> according to their MIS values (make it a total order). </a:t>
            </a:r>
          </a:p>
          <a:p>
            <a:pPr eaLnBrk="1" hangingPunct="1"/>
            <a:r>
              <a:rPr lang="en-GB" altLang="ja-JP" dirty="0" smtClean="0">
                <a:solidFill>
                  <a:srgbClr val="3333CC"/>
                </a:solidFill>
                <a:ea typeface="ＭＳ Ｐゴシック" panose="020B0600070205080204" pitchFamily="34" charset="-128"/>
              </a:rPr>
              <a:t>The order is used throughout the algorithm in each </a:t>
            </a:r>
            <a:r>
              <a:rPr lang="en-GB" altLang="ja-JP" dirty="0" err="1" smtClean="0">
                <a:solidFill>
                  <a:srgbClr val="3333CC"/>
                </a:solidFill>
                <a:ea typeface="ＭＳ Ｐゴシック" panose="020B0600070205080204" pitchFamily="34" charset="-128"/>
              </a:rPr>
              <a:t>itemset</a:t>
            </a:r>
            <a:r>
              <a:rPr lang="en-GB" altLang="ja-JP" dirty="0" smtClean="0">
                <a:solidFill>
                  <a:srgbClr val="3333CC"/>
                </a:solidFill>
                <a:ea typeface="ＭＳ Ｐゴシック" panose="020B0600070205080204" pitchFamily="34" charset="-128"/>
              </a:rPr>
              <a:t>.</a:t>
            </a:r>
            <a:r>
              <a:rPr lang="en-GB" altLang="ja-JP" dirty="0" smtClean="0">
                <a:ea typeface="ＭＳ Ｐゴシック" panose="020B0600070205080204" pitchFamily="34" charset="-128"/>
              </a:rPr>
              <a:t> </a:t>
            </a:r>
          </a:p>
          <a:p>
            <a:pPr eaLnBrk="1" hangingPunct="1"/>
            <a:r>
              <a:rPr lang="en-US" altLang="ja-JP" dirty="0" smtClean="0">
                <a:ea typeface="ＭＳ Ｐゴシック" panose="020B0600070205080204" pitchFamily="34" charset="-128"/>
              </a:rPr>
              <a:t>Each </a:t>
            </a:r>
            <a:r>
              <a:rPr lang="en-US" altLang="ja-JP" dirty="0" err="1" smtClean="0">
                <a:ea typeface="ＭＳ Ｐゴシック" panose="020B0600070205080204" pitchFamily="34" charset="-128"/>
              </a:rPr>
              <a:t>itemset</a:t>
            </a:r>
            <a:r>
              <a:rPr lang="en-US" altLang="ja-JP" dirty="0" smtClean="0">
                <a:ea typeface="ＭＳ Ｐゴシック" panose="020B0600070205080204" pitchFamily="34" charset="-128"/>
              </a:rPr>
              <a:t> </a:t>
            </a:r>
            <a:r>
              <a:rPr lang="en-US" altLang="ja-JP" i="1" dirty="0" smtClean="0">
                <a:ea typeface="ＭＳ Ｐゴシック" panose="020B0600070205080204" pitchFamily="34" charset="-128"/>
              </a:rPr>
              <a:t>w</a:t>
            </a:r>
            <a:r>
              <a:rPr lang="en-US" altLang="ja-JP" dirty="0" smtClean="0">
                <a:ea typeface="ＭＳ Ｐゴシック" panose="020B0600070205080204" pitchFamily="34" charset="-128"/>
              </a:rPr>
              <a:t> is of the following form: </a:t>
            </a:r>
          </a:p>
          <a:p>
            <a:pPr lvl="1" eaLnBrk="1" hangingPunct="1">
              <a:buFont typeface="Wingdings" panose="05000000000000000000" pitchFamily="2" charset="2"/>
              <a:buNone/>
            </a:pPr>
            <a:r>
              <a:rPr lang="en-US" altLang="ja-JP" dirty="0" smtClean="0">
                <a:ea typeface="ＭＳ Ｐゴシック" panose="020B0600070205080204" pitchFamily="34" charset="-128"/>
              </a:rPr>
              <a:t>{</a:t>
            </a:r>
            <a:r>
              <a:rPr lang="en-US" altLang="ja-JP" i="1" dirty="0" smtClean="0">
                <a:ea typeface="ＭＳ Ｐゴシック" panose="020B0600070205080204" pitchFamily="34" charset="-128"/>
              </a:rPr>
              <a:t>w</a:t>
            </a:r>
            <a:r>
              <a:rPr lang="en-US" altLang="ja-JP" dirty="0" smtClean="0">
                <a:ea typeface="ＭＳ Ｐゴシック" panose="020B0600070205080204" pitchFamily="34" charset="-128"/>
              </a:rPr>
              <a:t>[1], </a:t>
            </a:r>
            <a:r>
              <a:rPr lang="en-US" altLang="ja-JP" i="1" dirty="0" smtClean="0">
                <a:ea typeface="ＭＳ Ｐゴシック" panose="020B0600070205080204" pitchFamily="34" charset="-128"/>
              </a:rPr>
              <a:t>w</a:t>
            </a:r>
            <a:r>
              <a:rPr lang="en-US" altLang="ja-JP" dirty="0" smtClean="0">
                <a:ea typeface="ＭＳ Ｐゴシック" panose="020B0600070205080204" pitchFamily="34" charset="-128"/>
              </a:rPr>
              <a:t>[2], …, </a:t>
            </a:r>
            <a:r>
              <a:rPr lang="en-US" altLang="ja-JP" i="1" dirty="0" smtClean="0">
                <a:ea typeface="ＭＳ Ｐゴシック" panose="020B0600070205080204" pitchFamily="34" charset="-128"/>
              </a:rPr>
              <a:t>w</a:t>
            </a:r>
            <a:r>
              <a:rPr lang="en-US" altLang="ja-JP" dirty="0" smtClean="0">
                <a:ea typeface="ＭＳ Ｐゴシック" panose="020B0600070205080204" pitchFamily="34" charset="-128"/>
              </a:rPr>
              <a:t>[</a:t>
            </a:r>
            <a:r>
              <a:rPr lang="en-US" altLang="ja-JP" i="1" dirty="0" smtClean="0">
                <a:ea typeface="ＭＳ Ｐゴシック" panose="020B0600070205080204" pitchFamily="34" charset="-128"/>
              </a:rPr>
              <a:t>k</a:t>
            </a:r>
            <a:r>
              <a:rPr lang="en-US" altLang="ja-JP" dirty="0" smtClean="0">
                <a:ea typeface="ＭＳ Ｐゴシック" panose="020B0600070205080204" pitchFamily="34" charset="-128"/>
              </a:rPr>
              <a:t>]}, consisting of items, </a:t>
            </a:r>
          </a:p>
          <a:p>
            <a:pPr lvl="1" eaLnBrk="1" hangingPunct="1">
              <a:buFont typeface="Wingdings" panose="05000000000000000000" pitchFamily="2" charset="2"/>
              <a:buNone/>
            </a:pPr>
            <a:r>
              <a:rPr lang="en-US" altLang="ja-JP" dirty="0" smtClean="0">
                <a:ea typeface="ＭＳ Ｐゴシック" panose="020B0600070205080204" pitchFamily="34" charset="-128"/>
              </a:rPr>
              <a:t>	</a:t>
            </a:r>
            <a:r>
              <a:rPr lang="en-US" altLang="ja-JP" i="1" dirty="0" smtClean="0">
                <a:ea typeface="ＭＳ Ｐゴシック" panose="020B0600070205080204" pitchFamily="34" charset="-128"/>
              </a:rPr>
              <a:t>w</a:t>
            </a:r>
            <a:r>
              <a:rPr lang="en-US" altLang="ja-JP" dirty="0" smtClean="0">
                <a:ea typeface="ＭＳ Ｐゴシック" panose="020B0600070205080204" pitchFamily="34" charset="-128"/>
              </a:rPr>
              <a:t>[1], </a:t>
            </a:r>
            <a:r>
              <a:rPr lang="en-US" altLang="ja-JP" i="1" dirty="0" smtClean="0">
                <a:ea typeface="ＭＳ Ｐゴシック" panose="020B0600070205080204" pitchFamily="34" charset="-128"/>
              </a:rPr>
              <a:t>w</a:t>
            </a:r>
            <a:r>
              <a:rPr lang="en-US" altLang="ja-JP" dirty="0" smtClean="0">
                <a:ea typeface="ＭＳ Ｐゴシック" panose="020B0600070205080204" pitchFamily="34" charset="-128"/>
              </a:rPr>
              <a:t>[2], …, </a:t>
            </a:r>
            <a:r>
              <a:rPr lang="en-US" altLang="ja-JP" i="1" dirty="0" smtClean="0">
                <a:ea typeface="ＭＳ Ｐゴシック" panose="020B0600070205080204" pitchFamily="34" charset="-128"/>
              </a:rPr>
              <a:t>w</a:t>
            </a:r>
            <a:r>
              <a:rPr lang="en-US" altLang="ja-JP" dirty="0" smtClean="0">
                <a:ea typeface="ＭＳ Ｐゴシック" panose="020B0600070205080204" pitchFamily="34" charset="-128"/>
              </a:rPr>
              <a:t>[</a:t>
            </a:r>
            <a:r>
              <a:rPr lang="en-US" altLang="ja-JP" i="1" dirty="0" smtClean="0">
                <a:ea typeface="ＭＳ Ｐゴシック" panose="020B0600070205080204" pitchFamily="34" charset="-128"/>
              </a:rPr>
              <a:t>k</a:t>
            </a:r>
            <a:r>
              <a:rPr lang="en-US" altLang="ja-JP" dirty="0" smtClean="0">
                <a:ea typeface="ＭＳ Ｐゴシック" panose="020B0600070205080204" pitchFamily="34" charset="-128"/>
              </a:rPr>
              <a:t>], </a:t>
            </a:r>
          </a:p>
          <a:p>
            <a:pPr lvl="1" eaLnBrk="1" hangingPunct="1">
              <a:buFont typeface="Wingdings" panose="05000000000000000000" pitchFamily="2" charset="2"/>
              <a:buNone/>
            </a:pPr>
            <a:r>
              <a:rPr lang="en-US" altLang="ja-JP" dirty="0" smtClean="0">
                <a:ea typeface="ＭＳ Ｐゴシック" panose="020B0600070205080204" pitchFamily="34" charset="-128"/>
              </a:rPr>
              <a:t>where MIS(</a:t>
            </a:r>
            <a:r>
              <a:rPr lang="en-US" altLang="ja-JP" i="1" dirty="0" smtClean="0">
                <a:ea typeface="ＭＳ Ｐゴシック" panose="020B0600070205080204" pitchFamily="34" charset="-128"/>
              </a:rPr>
              <a:t>w</a:t>
            </a:r>
            <a:r>
              <a:rPr lang="en-US" altLang="ja-JP" dirty="0" smtClean="0">
                <a:ea typeface="ＭＳ Ｐゴシック" panose="020B0600070205080204" pitchFamily="34" charset="-128"/>
              </a:rPr>
              <a:t>[1]) </a:t>
            </a:r>
            <a:r>
              <a:rPr lang="en-US" altLang="ja-JP" dirty="0" smtClean="0">
                <a:ea typeface="ＭＳ Ｐゴシック" panose="020B0600070205080204" pitchFamily="34" charset="-128"/>
                <a:sym typeface="Symbol" panose="05050102010706020507" pitchFamily="18" charset="2"/>
              </a:rPr>
              <a:t></a:t>
            </a:r>
            <a:r>
              <a:rPr lang="en-US" altLang="ja-JP" dirty="0" smtClean="0">
                <a:ea typeface="ＭＳ Ｐゴシック" panose="020B0600070205080204" pitchFamily="34" charset="-128"/>
              </a:rPr>
              <a:t> MIS(</a:t>
            </a:r>
            <a:r>
              <a:rPr lang="en-US" altLang="ja-JP" i="1" dirty="0" smtClean="0">
                <a:ea typeface="ＭＳ Ｐゴシック" panose="020B0600070205080204" pitchFamily="34" charset="-128"/>
              </a:rPr>
              <a:t>w</a:t>
            </a:r>
            <a:r>
              <a:rPr lang="en-US" altLang="ja-JP" dirty="0" smtClean="0">
                <a:ea typeface="ＭＳ Ｐゴシック" panose="020B0600070205080204" pitchFamily="34" charset="-128"/>
              </a:rPr>
              <a:t>[2]) </a:t>
            </a:r>
            <a:r>
              <a:rPr lang="en-US" altLang="ja-JP" dirty="0" smtClean="0">
                <a:ea typeface="ＭＳ Ｐゴシック" panose="020B0600070205080204" pitchFamily="34" charset="-128"/>
                <a:sym typeface="Symbol" panose="05050102010706020507" pitchFamily="18" charset="2"/>
              </a:rPr>
              <a:t></a:t>
            </a:r>
            <a:r>
              <a:rPr lang="en-US" altLang="ja-JP" dirty="0" smtClean="0">
                <a:ea typeface="ＭＳ Ｐゴシック" panose="020B0600070205080204" pitchFamily="34" charset="-128"/>
              </a:rPr>
              <a:t> … </a:t>
            </a:r>
            <a:r>
              <a:rPr lang="en-US" altLang="ja-JP" dirty="0" smtClean="0">
                <a:ea typeface="ＭＳ Ｐゴシック" panose="020B0600070205080204" pitchFamily="34" charset="-128"/>
                <a:sym typeface="Symbol" panose="05050102010706020507" pitchFamily="18" charset="2"/>
              </a:rPr>
              <a:t></a:t>
            </a:r>
            <a:r>
              <a:rPr lang="en-US" altLang="ja-JP" dirty="0" smtClean="0">
                <a:ea typeface="ＭＳ Ｐゴシック" panose="020B0600070205080204" pitchFamily="34" charset="-128"/>
              </a:rPr>
              <a:t> MIS(</a:t>
            </a:r>
            <a:r>
              <a:rPr lang="en-US" altLang="ja-JP" i="1" dirty="0" smtClean="0">
                <a:ea typeface="ＭＳ Ｐゴシック" panose="020B0600070205080204" pitchFamily="34" charset="-128"/>
              </a:rPr>
              <a:t>w</a:t>
            </a:r>
            <a:r>
              <a:rPr lang="en-US" altLang="ja-JP" dirty="0" smtClean="0">
                <a:ea typeface="ＭＳ Ｐゴシック" panose="020B0600070205080204" pitchFamily="34" charset="-128"/>
              </a:rPr>
              <a:t>[</a:t>
            </a:r>
            <a:r>
              <a:rPr lang="en-US" altLang="ja-JP" i="1" dirty="0" smtClean="0">
                <a:ea typeface="ＭＳ Ｐゴシック" panose="020B0600070205080204" pitchFamily="34" charset="-128"/>
              </a:rPr>
              <a:t>k</a:t>
            </a:r>
            <a:r>
              <a:rPr lang="en-US" altLang="ja-JP" dirty="0" smtClean="0">
                <a:ea typeface="ＭＳ Ｐゴシック" panose="020B0600070205080204" pitchFamily="34" charset="-128"/>
              </a:rPr>
              <a:t>]). </a:t>
            </a:r>
            <a:endParaRPr lang="en-GB" altLang="ja-JP" dirty="0" smtClean="0">
              <a:ea typeface="ＭＳ Ｐゴシック" panose="020B0600070205080204" pitchFamily="34" charset="-128"/>
            </a:endParaRPr>
          </a:p>
        </p:txBody>
      </p:sp>
    </p:spTree>
    <p:extLst>
      <p:ext uri="{BB962C8B-B14F-4D97-AF65-F5344CB8AC3E}">
        <p14:creationId xmlns:p14="http://schemas.microsoft.com/office/powerpoint/2010/main" val="885243834"/>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2"/>
          <p:cNvSpPr>
            <a:spLocks noGrp="1" noChangeArrowheads="1"/>
          </p:cNvSpPr>
          <p:nvPr>
            <p:ph type="title" idx="4294967295"/>
          </p:nvPr>
        </p:nvSpPr>
        <p:spPr>
          <a:xfrm>
            <a:off x="1754156" y="441649"/>
            <a:ext cx="8229600" cy="1139825"/>
          </a:xfrm>
        </p:spPr>
        <p:txBody>
          <a:bodyPr/>
          <a:lstStyle/>
          <a:p>
            <a:pPr eaLnBrk="1" hangingPunct="1"/>
            <a:r>
              <a:rPr lang="en-GB" b="1" dirty="0" smtClean="0">
                <a:solidFill>
                  <a:srgbClr val="FF0000"/>
                </a:solidFill>
              </a:rPr>
              <a:t>The </a:t>
            </a:r>
            <a:r>
              <a:rPr lang="en-GB" b="1" dirty="0" err="1" smtClean="0">
                <a:solidFill>
                  <a:srgbClr val="FF0000"/>
                </a:solidFill>
              </a:rPr>
              <a:t>MSapriori</a:t>
            </a:r>
            <a:r>
              <a:rPr lang="en-GB" b="1" dirty="0" smtClean="0">
                <a:solidFill>
                  <a:srgbClr val="FF0000"/>
                </a:solidFill>
              </a:rPr>
              <a:t> algorithm</a:t>
            </a:r>
            <a:endParaRPr lang="en-US" b="1" dirty="0" smtClean="0">
              <a:solidFill>
                <a:srgbClr val="FF0000"/>
              </a:solidFill>
            </a:endParaRPr>
          </a:p>
        </p:txBody>
      </p:sp>
      <p:sp>
        <p:nvSpPr>
          <p:cNvPr id="47109" name="Rectangle 3"/>
          <p:cNvSpPr>
            <a:spLocks noGrp="1" noChangeArrowheads="1"/>
          </p:cNvSpPr>
          <p:nvPr>
            <p:ph type="body" idx="4294967295"/>
          </p:nvPr>
        </p:nvSpPr>
        <p:spPr>
          <a:xfrm>
            <a:off x="819280" y="1581474"/>
            <a:ext cx="8996524" cy="5221287"/>
          </a:xfrm>
        </p:spPr>
        <p:txBody>
          <a:bodyPr>
            <a:normAutofit fontScale="85000" lnSpcReduction="20000"/>
          </a:bodyPr>
          <a:lstStyle/>
          <a:p>
            <a:pPr eaLnBrk="1" hangingPunct="1">
              <a:lnSpc>
                <a:spcPct val="80000"/>
              </a:lnSpc>
              <a:buFont typeface="Wingdings" panose="05000000000000000000" pitchFamily="2" charset="2"/>
              <a:buNone/>
            </a:pPr>
            <a:r>
              <a:rPr lang="en-US" altLang="ja-JP" sz="1700" b="1" dirty="0">
                <a:ea typeface="ＭＳ Ｐゴシック" panose="020B0600070205080204" pitchFamily="34" charset="-128"/>
              </a:rPr>
              <a:t>Algorithm </a:t>
            </a:r>
            <a:r>
              <a:rPr lang="en-US" altLang="ja-JP" sz="1700" b="1" dirty="0" err="1">
                <a:ea typeface="ＭＳ Ｐゴシック" panose="020B0600070205080204" pitchFamily="34" charset="-128"/>
              </a:rPr>
              <a:t>MSapriori</a:t>
            </a:r>
            <a:r>
              <a:rPr lang="en-US" altLang="ja-JP" sz="1700" b="1" dirty="0">
                <a:ea typeface="ＭＳ Ｐゴシック" panose="020B0600070205080204" pitchFamily="34" charset="-128"/>
              </a:rPr>
              <a:t>(</a:t>
            </a:r>
            <a:r>
              <a:rPr lang="en-US" altLang="ja-JP" sz="1700" b="1" i="1" dirty="0">
                <a:ea typeface="ＭＳ Ｐゴシック" panose="020B0600070205080204" pitchFamily="34" charset="-128"/>
              </a:rPr>
              <a:t>T, MS, </a:t>
            </a:r>
            <a:r>
              <a:rPr lang="en-US" altLang="ja-JP" sz="1700" b="1" i="1" dirty="0">
                <a:ea typeface="ＭＳ Ｐゴシック" panose="020B0600070205080204" pitchFamily="34" charset="-128"/>
                <a:sym typeface="Symbol" panose="05050102010706020507" pitchFamily="18" charset="2"/>
              </a:rPr>
              <a:t></a:t>
            </a:r>
            <a:r>
              <a:rPr lang="en-US" altLang="ja-JP" sz="1700" b="1" dirty="0">
                <a:ea typeface="ＭＳ Ｐゴシック" panose="020B0600070205080204" pitchFamily="34" charset="-128"/>
              </a:rPr>
              <a:t>)</a:t>
            </a:r>
            <a:r>
              <a:rPr lang="en-US" altLang="ja-JP" sz="1700" dirty="0">
                <a:ea typeface="ＭＳ Ｐゴシック" panose="020B0600070205080204" pitchFamily="34" charset="-128"/>
              </a:rPr>
              <a:t>	// </a:t>
            </a:r>
            <a:r>
              <a:rPr lang="en-US" altLang="ja-JP" sz="1700" i="1" dirty="0">
                <a:ea typeface="ＭＳ Ｐゴシック" panose="020B0600070205080204" pitchFamily="34" charset="-128"/>
                <a:sym typeface="Symbol" panose="05050102010706020507" pitchFamily="18" charset="2"/>
              </a:rPr>
              <a:t> </a:t>
            </a:r>
            <a:r>
              <a:rPr lang="en-US" altLang="ja-JP" sz="1700" dirty="0">
                <a:ea typeface="ＭＳ Ｐゴシック" panose="020B0600070205080204" pitchFamily="34" charset="-128"/>
                <a:sym typeface="Symbol" panose="05050102010706020507" pitchFamily="18" charset="2"/>
              </a:rPr>
              <a:t>is for support difference constraint</a:t>
            </a:r>
            <a:endParaRPr lang="en-US" altLang="ja-JP" sz="1700" dirty="0">
              <a:ea typeface="ＭＳ Ｐゴシック" panose="020B0600070205080204" pitchFamily="34" charset="-128"/>
            </a:endParaRPr>
          </a:p>
          <a:p>
            <a:pPr eaLnBrk="1" hangingPunct="1">
              <a:lnSpc>
                <a:spcPct val="80000"/>
              </a:lnSpc>
              <a:buFont typeface="Wingdings" panose="05000000000000000000" pitchFamily="2" charset="2"/>
              <a:buNone/>
            </a:pPr>
            <a:r>
              <a:rPr lang="en-US" altLang="ja-JP" sz="1700" i="1" dirty="0">
                <a:ea typeface="ＭＳ Ｐゴシック" panose="020B0600070205080204" pitchFamily="34" charset="-128"/>
              </a:rPr>
              <a:t>	M</a:t>
            </a:r>
            <a:r>
              <a:rPr lang="en-US" altLang="ja-JP" sz="1700" b="1" dirty="0">
                <a:ea typeface="ＭＳ Ｐゴシック" panose="020B0600070205080204" pitchFamily="34" charset="-128"/>
              </a:rPr>
              <a:t> </a:t>
            </a:r>
            <a:r>
              <a:rPr lang="en-US" altLang="ja-JP" sz="1700" dirty="0">
                <a:ea typeface="ＭＳ Ｐゴシック" panose="020B0600070205080204" pitchFamily="34" charset="-128"/>
                <a:sym typeface="Symbol" panose="05050102010706020507" pitchFamily="18" charset="2"/>
              </a:rPr>
              <a:t></a:t>
            </a:r>
            <a:r>
              <a:rPr lang="en-US" altLang="ja-JP" sz="1700" b="1" dirty="0">
                <a:ea typeface="ＭＳ Ｐゴシック" panose="020B0600070205080204" pitchFamily="34" charset="-128"/>
              </a:rPr>
              <a:t> </a:t>
            </a:r>
            <a:r>
              <a:rPr lang="en-US" altLang="ja-JP" sz="1700" dirty="0">
                <a:ea typeface="ＭＳ Ｐゴシック" panose="020B0600070205080204" pitchFamily="34" charset="-128"/>
              </a:rPr>
              <a:t>sort(</a:t>
            </a:r>
            <a:r>
              <a:rPr lang="en-US" altLang="ja-JP" sz="1700" i="1" dirty="0">
                <a:ea typeface="ＭＳ Ｐゴシック" panose="020B0600070205080204" pitchFamily="34" charset="-128"/>
              </a:rPr>
              <a:t>I, MS</a:t>
            </a:r>
            <a:r>
              <a:rPr lang="en-US" altLang="ja-JP" sz="1700" dirty="0">
                <a:ea typeface="ＭＳ Ｐゴシック" panose="020B0600070205080204" pitchFamily="34" charset="-128"/>
              </a:rPr>
              <a:t>);</a:t>
            </a:r>
            <a:r>
              <a:rPr lang="en-US" altLang="ja-JP" sz="1700" b="1" dirty="0">
                <a:ea typeface="ＭＳ Ｐゴシック" panose="020B0600070205080204" pitchFamily="34" charset="-128"/>
              </a:rPr>
              <a:t> 	</a:t>
            </a:r>
          </a:p>
          <a:p>
            <a:pPr eaLnBrk="1" hangingPunct="1">
              <a:lnSpc>
                <a:spcPct val="80000"/>
              </a:lnSpc>
              <a:buFont typeface="Wingdings" panose="05000000000000000000" pitchFamily="2" charset="2"/>
              <a:buNone/>
            </a:pPr>
            <a:r>
              <a:rPr lang="en-US" altLang="ja-JP" sz="1700" dirty="0">
                <a:ea typeface="ＭＳ Ｐゴシック" panose="020B0600070205080204" pitchFamily="34" charset="-128"/>
              </a:rPr>
              <a:t>	</a:t>
            </a:r>
            <a:r>
              <a:rPr lang="en-US" altLang="ja-JP" sz="1700" i="1" dirty="0">
                <a:ea typeface="ＭＳ Ｐゴシック" panose="020B0600070205080204" pitchFamily="34" charset="-128"/>
              </a:rPr>
              <a:t>L</a:t>
            </a:r>
            <a:r>
              <a:rPr lang="en-US" altLang="ja-JP" sz="1700" dirty="0">
                <a:ea typeface="ＭＳ Ｐゴシック" panose="020B0600070205080204" pitchFamily="34" charset="-128"/>
              </a:rPr>
              <a:t> </a:t>
            </a:r>
            <a:r>
              <a:rPr lang="en-US" altLang="ja-JP" sz="1700" dirty="0">
                <a:ea typeface="ＭＳ Ｐゴシック" panose="020B0600070205080204" pitchFamily="34" charset="-128"/>
                <a:sym typeface="Symbol" panose="05050102010706020507" pitchFamily="18" charset="2"/>
              </a:rPr>
              <a:t></a:t>
            </a:r>
            <a:r>
              <a:rPr lang="en-US" altLang="ja-JP" sz="1700" dirty="0">
                <a:ea typeface="ＭＳ Ｐゴシック" panose="020B0600070205080204" pitchFamily="34" charset="-128"/>
              </a:rPr>
              <a:t> </a:t>
            </a:r>
            <a:r>
              <a:rPr lang="en-US" altLang="ja-JP" sz="1700" dirty="0" err="1">
                <a:ea typeface="ＭＳ Ｐゴシック" panose="020B0600070205080204" pitchFamily="34" charset="-128"/>
              </a:rPr>
              <a:t>init</a:t>
            </a:r>
            <a:r>
              <a:rPr lang="en-US" altLang="ja-JP" sz="1700" dirty="0">
                <a:ea typeface="ＭＳ Ｐゴシック" panose="020B0600070205080204" pitchFamily="34" charset="-128"/>
              </a:rPr>
              <a:t>-pass(</a:t>
            </a:r>
            <a:r>
              <a:rPr lang="en-US" altLang="ja-JP" sz="1700" i="1" dirty="0">
                <a:ea typeface="ＭＳ Ｐゴシック" panose="020B0600070205080204" pitchFamily="34" charset="-128"/>
              </a:rPr>
              <a:t>M</a:t>
            </a:r>
            <a:r>
              <a:rPr lang="en-US" altLang="ja-JP" sz="1700" dirty="0">
                <a:ea typeface="ＭＳ Ｐゴシック" panose="020B0600070205080204" pitchFamily="34" charset="-128"/>
              </a:rPr>
              <a:t>,</a:t>
            </a:r>
            <a:r>
              <a:rPr lang="en-US" altLang="ja-JP" sz="1700" i="1" dirty="0">
                <a:ea typeface="ＭＳ Ｐゴシック" panose="020B0600070205080204" pitchFamily="34" charset="-128"/>
              </a:rPr>
              <a:t> T</a:t>
            </a:r>
            <a:r>
              <a:rPr lang="en-US" altLang="ja-JP" sz="1700" dirty="0">
                <a:ea typeface="ＭＳ Ｐゴシック" panose="020B0600070205080204" pitchFamily="34" charset="-128"/>
              </a:rPr>
              <a:t>);  	</a:t>
            </a:r>
          </a:p>
          <a:p>
            <a:pPr eaLnBrk="1" hangingPunct="1">
              <a:lnSpc>
                <a:spcPct val="80000"/>
              </a:lnSpc>
              <a:buFont typeface="Wingdings" panose="05000000000000000000" pitchFamily="2" charset="2"/>
              <a:buNone/>
            </a:pPr>
            <a:r>
              <a:rPr lang="en-US" altLang="ja-JP" sz="1700" i="1" dirty="0">
                <a:ea typeface="ＭＳ Ｐゴシック" panose="020B0600070205080204" pitchFamily="34" charset="-128"/>
              </a:rPr>
              <a:t>	F</a:t>
            </a:r>
            <a:r>
              <a:rPr lang="en-US" altLang="ja-JP" sz="1700" baseline="-25000" dirty="0">
                <a:ea typeface="ＭＳ Ｐゴシック" panose="020B0600070205080204" pitchFamily="34" charset="-128"/>
              </a:rPr>
              <a:t>1</a:t>
            </a:r>
            <a:r>
              <a:rPr lang="en-US" altLang="ja-JP" sz="1700" dirty="0">
                <a:ea typeface="ＭＳ Ｐゴシック" panose="020B0600070205080204" pitchFamily="34" charset="-128"/>
              </a:rPr>
              <a:t> </a:t>
            </a:r>
            <a:r>
              <a:rPr lang="en-US" altLang="ja-JP" sz="1700" dirty="0">
                <a:ea typeface="ＭＳ Ｐゴシック" panose="020B0600070205080204" pitchFamily="34" charset="-128"/>
                <a:sym typeface="Symbol" panose="05050102010706020507" pitchFamily="18" charset="2"/>
              </a:rPr>
              <a:t></a:t>
            </a:r>
            <a:r>
              <a:rPr lang="en-US" altLang="ja-JP" sz="1700" dirty="0">
                <a:ea typeface="ＭＳ Ｐゴシック" panose="020B0600070205080204" pitchFamily="34" charset="-128"/>
              </a:rPr>
              <a:t> {{</a:t>
            </a:r>
            <a:r>
              <a:rPr lang="en-US" altLang="ja-JP" sz="1700" i="1" dirty="0" err="1">
                <a:ea typeface="ＭＳ Ｐゴシック" panose="020B0600070205080204" pitchFamily="34" charset="-128"/>
              </a:rPr>
              <a:t>i</a:t>
            </a:r>
            <a:r>
              <a:rPr lang="en-US" altLang="ja-JP" sz="1700" dirty="0">
                <a:ea typeface="ＭＳ Ｐゴシック" panose="020B0600070205080204" pitchFamily="34" charset="-128"/>
              </a:rPr>
              <a:t>} | </a:t>
            </a:r>
            <a:r>
              <a:rPr lang="en-US" altLang="ja-JP" sz="1700" i="1" dirty="0" err="1">
                <a:ea typeface="ＭＳ Ｐゴシック" panose="020B0600070205080204" pitchFamily="34" charset="-128"/>
              </a:rPr>
              <a:t>i</a:t>
            </a:r>
            <a:r>
              <a:rPr lang="en-US" altLang="ja-JP" sz="1700" dirty="0">
                <a:ea typeface="ＭＳ Ｐゴシック" panose="020B0600070205080204" pitchFamily="34" charset="-128"/>
              </a:rPr>
              <a:t> </a:t>
            </a:r>
            <a:r>
              <a:rPr lang="en-US" altLang="ja-JP" sz="1700" dirty="0">
                <a:ea typeface="ＭＳ Ｐゴシック" panose="020B0600070205080204" pitchFamily="34" charset="-128"/>
                <a:sym typeface="Symbol" panose="05050102010706020507" pitchFamily="18" charset="2"/>
              </a:rPr>
              <a:t></a:t>
            </a:r>
            <a:r>
              <a:rPr lang="en-US" altLang="ja-JP" sz="1700" dirty="0">
                <a:ea typeface="ＭＳ Ｐゴシック" panose="020B0600070205080204" pitchFamily="34" charset="-128"/>
              </a:rPr>
              <a:t> </a:t>
            </a:r>
            <a:r>
              <a:rPr lang="en-US" altLang="ja-JP" sz="1700" i="1" dirty="0">
                <a:ea typeface="ＭＳ Ｐゴシック" panose="020B0600070205080204" pitchFamily="34" charset="-128"/>
              </a:rPr>
              <a:t>L</a:t>
            </a:r>
            <a:r>
              <a:rPr lang="en-US" altLang="ja-JP" sz="1700" dirty="0">
                <a:ea typeface="ＭＳ Ｐゴシック" panose="020B0600070205080204" pitchFamily="34" charset="-128"/>
              </a:rPr>
              <a:t>, </a:t>
            </a:r>
            <a:r>
              <a:rPr lang="en-US" altLang="ja-JP" sz="1700" i="1" dirty="0" err="1">
                <a:ea typeface="ＭＳ Ｐゴシック" panose="020B0600070205080204" pitchFamily="34" charset="-128"/>
              </a:rPr>
              <a:t>i</a:t>
            </a:r>
            <a:r>
              <a:rPr lang="en-US" altLang="ja-JP" sz="1700" dirty="0" err="1">
                <a:ea typeface="ＭＳ Ｐゴシック" panose="020B0600070205080204" pitchFamily="34" charset="-128"/>
              </a:rPr>
              <a:t>.</a:t>
            </a:r>
            <a:r>
              <a:rPr lang="en-US" altLang="ja-JP" sz="1700" i="1" dirty="0" err="1">
                <a:ea typeface="ＭＳ Ｐゴシック" panose="020B0600070205080204" pitchFamily="34" charset="-128"/>
              </a:rPr>
              <a:t>count</a:t>
            </a:r>
            <a:r>
              <a:rPr lang="en-US" altLang="ja-JP" sz="1700" i="1" dirty="0">
                <a:ea typeface="ＭＳ Ｐゴシック" panose="020B0600070205080204" pitchFamily="34" charset="-128"/>
              </a:rPr>
              <a:t>/n</a:t>
            </a:r>
            <a:r>
              <a:rPr lang="en-US" altLang="ja-JP" sz="1700" dirty="0">
                <a:ea typeface="ＭＳ Ｐゴシック" panose="020B0600070205080204" pitchFamily="34" charset="-128"/>
              </a:rPr>
              <a:t> </a:t>
            </a:r>
            <a:r>
              <a:rPr lang="en-US" altLang="ja-JP" sz="1700" dirty="0">
                <a:ea typeface="ＭＳ Ｐゴシック" panose="020B0600070205080204" pitchFamily="34" charset="-128"/>
                <a:sym typeface="Symbol" panose="05050102010706020507" pitchFamily="18" charset="2"/>
              </a:rPr>
              <a:t></a:t>
            </a:r>
            <a:r>
              <a:rPr lang="en-US" altLang="ja-JP" sz="1700" dirty="0">
                <a:ea typeface="ＭＳ Ｐゴシック" panose="020B0600070205080204" pitchFamily="34" charset="-128"/>
              </a:rPr>
              <a:t> MIS(</a:t>
            </a:r>
            <a:r>
              <a:rPr lang="en-US" altLang="ja-JP" sz="1700" i="1" dirty="0" err="1">
                <a:ea typeface="ＭＳ Ｐゴシック" panose="020B0600070205080204" pitchFamily="34" charset="-128"/>
              </a:rPr>
              <a:t>i</a:t>
            </a:r>
            <a:r>
              <a:rPr lang="en-US" altLang="ja-JP" sz="1700" dirty="0">
                <a:ea typeface="ＭＳ Ｐゴシック" panose="020B0600070205080204" pitchFamily="34" charset="-128"/>
              </a:rPr>
              <a:t>)}; 	</a:t>
            </a:r>
          </a:p>
          <a:p>
            <a:pPr eaLnBrk="1" hangingPunct="1">
              <a:lnSpc>
                <a:spcPct val="80000"/>
              </a:lnSpc>
              <a:buFont typeface="Wingdings" panose="05000000000000000000" pitchFamily="2" charset="2"/>
              <a:buNone/>
            </a:pPr>
            <a:r>
              <a:rPr lang="en-US" altLang="ja-JP" sz="1700" b="1" dirty="0">
                <a:ea typeface="ＭＳ Ｐゴシック" panose="020B0600070205080204" pitchFamily="34" charset="-128"/>
              </a:rPr>
              <a:t>	for</a:t>
            </a:r>
            <a:r>
              <a:rPr lang="en-US" altLang="ja-JP" sz="1700" dirty="0">
                <a:ea typeface="ＭＳ Ｐゴシック" panose="020B0600070205080204" pitchFamily="34" charset="-128"/>
              </a:rPr>
              <a:t> (</a:t>
            </a:r>
            <a:r>
              <a:rPr lang="en-US" altLang="ja-JP" sz="1700" i="1" dirty="0">
                <a:ea typeface="ＭＳ Ｐゴシック" panose="020B0600070205080204" pitchFamily="34" charset="-128"/>
              </a:rPr>
              <a:t>k</a:t>
            </a:r>
            <a:r>
              <a:rPr lang="en-US" altLang="ja-JP" sz="1700" dirty="0">
                <a:ea typeface="ＭＳ Ｐゴシック" panose="020B0600070205080204" pitchFamily="34" charset="-128"/>
              </a:rPr>
              <a:t> = 2; </a:t>
            </a:r>
            <a:r>
              <a:rPr lang="en-US" altLang="ja-JP" sz="1700" i="1" dirty="0">
                <a:ea typeface="ＭＳ Ｐゴシック" panose="020B0600070205080204" pitchFamily="34" charset="-128"/>
              </a:rPr>
              <a:t>F</a:t>
            </a:r>
            <a:r>
              <a:rPr lang="en-US" altLang="ja-JP" sz="1700" i="1" baseline="-25000" dirty="0">
                <a:ea typeface="ＭＳ Ｐゴシック" panose="020B0600070205080204" pitchFamily="34" charset="-128"/>
              </a:rPr>
              <a:t>k</a:t>
            </a:r>
            <a:r>
              <a:rPr lang="en-US" altLang="ja-JP" sz="1700" baseline="-25000" dirty="0">
                <a:ea typeface="ＭＳ Ｐゴシック" panose="020B0600070205080204" pitchFamily="34" charset="-128"/>
              </a:rPr>
              <a:t>-1</a:t>
            </a:r>
            <a:r>
              <a:rPr lang="en-US" altLang="ja-JP" sz="1700" dirty="0">
                <a:ea typeface="ＭＳ Ｐゴシック" panose="020B0600070205080204" pitchFamily="34" charset="-128"/>
              </a:rPr>
              <a:t> </a:t>
            </a:r>
            <a:r>
              <a:rPr lang="en-US" altLang="ja-JP" sz="1700" dirty="0">
                <a:ea typeface="ＭＳ Ｐゴシック" panose="020B0600070205080204" pitchFamily="34" charset="-128"/>
                <a:sym typeface="Symbol" panose="05050102010706020507" pitchFamily="18" charset="2"/>
              </a:rPr>
              <a:t></a:t>
            </a:r>
            <a:r>
              <a:rPr lang="en-US" altLang="ja-JP" sz="1700" dirty="0">
                <a:ea typeface="ＭＳ Ｐゴシック" panose="020B0600070205080204" pitchFamily="34" charset="-128"/>
              </a:rPr>
              <a:t> </a:t>
            </a:r>
            <a:r>
              <a:rPr lang="en-US" altLang="ja-JP" sz="1700" dirty="0">
                <a:ea typeface="ＭＳ Ｐゴシック" panose="020B0600070205080204" pitchFamily="34" charset="-128"/>
                <a:sym typeface="Symbol" panose="05050102010706020507" pitchFamily="18" charset="2"/>
              </a:rPr>
              <a:t></a:t>
            </a:r>
            <a:r>
              <a:rPr lang="en-US" altLang="ja-JP" sz="1700" dirty="0">
                <a:ea typeface="ＭＳ Ｐゴシック" panose="020B0600070205080204" pitchFamily="34" charset="-128"/>
              </a:rPr>
              <a:t>; </a:t>
            </a:r>
            <a:r>
              <a:rPr lang="en-US" altLang="ja-JP" sz="1700" i="1" dirty="0">
                <a:ea typeface="ＭＳ Ｐゴシック" panose="020B0600070205080204" pitchFamily="34" charset="-128"/>
              </a:rPr>
              <a:t>k</a:t>
            </a:r>
            <a:r>
              <a:rPr lang="en-US" altLang="ja-JP" sz="1700" dirty="0">
                <a:ea typeface="ＭＳ Ｐゴシック" panose="020B0600070205080204" pitchFamily="34" charset="-128"/>
              </a:rPr>
              <a:t>++) </a:t>
            </a:r>
            <a:r>
              <a:rPr lang="en-US" altLang="ja-JP" sz="1700" b="1" dirty="0">
                <a:ea typeface="ＭＳ Ｐゴシック" panose="020B0600070205080204" pitchFamily="34" charset="-128"/>
              </a:rPr>
              <a:t>do	</a:t>
            </a:r>
            <a:r>
              <a:rPr lang="en-US" altLang="ja-JP" sz="1700" dirty="0">
                <a:ea typeface="ＭＳ Ｐゴシック" panose="020B0600070205080204" pitchFamily="34" charset="-128"/>
              </a:rPr>
              <a:t>	</a:t>
            </a:r>
          </a:p>
          <a:p>
            <a:pPr eaLnBrk="1" hangingPunct="1">
              <a:lnSpc>
                <a:spcPct val="80000"/>
              </a:lnSpc>
              <a:buFont typeface="Wingdings" panose="05000000000000000000" pitchFamily="2" charset="2"/>
              <a:buNone/>
            </a:pPr>
            <a:r>
              <a:rPr lang="en-US" altLang="ja-JP" sz="1700" i="1" dirty="0">
                <a:ea typeface="ＭＳ Ｐゴシック" panose="020B0600070205080204" pitchFamily="34" charset="-128"/>
              </a:rPr>
              <a:t>		</a:t>
            </a:r>
            <a:r>
              <a:rPr lang="en-US" altLang="ja-JP" sz="1700" b="1" dirty="0">
                <a:ea typeface="ＭＳ Ｐゴシック" panose="020B0600070205080204" pitchFamily="34" charset="-128"/>
              </a:rPr>
              <a:t>if</a:t>
            </a:r>
            <a:r>
              <a:rPr lang="en-US" altLang="ja-JP" sz="1700" dirty="0">
                <a:ea typeface="ＭＳ Ｐゴシック" panose="020B0600070205080204" pitchFamily="34" charset="-128"/>
              </a:rPr>
              <a:t> </a:t>
            </a:r>
            <a:r>
              <a:rPr lang="en-US" altLang="ja-JP" sz="1700" i="1" dirty="0">
                <a:ea typeface="ＭＳ Ｐゴシック" panose="020B0600070205080204" pitchFamily="34" charset="-128"/>
              </a:rPr>
              <a:t>k</a:t>
            </a:r>
            <a:r>
              <a:rPr lang="en-US" altLang="ja-JP" sz="1700" dirty="0">
                <a:ea typeface="ＭＳ Ｐゴシック" panose="020B0600070205080204" pitchFamily="34" charset="-128"/>
              </a:rPr>
              <a:t>=2 </a:t>
            </a:r>
            <a:r>
              <a:rPr lang="en-US" altLang="ja-JP" sz="1700" b="1" dirty="0">
                <a:ea typeface="ＭＳ Ｐゴシック" panose="020B0600070205080204" pitchFamily="34" charset="-128"/>
              </a:rPr>
              <a:t>then</a:t>
            </a:r>
            <a:r>
              <a:rPr lang="en-US" altLang="ja-JP" sz="1700" dirty="0">
                <a:ea typeface="ＭＳ Ｐゴシック" panose="020B0600070205080204" pitchFamily="34" charset="-128"/>
              </a:rPr>
              <a:t> </a:t>
            </a:r>
          </a:p>
          <a:p>
            <a:pPr eaLnBrk="1" hangingPunct="1">
              <a:lnSpc>
                <a:spcPct val="80000"/>
              </a:lnSpc>
              <a:buFont typeface="Wingdings" panose="05000000000000000000" pitchFamily="2" charset="2"/>
              <a:buNone/>
            </a:pPr>
            <a:r>
              <a:rPr lang="en-US" altLang="ja-JP" sz="1700" i="1" dirty="0">
                <a:ea typeface="ＭＳ Ｐゴシック" panose="020B0600070205080204" pitchFamily="34" charset="-128"/>
              </a:rPr>
              <a:t>		   </a:t>
            </a:r>
            <a:r>
              <a:rPr lang="en-US" altLang="ja-JP" sz="1700" i="1" dirty="0" err="1">
                <a:ea typeface="ＭＳ Ｐゴシック" panose="020B0600070205080204" pitchFamily="34" charset="-128"/>
              </a:rPr>
              <a:t>C</a:t>
            </a:r>
            <a:r>
              <a:rPr lang="en-US" altLang="ja-JP" sz="1700" i="1" baseline="-25000" dirty="0" err="1">
                <a:ea typeface="ＭＳ Ｐゴシック" panose="020B0600070205080204" pitchFamily="34" charset="-128"/>
              </a:rPr>
              <a:t>k</a:t>
            </a:r>
            <a:r>
              <a:rPr lang="en-US" altLang="ja-JP" sz="1700" dirty="0">
                <a:ea typeface="ＭＳ Ｐゴシック" panose="020B0600070205080204" pitchFamily="34" charset="-128"/>
              </a:rPr>
              <a:t> </a:t>
            </a:r>
            <a:r>
              <a:rPr lang="en-US" altLang="ja-JP" sz="1700" dirty="0">
                <a:ea typeface="ＭＳ Ｐゴシック" panose="020B0600070205080204" pitchFamily="34" charset="-128"/>
                <a:sym typeface="Symbol" panose="05050102010706020507" pitchFamily="18" charset="2"/>
              </a:rPr>
              <a:t></a:t>
            </a:r>
            <a:r>
              <a:rPr lang="en-US" altLang="ja-JP" sz="1700" dirty="0">
                <a:ea typeface="ＭＳ Ｐゴシック" panose="020B0600070205080204" pitchFamily="34" charset="-128"/>
              </a:rPr>
              <a:t> level2-candidate-gen(</a:t>
            </a:r>
            <a:r>
              <a:rPr lang="en-US" altLang="ja-JP" sz="1700" i="1" dirty="0">
                <a:ea typeface="ＭＳ Ｐゴシック" panose="020B0600070205080204" pitchFamily="34" charset="-128"/>
              </a:rPr>
              <a:t>L, </a:t>
            </a:r>
            <a:r>
              <a:rPr lang="en-US" altLang="ja-JP" sz="1700" i="1" dirty="0">
                <a:ea typeface="ＭＳ Ｐゴシック" panose="020B0600070205080204" pitchFamily="34" charset="-128"/>
                <a:sym typeface="Symbol" panose="05050102010706020507" pitchFamily="18" charset="2"/>
              </a:rPr>
              <a:t></a:t>
            </a:r>
            <a:r>
              <a:rPr lang="en-US" altLang="ja-JP" sz="1700" dirty="0">
                <a:ea typeface="ＭＳ Ｐゴシック" panose="020B0600070205080204" pitchFamily="34" charset="-128"/>
              </a:rPr>
              <a:t>) </a:t>
            </a:r>
          </a:p>
          <a:p>
            <a:pPr eaLnBrk="1" hangingPunct="1">
              <a:lnSpc>
                <a:spcPct val="80000"/>
              </a:lnSpc>
              <a:buFont typeface="Wingdings" panose="05000000000000000000" pitchFamily="2" charset="2"/>
              <a:buNone/>
            </a:pPr>
            <a:r>
              <a:rPr lang="en-US" altLang="ja-JP" sz="1700" i="1" dirty="0">
                <a:ea typeface="ＭＳ Ｐゴシック" panose="020B0600070205080204" pitchFamily="34" charset="-128"/>
              </a:rPr>
              <a:t>		</a:t>
            </a:r>
            <a:r>
              <a:rPr lang="en-US" altLang="ja-JP" sz="1700" b="1" dirty="0">
                <a:ea typeface="ＭＳ Ｐゴシック" panose="020B0600070205080204" pitchFamily="34" charset="-128"/>
              </a:rPr>
              <a:t>else </a:t>
            </a:r>
            <a:r>
              <a:rPr lang="en-US" altLang="ja-JP" sz="1700" i="1" dirty="0" err="1">
                <a:ea typeface="ＭＳ Ｐゴシック" panose="020B0600070205080204" pitchFamily="34" charset="-128"/>
              </a:rPr>
              <a:t>C</a:t>
            </a:r>
            <a:r>
              <a:rPr lang="en-US" altLang="ja-JP" sz="1700" i="1" baseline="-25000" dirty="0" err="1">
                <a:ea typeface="ＭＳ Ｐゴシック" panose="020B0600070205080204" pitchFamily="34" charset="-128"/>
              </a:rPr>
              <a:t>k</a:t>
            </a:r>
            <a:r>
              <a:rPr lang="en-US" altLang="ja-JP" sz="1700" dirty="0">
                <a:ea typeface="ＭＳ Ｐゴシック" panose="020B0600070205080204" pitchFamily="34" charset="-128"/>
              </a:rPr>
              <a:t> </a:t>
            </a:r>
            <a:r>
              <a:rPr lang="en-US" altLang="ja-JP" sz="1700" dirty="0">
                <a:ea typeface="ＭＳ Ｐゴシック" panose="020B0600070205080204" pitchFamily="34" charset="-128"/>
                <a:sym typeface="Symbol" panose="05050102010706020507" pitchFamily="18" charset="2"/>
              </a:rPr>
              <a:t></a:t>
            </a:r>
            <a:r>
              <a:rPr lang="en-US" altLang="ja-JP" sz="1700" dirty="0">
                <a:ea typeface="ＭＳ Ｐゴシック" panose="020B0600070205080204" pitchFamily="34" charset="-128"/>
              </a:rPr>
              <a:t> </a:t>
            </a:r>
            <a:r>
              <a:rPr lang="en-US" altLang="ja-JP" sz="1700" dirty="0" err="1">
                <a:ea typeface="ＭＳ Ｐゴシック" panose="020B0600070205080204" pitchFamily="34" charset="-128"/>
              </a:rPr>
              <a:t>MScandidate</a:t>
            </a:r>
            <a:r>
              <a:rPr lang="en-US" altLang="ja-JP" sz="1700" dirty="0">
                <a:ea typeface="ＭＳ Ｐゴシック" panose="020B0600070205080204" pitchFamily="34" charset="-128"/>
              </a:rPr>
              <a:t>-gen(</a:t>
            </a:r>
            <a:r>
              <a:rPr lang="en-US" altLang="ja-JP" sz="1700" i="1" dirty="0">
                <a:ea typeface="ＭＳ Ｐゴシック" panose="020B0600070205080204" pitchFamily="34" charset="-128"/>
              </a:rPr>
              <a:t>F</a:t>
            </a:r>
            <a:r>
              <a:rPr lang="en-US" altLang="ja-JP" sz="1700" i="1" baseline="-25000" dirty="0">
                <a:ea typeface="ＭＳ Ｐゴシック" panose="020B0600070205080204" pitchFamily="34" charset="-128"/>
              </a:rPr>
              <a:t>k</a:t>
            </a:r>
            <a:r>
              <a:rPr lang="en-US" altLang="ja-JP" sz="1700" baseline="-25000" dirty="0">
                <a:ea typeface="ＭＳ Ｐゴシック" panose="020B0600070205080204" pitchFamily="34" charset="-128"/>
              </a:rPr>
              <a:t>-1, </a:t>
            </a:r>
            <a:r>
              <a:rPr lang="en-US" altLang="ja-JP" sz="1700" i="1" dirty="0">
                <a:ea typeface="ＭＳ Ｐゴシック" panose="020B0600070205080204" pitchFamily="34" charset="-128"/>
                <a:sym typeface="Symbol" panose="05050102010706020507" pitchFamily="18" charset="2"/>
              </a:rPr>
              <a:t></a:t>
            </a:r>
            <a:r>
              <a:rPr lang="en-US" altLang="ja-JP" sz="1700" dirty="0">
                <a:ea typeface="ＭＳ Ｐゴシック" panose="020B0600070205080204" pitchFamily="34" charset="-128"/>
              </a:rPr>
              <a:t>);</a:t>
            </a:r>
          </a:p>
          <a:p>
            <a:pPr eaLnBrk="1" hangingPunct="1">
              <a:lnSpc>
                <a:spcPct val="80000"/>
              </a:lnSpc>
              <a:buFont typeface="Wingdings" panose="05000000000000000000" pitchFamily="2" charset="2"/>
              <a:buNone/>
            </a:pPr>
            <a:r>
              <a:rPr lang="en-US" altLang="ja-JP" sz="1700" dirty="0">
                <a:ea typeface="ＭＳ Ｐゴシック" panose="020B0600070205080204" pitchFamily="34" charset="-128"/>
              </a:rPr>
              <a:t>		</a:t>
            </a:r>
            <a:r>
              <a:rPr lang="en-US" altLang="ja-JP" sz="1700" b="1" dirty="0">
                <a:ea typeface="ＭＳ Ｐゴシック" panose="020B0600070205080204" pitchFamily="34" charset="-128"/>
              </a:rPr>
              <a:t>end;</a:t>
            </a:r>
          </a:p>
          <a:p>
            <a:pPr eaLnBrk="1" hangingPunct="1">
              <a:lnSpc>
                <a:spcPct val="80000"/>
              </a:lnSpc>
              <a:buFont typeface="Wingdings" panose="05000000000000000000" pitchFamily="2" charset="2"/>
              <a:buNone/>
            </a:pPr>
            <a:r>
              <a:rPr lang="en-US" altLang="ja-JP" sz="1700" b="1" dirty="0">
                <a:ea typeface="ＭＳ Ｐゴシック" panose="020B0600070205080204" pitchFamily="34" charset="-128"/>
              </a:rPr>
              <a:t>		for</a:t>
            </a:r>
            <a:r>
              <a:rPr lang="en-US" altLang="ja-JP" sz="1700" dirty="0">
                <a:ea typeface="ＭＳ Ｐゴシック" panose="020B0600070205080204" pitchFamily="34" charset="-128"/>
              </a:rPr>
              <a:t> each transaction </a:t>
            </a:r>
            <a:r>
              <a:rPr lang="en-US" altLang="ja-JP" sz="1700" i="1" dirty="0">
                <a:ea typeface="ＭＳ Ｐゴシック" panose="020B0600070205080204" pitchFamily="34" charset="-128"/>
              </a:rPr>
              <a:t>t</a:t>
            </a:r>
            <a:r>
              <a:rPr lang="en-US" altLang="ja-JP" sz="1700" dirty="0">
                <a:ea typeface="ＭＳ Ｐゴシック" panose="020B0600070205080204" pitchFamily="34" charset="-128"/>
              </a:rPr>
              <a:t> </a:t>
            </a:r>
            <a:r>
              <a:rPr lang="en-US" altLang="ja-JP" sz="1700" dirty="0">
                <a:ea typeface="ＭＳ Ｐゴシック" panose="020B0600070205080204" pitchFamily="34" charset="-128"/>
                <a:sym typeface="Symbol" panose="05050102010706020507" pitchFamily="18" charset="2"/>
              </a:rPr>
              <a:t></a:t>
            </a:r>
            <a:r>
              <a:rPr lang="en-US" altLang="ja-JP" sz="1700" dirty="0">
                <a:ea typeface="ＭＳ Ｐゴシック" panose="020B0600070205080204" pitchFamily="34" charset="-128"/>
              </a:rPr>
              <a:t> </a:t>
            </a:r>
            <a:r>
              <a:rPr lang="en-US" altLang="ja-JP" sz="1700" i="1" dirty="0">
                <a:ea typeface="ＭＳ Ｐゴシック" panose="020B0600070205080204" pitchFamily="34" charset="-128"/>
              </a:rPr>
              <a:t>T</a:t>
            </a:r>
            <a:r>
              <a:rPr lang="en-US" altLang="ja-JP" sz="1700" dirty="0">
                <a:ea typeface="ＭＳ Ｐゴシック" panose="020B0600070205080204" pitchFamily="34" charset="-128"/>
              </a:rPr>
              <a:t> </a:t>
            </a:r>
            <a:r>
              <a:rPr lang="en-US" altLang="ja-JP" sz="1700" b="1" dirty="0">
                <a:ea typeface="ＭＳ Ｐゴシック" panose="020B0600070205080204" pitchFamily="34" charset="-128"/>
              </a:rPr>
              <a:t>do	</a:t>
            </a:r>
          </a:p>
          <a:p>
            <a:pPr eaLnBrk="1" hangingPunct="1">
              <a:lnSpc>
                <a:spcPct val="80000"/>
              </a:lnSpc>
              <a:buFont typeface="Wingdings" panose="05000000000000000000" pitchFamily="2" charset="2"/>
              <a:buNone/>
            </a:pPr>
            <a:r>
              <a:rPr lang="en-US" altLang="ja-JP" sz="1700" b="1" dirty="0">
                <a:ea typeface="ＭＳ Ｐゴシック" panose="020B0600070205080204" pitchFamily="34" charset="-128"/>
              </a:rPr>
              <a:t>		    for</a:t>
            </a:r>
            <a:r>
              <a:rPr lang="en-US" altLang="ja-JP" sz="1700" dirty="0">
                <a:ea typeface="ＭＳ Ｐゴシック" panose="020B0600070205080204" pitchFamily="34" charset="-128"/>
              </a:rPr>
              <a:t> each candidate </a:t>
            </a:r>
            <a:r>
              <a:rPr lang="en-US" altLang="ja-JP" sz="1700" i="1" dirty="0">
                <a:ea typeface="ＭＳ Ｐゴシック" panose="020B0600070205080204" pitchFamily="34" charset="-128"/>
              </a:rPr>
              <a:t>c</a:t>
            </a:r>
            <a:r>
              <a:rPr lang="en-US" altLang="ja-JP" sz="1700" dirty="0">
                <a:ea typeface="ＭＳ Ｐゴシック" panose="020B0600070205080204" pitchFamily="34" charset="-128"/>
              </a:rPr>
              <a:t> </a:t>
            </a:r>
            <a:r>
              <a:rPr lang="en-US" altLang="ja-JP" sz="1700" dirty="0">
                <a:ea typeface="ＭＳ Ｐゴシック" panose="020B0600070205080204" pitchFamily="34" charset="-128"/>
                <a:sym typeface="Symbol" panose="05050102010706020507" pitchFamily="18" charset="2"/>
              </a:rPr>
              <a:t></a:t>
            </a:r>
            <a:r>
              <a:rPr lang="en-US" altLang="ja-JP" sz="1700" dirty="0">
                <a:ea typeface="ＭＳ Ｐゴシック" panose="020B0600070205080204" pitchFamily="34" charset="-128"/>
              </a:rPr>
              <a:t> </a:t>
            </a:r>
            <a:r>
              <a:rPr lang="en-US" altLang="ja-JP" sz="1700" i="1" dirty="0" err="1">
                <a:ea typeface="ＭＳ Ｐゴシック" panose="020B0600070205080204" pitchFamily="34" charset="-128"/>
              </a:rPr>
              <a:t>C</a:t>
            </a:r>
            <a:r>
              <a:rPr lang="en-US" altLang="ja-JP" sz="1700" i="1" baseline="-25000" dirty="0" err="1">
                <a:ea typeface="ＭＳ Ｐゴシック" panose="020B0600070205080204" pitchFamily="34" charset="-128"/>
              </a:rPr>
              <a:t>k</a:t>
            </a:r>
            <a:r>
              <a:rPr lang="en-US" altLang="ja-JP" sz="1700" dirty="0">
                <a:ea typeface="ＭＳ Ｐゴシック" panose="020B0600070205080204" pitchFamily="34" charset="-128"/>
              </a:rPr>
              <a:t> </a:t>
            </a:r>
            <a:r>
              <a:rPr lang="en-US" altLang="ja-JP" sz="1700" b="1" dirty="0">
                <a:ea typeface="ＭＳ Ｐゴシック" panose="020B0600070205080204" pitchFamily="34" charset="-128"/>
              </a:rPr>
              <a:t>do</a:t>
            </a:r>
            <a:r>
              <a:rPr lang="en-US" altLang="ja-JP" sz="1700" dirty="0">
                <a:ea typeface="ＭＳ Ｐゴシック" panose="020B0600070205080204" pitchFamily="34" charset="-128"/>
              </a:rPr>
              <a:t>  	</a:t>
            </a:r>
          </a:p>
          <a:p>
            <a:pPr eaLnBrk="1" hangingPunct="1">
              <a:lnSpc>
                <a:spcPct val="80000"/>
              </a:lnSpc>
              <a:buFont typeface="Wingdings" panose="05000000000000000000" pitchFamily="2" charset="2"/>
              <a:buNone/>
            </a:pPr>
            <a:r>
              <a:rPr lang="en-US" altLang="ja-JP" sz="1700" b="1" dirty="0">
                <a:ea typeface="ＭＳ Ｐゴシック" panose="020B0600070205080204" pitchFamily="34" charset="-128"/>
              </a:rPr>
              <a:t>		         if</a:t>
            </a:r>
            <a:r>
              <a:rPr lang="en-US" altLang="ja-JP" sz="1700" dirty="0">
                <a:ea typeface="ＭＳ Ｐゴシック" panose="020B0600070205080204" pitchFamily="34" charset="-128"/>
              </a:rPr>
              <a:t> </a:t>
            </a:r>
            <a:r>
              <a:rPr lang="en-US" altLang="ja-JP" sz="1700" i="1" dirty="0">
                <a:ea typeface="ＭＳ Ｐゴシック" panose="020B0600070205080204" pitchFamily="34" charset="-128"/>
              </a:rPr>
              <a:t>c</a:t>
            </a:r>
            <a:r>
              <a:rPr lang="en-US" altLang="ja-JP" sz="1700" dirty="0">
                <a:ea typeface="ＭＳ Ｐゴシック" panose="020B0600070205080204" pitchFamily="34" charset="-128"/>
              </a:rPr>
              <a:t> is contained in </a:t>
            </a:r>
            <a:r>
              <a:rPr lang="en-US" altLang="ja-JP" sz="1700" i="1" dirty="0">
                <a:ea typeface="ＭＳ Ｐゴシック" panose="020B0600070205080204" pitchFamily="34" charset="-128"/>
              </a:rPr>
              <a:t>t</a:t>
            </a:r>
            <a:r>
              <a:rPr lang="en-US" altLang="ja-JP" sz="1700" dirty="0">
                <a:ea typeface="ＭＳ Ｐゴシック" panose="020B0600070205080204" pitchFamily="34" charset="-128"/>
              </a:rPr>
              <a:t> </a:t>
            </a:r>
            <a:r>
              <a:rPr lang="en-US" altLang="ja-JP" sz="1700" b="1" dirty="0">
                <a:ea typeface="ＭＳ Ｐゴシック" panose="020B0600070205080204" pitchFamily="34" charset="-128"/>
              </a:rPr>
              <a:t>then</a:t>
            </a:r>
            <a:r>
              <a:rPr lang="en-US" altLang="ja-JP" sz="1700" dirty="0">
                <a:ea typeface="ＭＳ Ｐゴシック" panose="020B0600070205080204" pitchFamily="34" charset="-128"/>
              </a:rPr>
              <a:t>			</a:t>
            </a:r>
          </a:p>
          <a:p>
            <a:pPr eaLnBrk="1" hangingPunct="1">
              <a:lnSpc>
                <a:spcPct val="80000"/>
              </a:lnSpc>
              <a:buFont typeface="Wingdings" panose="05000000000000000000" pitchFamily="2" charset="2"/>
              <a:buNone/>
            </a:pPr>
            <a:r>
              <a:rPr lang="en-US" altLang="ja-JP" sz="1700" i="1" dirty="0">
                <a:ea typeface="ＭＳ Ｐゴシック" panose="020B0600070205080204" pitchFamily="34" charset="-128"/>
              </a:rPr>
              <a:t>			 </a:t>
            </a:r>
            <a:r>
              <a:rPr lang="en-US" altLang="ja-JP" sz="1700" i="1" dirty="0" err="1">
                <a:ea typeface="ＭＳ Ｐゴシック" panose="020B0600070205080204" pitchFamily="34" charset="-128"/>
              </a:rPr>
              <a:t>c</a:t>
            </a:r>
            <a:r>
              <a:rPr lang="en-US" altLang="ja-JP" sz="1700" dirty="0" err="1">
                <a:ea typeface="ＭＳ Ｐゴシック" panose="020B0600070205080204" pitchFamily="34" charset="-128"/>
              </a:rPr>
              <a:t>.</a:t>
            </a:r>
            <a:r>
              <a:rPr lang="en-US" altLang="ja-JP" sz="1700" i="1" dirty="0" err="1">
                <a:ea typeface="ＭＳ Ｐゴシック" panose="020B0600070205080204" pitchFamily="34" charset="-128"/>
              </a:rPr>
              <a:t>count</a:t>
            </a:r>
            <a:r>
              <a:rPr lang="en-US" altLang="ja-JP" sz="1700" dirty="0">
                <a:ea typeface="ＭＳ Ｐゴシック" panose="020B0600070205080204" pitchFamily="34" charset="-128"/>
              </a:rPr>
              <a:t>++; </a:t>
            </a:r>
          </a:p>
          <a:p>
            <a:pPr eaLnBrk="1" hangingPunct="1">
              <a:lnSpc>
                <a:spcPct val="80000"/>
              </a:lnSpc>
              <a:buFont typeface="Wingdings" panose="05000000000000000000" pitchFamily="2" charset="2"/>
              <a:buNone/>
            </a:pPr>
            <a:r>
              <a:rPr lang="en-US" altLang="ja-JP" sz="1700" b="1" dirty="0">
                <a:ea typeface="ＭＳ Ｐゴシック" panose="020B0600070205080204" pitchFamily="34" charset="-128"/>
              </a:rPr>
              <a:t>		         if</a:t>
            </a:r>
            <a:r>
              <a:rPr lang="en-US" altLang="ja-JP" sz="1700" dirty="0">
                <a:ea typeface="ＭＳ Ｐゴシック" panose="020B0600070205080204" pitchFamily="34" charset="-128"/>
              </a:rPr>
              <a:t> </a:t>
            </a:r>
            <a:r>
              <a:rPr lang="en-US" altLang="ja-JP" sz="1700" i="1" dirty="0">
                <a:ea typeface="ＭＳ Ｐゴシック" panose="020B0600070205080204" pitchFamily="34" charset="-128"/>
              </a:rPr>
              <a:t>c – </a:t>
            </a:r>
            <a:r>
              <a:rPr lang="en-US" altLang="ja-JP" sz="1700" dirty="0">
                <a:ea typeface="ＭＳ Ｐゴシック" panose="020B0600070205080204" pitchFamily="34" charset="-128"/>
              </a:rPr>
              <a:t>{</a:t>
            </a:r>
            <a:r>
              <a:rPr lang="en-US" altLang="ja-JP" sz="1700" i="1" dirty="0">
                <a:ea typeface="ＭＳ Ｐゴシック" panose="020B0600070205080204" pitchFamily="34" charset="-128"/>
              </a:rPr>
              <a:t>c</a:t>
            </a:r>
            <a:r>
              <a:rPr lang="en-US" altLang="ja-JP" sz="1700" dirty="0">
                <a:ea typeface="ＭＳ Ｐゴシック" panose="020B0600070205080204" pitchFamily="34" charset="-128"/>
              </a:rPr>
              <a:t>[1]} is contained in </a:t>
            </a:r>
            <a:r>
              <a:rPr lang="en-US" altLang="ja-JP" sz="1700" i="1" dirty="0">
                <a:ea typeface="ＭＳ Ｐゴシック" panose="020B0600070205080204" pitchFamily="34" charset="-128"/>
              </a:rPr>
              <a:t>t</a:t>
            </a:r>
            <a:r>
              <a:rPr lang="en-US" altLang="ja-JP" sz="1700" dirty="0">
                <a:ea typeface="ＭＳ Ｐゴシック" panose="020B0600070205080204" pitchFamily="34" charset="-128"/>
              </a:rPr>
              <a:t> </a:t>
            </a:r>
            <a:r>
              <a:rPr lang="en-US" altLang="ja-JP" sz="1700" b="1" dirty="0">
                <a:ea typeface="ＭＳ Ｐゴシック" panose="020B0600070205080204" pitchFamily="34" charset="-128"/>
              </a:rPr>
              <a:t>then</a:t>
            </a:r>
            <a:r>
              <a:rPr lang="en-US" altLang="ja-JP" sz="1700" dirty="0">
                <a:ea typeface="ＭＳ Ｐゴシック" panose="020B0600070205080204" pitchFamily="34" charset="-128"/>
              </a:rPr>
              <a:t>			</a:t>
            </a:r>
          </a:p>
          <a:p>
            <a:pPr eaLnBrk="1" hangingPunct="1">
              <a:lnSpc>
                <a:spcPct val="80000"/>
              </a:lnSpc>
              <a:buFont typeface="Wingdings" panose="05000000000000000000" pitchFamily="2" charset="2"/>
              <a:buNone/>
            </a:pPr>
            <a:r>
              <a:rPr lang="en-US" altLang="ja-JP" sz="1700" i="1" dirty="0">
                <a:ea typeface="ＭＳ Ｐゴシック" panose="020B0600070205080204" pitchFamily="34" charset="-128"/>
              </a:rPr>
              <a:t>			</a:t>
            </a:r>
            <a:r>
              <a:rPr lang="en-US" altLang="ja-JP" sz="1700" i="1" dirty="0" err="1">
                <a:ea typeface="ＭＳ Ｐゴシック" panose="020B0600070205080204" pitchFamily="34" charset="-128"/>
              </a:rPr>
              <a:t>c</a:t>
            </a:r>
            <a:r>
              <a:rPr lang="en-US" altLang="ja-JP" sz="1700" dirty="0" err="1">
                <a:ea typeface="ＭＳ Ｐゴシック" panose="020B0600070205080204" pitchFamily="34" charset="-128"/>
              </a:rPr>
              <a:t>.</a:t>
            </a:r>
            <a:r>
              <a:rPr lang="en-US" altLang="ja-JP" sz="1700" i="1" dirty="0" err="1">
                <a:ea typeface="ＭＳ Ｐゴシック" panose="020B0600070205080204" pitchFamily="34" charset="-128"/>
              </a:rPr>
              <a:t>tailCount</a:t>
            </a:r>
            <a:r>
              <a:rPr lang="en-US" altLang="ja-JP" sz="1700" dirty="0">
                <a:ea typeface="ＭＳ Ｐゴシック" panose="020B0600070205080204" pitchFamily="34" charset="-128"/>
              </a:rPr>
              <a:t>++	</a:t>
            </a:r>
          </a:p>
          <a:p>
            <a:pPr eaLnBrk="1" hangingPunct="1">
              <a:lnSpc>
                <a:spcPct val="80000"/>
              </a:lnSpc>
              <a:buFont typeface="Wingdings" panose="05000000000000000000" pitchFamily="2" charset="2"/>
              <a:buNone/>
            </a:pPr>
            <a:r>
              <a:rPr lang="en-US" altLang="ja-JP" sz="1700" b="1" dirty="0">
                <a:ea typeface="ＭＳ Ｐゴシック" panose="020B0600070205080204" pitchFamily="34" charset="-128"/>
              </a:rPr>
              <a:t>		    end</a:t>
            </a:r>
            <a:r>
              <a:rPr lang="en-US" altLang="ja-JP" sz="1700" dirty="0">
                <a:ea typeface="ＭＳ Ｐゴシック" panose="020B0600070205080204" pitchFamily="34" charset="-128"/>
              </a:rPr>
              <a:t>	</a:t>
            </a:r>
          </a:p>
          <a:p>
            <a:pPr eaLnBrk="1" hangingPunct="1">
              <a:lnSpc>
                <a:spcPct val="80000"/>
              </a:lnSpc>
              <a:buFont typeface="Wingdings" panose="05000000000000000000" pitchFamily="2" charset="2"/>
              <a:buNone/>
            </a:pPr>
            <a:r>
              <a:rPr lang="en-US" altLang="ja-JP" sz="1700" b="1" dirty="0">
                <a:ea typeface="ＭＳ Ｐゴシック" panose="020B0600070205080204" pitchFamily="34" charset="-128"/>
              </a:rPr>
              <a:t>		end</a:t>
            </a:r>
            <a:r>
              <a:rPr lang="en-US" altLang="ja-JP" sz="1700" dirty="0">
                <a:ea typeface="ＭＳ Ｐゴシック" panose="020B0600070205080204" pitchFamily="34" charset="-128"/>
              </a:rPr>
              <a:t>	</a:t>
            </a:r>
          </a:p>
          <a:p>
            <a:pPr eaLnBrk="1" hangingPunct="1">
              <a:lnSpc>
                <a:spcPct val="80000"/>
              </a:lnSpc>
              <a:buFont typeface="Wingdings" panose="05000000000000000000" pitchFamily="2" charset="2"/>
              <a:buNone/>
            </a:pPr>
            <a:r>
              <a:rPr lang="en-US" altLang="ja-JP" sz="1700" i="1" dirty="0">
                <a:ea typeface="ＭＳ Ｐゴシック" panose="020B0600070205080204" pitchFamily="34" charset="-128"/>
              </a:rPr>
              <a:t>	       </a:t>
            </a:r>
            <a:r>
              <a:rPr lang="en-US" altLang="ja-JP" sz="1700" i="1" dirty="0" err="1">
                <a:ea typeface="ＭＳ Ｐゴシック" panose="020B0600070205080204" pitchFamily="34" charset="-128"/>
              </a:rPr>
              <a:t>F</a:t>
            </a:r>
            <a:r>
              <a:rPr lang="en-US" altLang="ja-JP" sz="1700" i="1" baseline="-25000" dirty="0" err="1">
                <a:ea typeface="ＭＳ Ｐゴシック" panose="020B0600070205080204" pitchFamily="34" charset="-128"/>
              </a:rPr>
              <a:t>k</a:t>
            </a:r>
            <a:r>
              <a:rPr lang="en-US" altLang="ja-JP" sz="1700" dirty="0">
                <a:ea typeface="ＭＳ Ｐゴシック" panose="020B0600070205080204" pitchFamily="34" charset="-128"/>
              </a:rPr>
              <a:t> </a:t>
            </a:r>
            <a:r>
              <a:rPr lang="en-US" altLang="ja-JP" sz="1700" dirty="0">
                <a:ea typeface="ＭＳ Ｐゴシック" panose="020B0600070205080204" pitchFamily="34" charset="-128"/>
                <a:sym typeface="Symbol" panose="05050102010706020507" pitchFamily="18" charset="2"/>
              </a:rPr>
              <a:t></a:t>
            </a:r>
            <a:r>
              <a:rPr lang="en-US" altLang="ja-JP" sz="1700" dirty="0">
                <a:ea typeface="ＭＳ Ｐゴシック" panose="020B0600070205080204" pitchFamily="34" charset="-128"/>
              </a:rPr>
              <a:t> {</a:t>
            </a:r>
            <a:r>
              <a:rPr lang="en-US" altLang="ja-JP" sz="1700" i="1" dirty="0">
                <a:ea typeface="ＭＳ Ｐゴシック" panose="020B0600070205080204" pitchFamily="34" charset="-128"/>
              </a:rPr>
              <a:t>c</a:t>
            </a:r>
            <a:r>
              <a:rPr lang="en-US" altLang="ja-JP" sz="1700" dirty="0">
                <a:ea typeface="ＭＳ Ｐゴシック" panose="020B0600070205080204" pitchFamily="34" charset="-128"/>
              </a:rPr>
              <a:t> </a:t>
            </a:r>
            <a:r>
              <a:rPr lang="en-US" altLang="ja-JP" sz="1700" dirty="0">
                <a:ea typeface="ＭＳ Ｐゴシック" panose="020B0600070205080204" pitchFamily="34" charset="-128"/>
                <a:sym typeface="Symbol" panose="05050102010706020507" pitchFamily="18" charset="2"/>
              </a:rPr>
              <a:t></a:t>
            </a:r>
            <a:r>
              <a:rPr lang="en-US" altLang="ja-JP" sz="1700" dirty="0">
                <a:ea typeface="ＭＳ Ｐゴシック" panose="020B0600070205080204" pitchFamily="34" charset="-128"/>
              </a:rPr>
              <a:t> </a:t>
            </a:r>
            <a:r>
              <a:rPr lang="en-US" altLang="ja-JP" sz="1700" i="1" dirty="0" err="1">
                <a:ea typeface="ＭＳ Ｐゴシック" panose="020B0600070205080204" pitchFamily="34" charset="-128"/>
              </a:rPr>
              <a:t>C</a:t>
            </a:r>
            <a:r>
              <a:rPr lang="en-US" altLang="ja-JP" sz="1700" i="1" baseline="-25000" dirty="0" err="1">
                <a:ea typeface="ＭＳ Ｐゴシック" panose="020B0600070205080204" pitchFamily="34" charset="-128"/>
              </a:rPr>
              <a:t>k</a:t>
            </a:r>
            <a:r>
              <a:rPr lang="en-US" altLang="ja-JP" sz="1700" dirty="0">
                <a:ea typeface="ＭＳ Ｐゴシック" panose="020B0600070205080204" pitchFamily="34" charset="-128"/>
              </a:rPr>
              <a:t> | </a:t>
            </a:r>
            <a:r>
              <a:rPr lang="en-US" altLang="ja-JP" sz="1700" i="1" dirty="0" err="1">
                <a:ea typeface="ＭＳ Ｐゴシック" panose="020B0600070205080204" pitchFamily="34" charset="-128"/>
              </a:rPr>
              <a:t>c</a:t>
            </a:r>
            <a:r>
              <a:rPr lang="en-US" altLang="ja-JP" sz="1700" dirty="0" err="1">
                <a:ea typeface="ＭＳ Ｐゴシック" panose="020B0600070205080204" pitchFamily="34" charset="-128"/>
              </a:rPr>
              <a:t>.</a:t>
            </a:r>
            <a:r>
              <a:rPr lang="en-US" altLang="ja-JP" sz="1700" i="1" dirty="0" err="1">
                <a:ea typeface="ＭＳ Ｐゴシック" panose="020B0600070205080204" pitchFamily="34" charset="-128"/>
              </a:rPr>
              <a:t>count</a:t>
            </a:r>
            <a:r>
              <a:rPr lang="en-US" altLang="ja-JP" sz="1700" i="1" dirty="0">
                <a:ea typeface="ＭＳ Ｐゴシック" panose="020B0600070205080204" pitchFamily="34" charset="-128"/>
              </a:rPr>
              <a:t>/n</a:t>
            </a:r>
            <a:r>
              <a:rPr lang="en-US" altLang="ja-JP" sz="1700" dirty="0">
                <a:ea typeface="ＭＳ Ｐゴシック" panose="020B0600070205080204" pitchFamily="34" charset="-128"/>
              </a:rPr>
              <a:t> </a:t>
            </a:r>
            <a:r>
              <a:rPr lang="en-US" altLang="ja-JP" sz="1700" dirty="0">
                <a:ea typeface="ＭＳ Ｐゴシック" panose="020B0600070205080204" pitchFamily="34" charset="-128"/>
                <a:sym typeface="Symbol" panose="05050102010706020507" pitchFamily="18" charset="2"/>
              </a:rPr>
              <a:t></a:t>
            </a:r>
            <a:r>
              <a:rPr lang="en-US" altLang="ja-JP" sz="1700" dirty="0">
                <a:ea typeface="ＭＳ Ｐゴシック" panose="020B0600070205080204" pitchFamily="34" charset="-128"/>
              </a:rPr>
              <a:t> </a:t>
            </a:r>
            <a:r>
              <a:rPr lang="en-US" altLang="ja-JP" sz="1700" i="1" dirty="0">
                <a:ea typeface="ＭＳ Ｐゴシック" panose="020B0600070205080204" pitchFamily="34" charset="-128"/>
              </a:rPr>
              <a:t>MIS</a:t>
            </a:r>
            <a:r>
              <a:rPr lang="en-US" altLang="ja-JP" sz="1700" dirty="0">
                <a:ea typeface="ＭＳ Ｐゴシック" panose="020B0600070205080204" pitchFamily="34" charset="-128"/>
              </a:rPr>
              <a:t>(</a:t>
            </a:r>
            <a:r>
              <a:rPr lang="en-US" altLang="ja-JP" sz="1700" i="1" dirty="0">
                <a:ea typeface="ＭＳ Ｐゴシック" panose="020B0600070205080204" pitchFamily="34" charset="-128"/>
              </a:rPr>
              <a:t>c</a:t>
            </a:r>
            <a:r>
              <a:rPr lang="en-US" altLang="ja-JP" sz="1700" dirty="0">
                <a:ea typeface="ＭＳ Ｐゴシック" panose="020B0600070205080204" pitchFamily="34" charset="-128"/>
              </a:rPr>
              <a:t>[1])} 	</a:t>
            </a:r>
          </a:p>
          <a:p>
            <a:pPr eaLnBrk="1" hangingPunct="1">
              <a:lnSpc>
                <a:spcPct val="80000"/>
              </a:lnSpc>
              <a:buFont typeface="Wingdings" panose="05000000000000000000" pitchFamily="2" charset="2"/>
              <a:buNone/>
            </a:pPr>
            <a:r>
              <a:rPr lang="en-US" altLang="ja-JP" sz="1700" b="1" dirty="0">
                <a:ea typeface="ＭＳ Ｐゴシック" panose="020B0600070205080204" pitchFamily="34" charset="-128"/>
              </a:rPr>
              <a:t>	end</a:t>
            </a:r>
            <a:r>
              <a:rPr lang="en-US" altLang="ja-JP" sz="1700" dirty="0">
                <a:ea typeface="ＭＳ Ｐゴシック" panose="020B0600070205080204" pitchFamily="34" charset="-128"/>
              </a:rPr>
              <a:t>	</a:t>
            </a:r>
          </a:p>
          <a:p>
            <a:pPr eaLnBrk="1" hangingPunct="1">
              <a:lnSpc>
                <a:spcPct val="80000"/>
              </a:lnSpc>
              <a:buFont typeface="Wingdings" panose="05000000000000000000" pitchFamily="2" charset="2"/>
              <a:buNone/>
            </a:pPr>
            <a:r>
              <a:rPr lang="en-US" altLang="ja-JP" sz="1700" dirty="0">
                <a:ea typeface="ＭＳ Ｐゴシック" panose="020B0600070205080204" pitchFamily="34" charset="-128"/>
              </a:rPr>
              <a:t>	return </a:t>
            </a:r>
            <a:r>
              <a:rPr lang="en-US" altLang="ja-JP" sz="1700" i="1" dirty="0">
                <a:ea typeface="ＭＳ Ｐゴシック" panose="020B0600070205080204" pitchFamily="34" charset="-128"/>
              </a:rPr>
              <a:t>F</a:t>
            </a:r>
            <a:r>
              <a:rPr lang="en-US" altLang="ja-JP" sz="1700" dirty="0">
                <a:ea typeface="ＭＳ Ｐゴシック" panose="020B0600070205080204" pitchFamily="34" charset="-128"/>
              </a:rPr>
              <a:t> </a:t>
            </a:r>
            <a:r>
              <a:rPr lang="en-US" altLang="ja-JP" sz="1700" dirty="0">
                <a:ea typeface="ＭＳ Ｐゴシック" panose="020B0600070205080204" pitchFamily="34" charset="-128"/>
                <a:sym typeface="Symbol" panose="05050102010706020507" pitchFamily="18" charset="2"/>
              </a:rPr>
              <a:t></a:t>
            </a:r>
            <a:r>
              <a:rPr lang="en-US" altLang="ja-JP" sz="1700" dirty="0">
                <a:ea typeface="ＭＳ Ｐゴシック" panose="020B0600070205080204" pitchFamily="34" charset="-128"/>
              </a:rPr>
              <a:t> </a:t>
            </a:r>
            <a:r>
              <a:rPr lang="en-US" altLang="ja-JP" sz="1700" dirty="0">
                <a:ea typeface="ＭＳ Ｐゴシック" panose="020B0600070205080204" pitchFamily="34" charset="-128"/>
                <a:sym typeface="MT Extra" panose="05050102010205020202" pitchFamily="18" charset="2"/>
              </a:rPr>
              <a:t></a:t>
            </a:r>
            <a:r>
              <a:rPr lang="en-US" altLang="ja-JP" sz="1700" baseline="-25000" dirty="0" err="1">
                <a:ea typeface="ＭＳ Ｐゴシック" panose="020B0600070205080204" pitchFamily="34" charset="-128"/>
              </a:rPr>
              <a:t>k</a:t>
            </a:r>
            <a:r>
              <a:rPr lang="en-US" altLang="ja-JP" sz="1700" i="1" dirty="0" err="1">
                <a:ea typeface="ＭＳ Ｐゴシック" panose="020B0600070205080204" pitchFamily="34" charset="-128"/>
              </a:rPr>
              <a:t>F</a:t>
            </a:r>
            <a:r>
              <a:rPr lang="en-US" altLang="ja-JP" sz="1700" baseline="-25000" dirty="0" err="1">
                <a:ea typeface="ＭＳ Ｐゴシック" panose="020B0600070205080204" pitchFamily="34" charset="-128"/>
              </a:rPr>
              <a:t>k</a:t>
            </a:r>
            <a:r>
              <a:rPr lang="en-US" altLang="ja-JP" sz="1700" dirty="0">
                <a:ea typeface="ＭＳ Ｐゴシック" panose="020B0600070205080204" pitchFamily="34" charset="-128"/>
              </a:rPr>
              <a:t>;</a:t>
            </a:r>
            <a:endParaRPr lang="en-US" sz="1700" dirty="0">
              <a:ea typeface="ＭＳ Ｐゴシック" panose="020B0600070205080204" pitchFamily="34" charset="-128"/>
            </a:endParaRPr>
          </a:p>
        </p:txBody>
      </p:sp>
    </p:spTree>
    <p:extLst>
      <p:ext uri="{BB962C8B-B14F-4D97-AF65-F5344CB8AC3E}">
        <p14:creationId xmlns:p14="http://schemas.microsoft.com/office/powerpoint/2010/main" val="357707175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2"/>
          <p:cNvSpPr>
            <a:spLocks noGrp="1" noChangeArrowheads="1"/>
          </p:cNvSpPr>
          <p:nvPr>
            <p:ph type="title" idx="4294967295"/>
          </p:nvPr>
        </p:nvSpPr>
        <p:spPr>
          <a:xfrm>
            <a:off x="793102" y="951043"/>
            <a:ext cx="7764463" cy="1143000"/>
          </a:xfrm>
        </p:spPr>
        <p:txBody>
          <a:bodyPr/>
          <a:lstStyle/>
          <a:p>
            <a:pPr>
              <a:buClr>
                <a:schemeClr val="tx1"/>
              </a:buClr>
            </a:pPr>
            <a:r>
              <a:rPr lang="en-US" b="1" dirty="0" smtClean="0"/>
              <a:t>Candidate </a:t>
            </a:r>
            <a:r>
              <a:rPr lang="en-US" b="1" dirty="0" err="1" smtClean="0"/>
              <a:t>itemset</a:t>
            </a:r>
            <a:r>
              <a:rPr lang="en-US" b="1" dirty="0" smtClean="0"/>
              <a:t> generation</a:t>
            </a:r>
            <a:r>
              <a:rPr lang="en-US" b="1" dirty="0">
                <a:solidFill>
                  <a:srgbClr val="FF0000"/>
                </a:solidFill>
              </a:rPr>
              <a:t>:</a:t>
            </a:r>
          </a:p>
        </p:txBody>
      </p:sp>
      <p:sp>
        <p:nvSpPr>
          <p:cNvPr id="48133" name="Rectangle 3"/>
          <p:cNvSpPr>
            <a:spLocks noGrp="1" noChangeArrowheads="1"/>
          </p:cNvSpPr>
          <p:nvPr>
            <p:ph type="body" idx="4294967295"/>
          </p:nvPr>
        </p:nvSpPr>
        <p:spPr>
          <a:xfrm>
            <a:off x="793102" y="2094043"/>
            <a:ext cx="10496939" cy="4462462"/>
          </a:xfrm>
        </p:spPr>
        <p:txBody>
          <a:bodyPr/>
          <a:lstStyle/>
          <a:p>
            <a:pPr eaLnBrk="1" hangingPunct="1">
              <a:buClr>
                <a:schemeClr val="tx1"/>
              </a:buClr>
            </a:pPr>
            <a:r>
              <a:rPr lang="en-US" dirty="0" smtClean="0">
                <a:solidFill>
                  <a:srgbClr val="FF0000"/>
                </a:solidFill>
              </a:rPr>
              <a:t>Special treatments needed:</a:t>
            </a:r>
          </a:p>
          <a:p>
            <a:pPr marL="742950" lvl="1" indent="-285750"/>
            <a:r>
              <a:rPr lang="en-US" dirty="0" smtClean="0"/>
              <a:t>Sorting the items according to their MIS values</a:t>
            </a:r>
          </a:p>
          <a:p>
            <a:pPr marL="742950" lvl="1" indent="-285750"/>
            <a:r>
              <a:rPr lang="en-US" dirty="0" smtClean="0"/>
              <a:t>First pass over data (the first three lines)</a:t>
            </a:r>
          </a:p>
          <a:p>
            <a:pPr marL="742950" lvl="1" indent="-285750"/>
            <a:r>
              <a:rPr lang="en-US" dirty="0" smtClean="0">
                <a:cs typeface="Times New Roman" panose="02020603050405020304" pitchFamily="18" charset="0"/>
              </a:rPr>
              <a:t>Candidate generation at level-2</a:t>
            </a:r>
          </a:p>
          <a:p>
            <a:pPr marL="914400" lvl="2" indent="0">
              <a:buNone/>
            </a:pPr>
            <a:endParaRPr lang="en-US" dirty="0" smtClean="0">
              <a:cs typeface="Times New Roman" panose="02020603050405020304" pitchFamily="18" charset="0"/>
            </a:endParaRPr>
          </a:p>
          <a:p>
            <a:pPr marL="742950" lvl="1" indent="-285750"/>
            <a:endParaRPr lang="en-US" dirty="0" smtClean="0">
              <a:cs typeface="Times New Roman" panose="02020603050405020304" pitchFamily="18" charset="0"/>
            </a:endParaRPr>
          </a:p>
          <a:p>
            <a:pPr marL="742950" lvl="1" indent="-285750"/>
            <a:endParaRPr lang="en-US" dirty="0">
              <a:cs typeface="Times New Roman" panose="02020603050405020304" pitchFamily="18" charset="0"/>
            </a:endParaRPr>
          </a:p>
          <a:p>
            <a:pPr marL="742950" lvl="1" indent="-285750"/>
            <a:endParaRPr lang="en-US" dirty="0" smtClean="0">
              <a:cs typeface="Times New Roman" panose="02020603050405020304" pitchFamily="18" charset="0"/>
            </a:endParaRPr>
          </a:p>
          <a:p>
            <a:pPr marL="742950" lvl="1" indent="-285750"/>
            <a:r>
              <a:rPr lang="en-US" dirty="0" smtClean="0">
                <a:cs typeface="Times New Roman" panose="02020603050405020304" pitchFamily="18" charset="0"/>
              </a:rPr>
              <a:t>Pruning step in level-</a:t>
            </a:r>
            <a:r>
              <a:rPr lang="en-US" i="1" dirty="0" smtClean="0">
                <a:cs typeface="Times New Roman" panose="02020603050405020304" pitchFamily="18" charset="0"/>
              </a:rPr>
              <a:t>k</a:t>
            </a:r>
            <a:r>
              <a:rPr lang="en-US" dirty="0" smtClean="0">
                <a:cs typeface="Times New Roman" panose="02020603050405020304" pitchFamily="18" charset="0"/>
              </a:rPr>
              <a:t> (</a:t>
            </a:r>
            <a:r>
              <a:rPr lang="en-US" i="1" dirty="0" smtClean="0">
                <a:cs typeface="Times New Roman" panose="02020603050405020304" pitchFamily="18" charset="0"/>
              </a:rPr>
              <a:t>k</a:t>
            </a:r>
            <a:r>
              <a:rPr lang="en-US" dirty="0" smtClean="0">
                <a:cs typeface="Times New Roman" panose="02020603050405020304" pitchFamily="18" charset="0"/>
              </a:rPr>
              <a:t> &gt; 2) candidate generation. </a:t>
            </a:r>
          </a:p>
          <a:p>
            <a:pPr marL="914400" lvl="2" indent="0">
              <a:buNone/>
            </a:pPr>
            <a:endParaRPr lang="en-US" dirty="0" smtClean="0">
              <a:cs typeface="Times New Roman" panose="02020603050405020304" pitchFamily="18" charset="0"/>
            </a:endParaRPr>
          </a:p>
          <a:p>
            <a:pPr marL="742950" lvl="1" indent="-285750"/>
            <a:endParaRPr lang="en-US" dirty="0" smtClean="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2138543" y="3730862"/>
            <a:ext cx="5643187" cy="1494281"/>
          </a:xfrm>
          <a:prstGeom prst="rect">
            <a:avLst/>
          </a:prstGeom>
        </p:spPr>
      </p:pic>
    </p:spTree>
    <p:extLst>
      <p:ext uri="{BB962C8B-B14F-4D97-AF65-F5344CB8AC3E}">
        <p14:creationId xmlns:p14="http://schemas.microsoft.com/office/powerpoint/2010/main" val="59362612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2"/>
          <p:cNvSpPr>
            <a:spLocks noGrp="1" noChangeArrowheads="1"/>
          </p:cNvSpPr>
          <p:nvPr>
            <p:ph type="title" idx="4294967295"/>
          </p:nvPr>
        </p:nvSpPr>
        <p:spPr>
          <a:xfrm>
            <a:off x="625151" y="1126218"/>
            <a:ext cx="10515600" cy="1325563"/>
          </a:xfrm>
        </p:spPr>
        <p:txBody>
          <a:bodyPr/>
          <a:lstStyle/>
          <a:p>
            <a:pPr eaLnBrk="1" hangingPunct="1"/>
            <a:r>
              <a:rPr lang="en-US" b="1" dirty="0" smtClean="0"/>
              <a:t>First pass over data</a:t>
            </a:r>
          </a:p>
        </p:txBody>
      </p:sp>
      <p:sp>
        <p:nvSpPr>
          <p:cNvPr id="49157" name="Rectangle 3"/>
          <p:cNvSpPr>
            <a:spLocks noGrp="1" noChangeArrowheads="1"/>
          </p:cNvSpPr>
          <p:nvPr>
            <p:ph type="body" idx="4294967295"/>
          </p:nvPr>
        </p:nvSpPr>
        <p:spPr>
          <a:xfrm>
            <a:off x="167950" y="2451781"/>
            <a:ext cx="11206065" cy="4789487"/>
          </a:xfrm>
        </p:spPr>
        <p:txBody>
          <a:bodyPr/>
          <a:lstStyle/>
          <a:p>
            <a:pPr marL="571500" indent="-571500"/>
            <a:r>
              <a:rPr lang="en-US" altLang="ja-JP" dirty="0" smtClean="0">
                <a:ea typeface="ＭＳ Ｐゴシック" panose="020B0600070205080204" pitchFamily="34" charset="-128"/>
              </a:rPr>
              <a:t>It makes a pass over the data to record the support count of each item. </a:t>
            </a:r>
          </a:p>
          <a:p>
            <a:pPr marL="571500" indent="-571500"/>
            <a:r>
              <a:rPr lang="en-US" altLang="ja-JP" dirty="0" smtClean="0">
                <a:ea typeface="ＭＳ Ｐゴシック" panose="020B0600070205080204" pitchFamily="34" charset="-128"/>
              </a:rPr>
              <a:t>It then follows the sorted order to find the first item </a:t>
            </a:r>
            <a:r>
              <a:rPr lang="en-US" altLang="ja-JP" i="1" dirty="0" err="1" smtClean="0">
                <a:ea typeface="ＭＳ Ｐゴシック" panose="020B0600070205080204" pitchFamily="34" charset="-128"/>
              </a:rPr>
              <a:t>i</a:t>
            </a:r>
            <a:r>
              <a:rPr lang="en-US" altLang="ja-JP" dirty="0" smtClean="0">
                <a:ea typeface="ＭＳ Ｐゴシック" panose="020B0600070205080204" pitchFamily="34" charset="-128"/>
              </a:rPr>
              <a:t> in </a:t>
            </a:r>
            <a:r>
              <a:rPr lang="en-US" altLang="ja-JP" i="1" dirty="0" smtClean="0">
                <a:ea typeface="ＭＳ Ｐゴシック" panose="020B0600070205080204" pitchFamily="34" charset="-128"/>
              </a:rPr>
              <a:t>M</a:t>
            </a:r>
            <a:r>
              <a:rPr lang="en-US" altLang="ja-JP" dirty="0" smtClean="0">
                <a:ea typeface="ＭＳ Ｐゴシック" panose="020B0600070205080204" pitchFamily="34" charset="-128"/>
              </a:rPr>
              <a:t> that meets MIS(</a:t>
            </a:r>
            <a:r>
              <a:rPr lang="en-US" altLang="ja-JP" i="1" dirty="0" err="1" smtClean="0">
                <a:ea typeface="ＭＳ Ｐゴシック" panose="020B0600070205080204" pitchFamily="34" charset="-128"/>
              </a:rPr>
              <a:t>i</a:t>
            </a:r>
            <a:r>
              <a:rPr lang="en-US" altLang="ja-JP" dirty="0" smtClean="0">
                <a:ea typeface="ＭＳ Ｐゴシック" panose="020B0600070205080204" pitchFamily="34" charset="-128"/>
              </a:rPr>
              <a:t>). </a:t>
            </a:r>
          </a:p>
          <a:p>
            <a:pPr marL="839788" lvl="1" indent="-495300"/>
            <a:r>
              <a:rPr lang="en-US" altLang="ja-JP" i="1" dirty="0" err="1" smtClean="0">
                <a:ea typeface="ＭＳ Ｐゴシック" panose="020B0600070205080204" pitchFamily="34" charset="-128"/>
              </a:rPr>
              <a:t>i</a:t>
            </a:r>
            <a:r>
              <a:rPr lang="en-US" altLang="ja-JP" dirty="0" smtClean="0">
                <a:ea typeface="ＭＳ Ｐゴシック" panose="020B0600070205080204" pitchFamily="34" charset="-128"/>
              </a:rPr>
              <a:t> is inserted into </a:t>
            </a:r>
            <a:r>
              <a:rPr lang="en-US" altLang="ja-JP" i="1" dirty="0" smtClean="0">
                <a:ea typeface="ＭＳ Ｐゴシック" panose="020B0600070205080204" pitchFamily="34" charset="-128"/>
              </a:rPr>
              <a:t>L</a:t>
            </a:r>
            <a:r>
              <a:rPr lang="en-US" altLang="ja-JP" dirty="0" smtClean="0">
                <a:ea typeface="ＭＳ Ｐゴシック" panose="020B0600070205080204" pitchFamily="34" charset="-128"/>
              </a:rPr>
              <a:t>. </a:t>
            </a:r>
          </a:p>
          <a:p>
            <a:pPr marL="839788" lvl="1" indent="-495300"/>
            <a:r>
              <a:rPr lang="en-US" altLang="ja-JP" dirty="0" smtClean="0">
                <a:ea typeface="ＭＳ Ｐゴシック" panose="020B0600070205080204" pitchFamily="34" charset="-128"/>
              </a:rPr>
              <a:t>For each subsequent item </a:t>
            </a:r>
            <a:r>
              <a:rPr lang="en-US" altLang="ja-JP" i="1" dirty="0" smtClean="0">
                <a:ea typeface="ＭＳ Ｐゴシック" panose="020B0600070205080204" pitchFamily="34" charset="-128"/>
              </a:rPr>
              <a:t>j</a:t>
            </a:r>
            <a:r>
              <a:rPr lang="en-US" altLang="ja-JP" dirty="0" smtClean="0">
                <a:ea typeface="ＭＳ Ｐゴシック" panose="020B0600070205080204" pitchFamily="34" charset="-128"/>
              </a:rPr>
              <a:t> in </a:t>
            </a:r>
            <a:r>
              <a:rPr lang="en-US" altLang="ja-JP" i="1" dirty="0" smtClean="0">
                <a:ea typeface="ＭＳ Ｐゴシック" panose="020B0600070205080204" pitchFamily="34" charset="-128"/>
              </a:rPr>
              <a:t>M</a:t>
            </a:r>
            <a:r>
              <a:rPr lang="en-US" altLang="ja-JP" dirty="0" smtClean="0">
                <a:ea typeface="ＭＳ Ｐゴシック" panose="020B0600070205080204" pitchFamily="34" charset="-128"/>
              </a:rPr>
              <a:t> after </a:t>
            </a:r>
            <a:r>
              <a:rPr lang="en-US" altLang="ja-JP" i="1" dirty="0" err="1" smtClean="0">
                <a:ea typeface="ＭＳ Ｐゴシック" panose="020B0600070205080204" pitchFamily="34" charset="-128"/>
              </a:rPr>
              <a:t>i</a:t>
            </a:r>
            <a:r>
              <a:rPr lang="en-US" altLang="ja-JP" dirty="0" smtClean="0">
                <a:ea typeface="ＭＳ Ｐゴシック" panose="020B0600070205080204" pitchFamily="34" charset="-128"/>
              </a:rPr>
              <a:t>, if </a:t>
            </a:r>
            <a:r>
              <a:rPr lang="en-US" altLang="ja-JP" i="1" dirty="0" err="1" smtClean="0">
                <a:ea typeface="ＭＳ Ｐゴシック" panose="020B0600070205080204" pitchFamily="34" charset="-128"/>
              </a:rPr>
              <a:t>j</a:t>
            </a:r>
            <a:r>
              <a:rPr lang="en-US" altLang="ja-JP" dirty="0" err="1" smtClean="0">
                <a:ea typeface="ＭＳ Ｐゴシック" panose="020B0600070205080204" pitchFamily="34" charset="-128"/>
              </a:rPr>
              <a:t>.</a:t>
            </a:r>
            <a:r>
              <a:rPr lang="en-US" altLang="ja-JP" i="1" dirty="0" err="1" smtClean="0">
                <a:ea typeface="ＭＳ Ｐゴシック" panose="020B0600070205080204" pitchFamily="34" charset="-128"/>
              </a:rPr>
              <a:t>count</a:t>
            </a:r>
            <a:r>
              <a:rPr lang="en-US" altLang="ja-JP" dirty="0" smtClean="0">
                <a:ea typeface="ＭＳ Ｐゴシック" panose="020B0600070205080204" pitchFamily="34" charset="-128"/>
              </a:rPr>
              <a:t>/</a:t>
            </a:r>
            <a:r>
              <a:rPr lang="en-US" altLang="ja-JP" i="1" dirty="0" smtClean="0">
                <a:ea typeface="ＭＳ Ｐゴシック" panose="020B0600070205080204" pitchFamily="34" charset="-128"/>
              </a:rPr>
              <a:t>n</a:t>
            </a:r>
            <a:r>
              <a:rPr lang="en-US" altLang="ja-JP" dirty="0" smtClean="0">
                <a:ea typeface="ＭＳ Ｐゴシック" panose="020B0600070205080204" pitchFamily="34" charset="-128"/>
              </a:rPr>
              <a:t> </a:t>
            </a:r>
            <a:r>
              <a:rPr lang="en-US" altLang="ja-JP" dirty="0" smtClean="0">
                <a:ea typeface="ＭＳ Ｐゴシック" panose="020B0600070205080204" pitchFamily="34" charset="-128"/>
                <a:sym typeface="Symbol" panose="05050102010706020507" pitchFamily="18" charset="2"/>
              </a:rPr>
              <a:t></a:t>
            </a:r>
            <a:r>
              <a:rPr lang="en-US" altLang="ja-JP" dirty="0" smtClean="0">
                <a:ea typeface="ＭＳ Ｐゴシック" panose="020B0600070205080204" pitchFamily="34" charset="-128"/>
              </a:rPr>
              <a:t> MIS(</a:t>
            </a:r>
            <a:r>
              <a:rPr lang="en-US" altLang="ja-JP" i="1" dirty="0" err="1" smtClean="0">
                <a:ea typeface="ＭＳ Ｐゴシック" panose="020B0600070205080204" pitchFamily="34" charset="-128"/>
              </a:rPr>
              <a:t>i</a:t>
            </a:r>
            <a:r>
              <a:rPr lang="en-US" altLang="ja-JP" dirty="0" smtClean="0">
                <a:ea typeface="ＭＳ Ｐゴシック" panose="020B0600070205080204" pitchFamily="34" charset="-128"/>
              </a:rPr>
              <a:t>) then </a:t>
            </a:r>
            <a:r>
              <a:rPr lang="en-US" altLang="ja-JP" i="1" dirty="0" smtClean="0">
                <a:ea typeface="ＭＳ Ｐゴシック" panose="020B0600070205080204" pitchFamily="34" charset="-128"/>
              </a:rPr>
              <a:t>j</a:t>
            </a:r>
            <a:r>
              <a:rPr lang="en-US" altLang="ja-JP" dirty="0" smtClean="0">
                <a:ea typeface="ＭＳ Ｐゴシック" panose="020B0600070205080204" pitchFamily="34" charset="-128"/>
              </a:rPr>
              <a:t> is also inserted into </a:t>
            </a:r>
            <a:r>
              <a:rPr lang="en-US" altLang="ja-JP" i="1" dirty="0" smtClean="0">
                <a:ea typeface="ＭＳ Ｐゴシック" panose="020B0600070205080204" pitchFamily="34" charset="-128"/>
              </a:rPr>
              <a:t>L</a:t>
            </a:r>
            <a:r>
              <a:rPr lang="en-US" altLang="ja-JP" dirty="0" smtClean="0">
                <a:ea typeface="ＭＳ Ｐゴシック" panose="020B0600070205080204" pitchFamily="34" charset="-128"/>
              </a:rPr>
              <a:t>, where </a:t>
            </a:r>
            <a:r>
              <a:rPr lang="en-US" altLang="ja-JP" i="1" dirty="0" err="1" smtClean="0">
                <a:ea typeface="ＭＳ Ｐゴシック" panose="020B0600070205080204" pitchFamily="34" charset="-128"/>
              </a:rPr>
              <a:t>j</a:t>
            </a:r>
            <a:r>
              <a:rPr lang="en-US" altLang="ja-JP" dirty="0" err="1" smtClean="0">
                <a:ea typeface="ＭＳ Ｐゴシック" panose="020B0600070205080204" pitchFamily="34" charset="-128"/>
              </a:rPr>
              <a:t>.</a:t>
            </a:r>
            <a:r>
              <a:rPr lang="en-US" altLang="ja-JP" i="1" dirty="0" err="1" smtClean="0">
                <a:ea typeface="ＭＳ Ｐゴシック" panose="020B0600070205080204" pitchFamily="34" charset="-128"/>
              </a:rPr>
              <a:t>count</a:t>
            </a:r>
            <a:r>
              <a:rPr lang="en-US" altLang="ja-JP" dirty="0" smtClean="0">
                <a:ea typeface="ＭＳ Ｐゴシック" panose="020B0600070205080204" pitchFamily="34" charset="-128"/>
              </a:rPr>
              <a:t> is the support count of </a:t>
            </a:r>
            <a:r>
              <a:rPr lang="en-US" altLang="ja-JP" i="1" dirty="0" smtClean="0">
                <a:ea typeface="ＭＳ Ｐゴシック" panose="020B0600070205080204" pitchFamily="34" charset="-128"/>
              </a:rPr>
              <a:t>j</a:t>
            </a:r>
            <a:r>
              <a:rPr lang="en-US" altLang="ja-JP" dirty="0" smtClean="0">
                <a:ea typeface="ＭＳ Ｐゴシック" panose="020B0600070205080204" pitchFamily="34" charset="-128"/>
              </a:rPr>
              <a:t> and </a:t>
            </a:r>
            <a:r>
              <a:rPr lang="en-US" altLang="ja-JP" i="1" dirty="0" smtClean="0">
                <a:ea typeface="ＭＳ Ｐゴシック" panose="020B0600070205080204" pitchFamily="34" charset="-128"/>
              </a:rPr>
              <a:t>n</a:t>
            </a:r>
            <a:r>
              <a:rPr lang="en-US" altLang="ja-JP" dirty="0" smtClean="0">
                <a:ea typeface="ＭＳ Ｐゴシック" panose="020B0600070205080204" pitchFamily="34" charset="-128"/>
              </a:rPr>
              <a:t> is the total number of transactions in </a:t>
            </a:r>
            <a:r>
              <a:rPr lang="en-US" altLang="ja-JP" i="1" dirty="0" smtClean="0">
                <a:ea typeface="ＭＳ Ｐゴシック" panose="020B0600070205080204" pitchFamily="34" charset="-128"/>
              </a:rPr>
              <a:t>T</a:t>
            </a:r>
            <a:r>
              <a:rPr lang="en-US" altLang="ja-JP" dirty="0" smtClean="0">
                <a:ea typeface="ＭＳ Ｐゴシック" panose="020B0600070205080204" pitchFamily="34" charset="-128"/>
              </a:rPr>
              <a:t>.</a:t>
            </a:r>
            <a:r>
              <a:rPr lang="en-US" altLang="ja-JP" dirty="0" smtClean="0">
                <a:solidFill>
                  <a:srgbClr val="3333CC"/>
                </a:solidFill>
                <a:ea typeface="ＭＳ Ｐゴシック" panose="020B0600070205080204" pitchFamily="34" charset="-128"/>
              </a:rPr>
              <a:t> Why?</a:t>
            </a:r>
          </a:p>
          <a:p>
            <a:pPr marL="571500" indent="-571500"/>
            <a:r>
              <a:rPr lang="en-US" i="1" dirty="0" smtClean="0"/>
              <a:t>L</a:t>
            </a:r>
            <a:r>
              <a:rPr lang="en-US" dirty="0" smtClean="0"/>
              <a:t> is used by function </a:t>
            </a:r>
            <a:r>
              <a:rPr lang="en-US" altLang="ja-JP" dirty="0" smtClean="0">
                <a:ea typeface="ＭＳ Ｐゴシック" panose="020B0600070205080204" pitchFamily="34" charset="-128"/>
              </a:rPr>
              <a:t>level2-candidate-gen</a:t>
            </a:r>
            <a:endParaRPr lang="en-US" dirty="0" smtClean="0"/>
          </a:p>
        </p:txBody>
      </p:sp>
    </p:spTree>
    <p:extLst>
      <p:ext uri="{BB962C8B-B14F-4D97-AF65-F5344CB8AC3E}">
        <p14:creationId xmlns:p14="http://schemas.microsoft.com/office/powerpoint/2010/main" val="2371691685"/>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2"/>
          <p:cNvSpPr>
            <a:spLocks noGrp="1" noChangeArrowheads="1"/>
          </p:cNvSpPr>
          <p:nvPr>
            <p:ph type="title" idx="4294967295"/>
          </p:nvPr>
        </p:nvSpPr>
        <p:spPr>
          <a:xfrm>
            <a:off x="867747" y="701027"/>
            <a:ext cx="10515600" cy="1325563"/>
          </a:xfrm>
        </p:spPr>
        <p:txBody>
          <a:bodyPr/>
          <a:lstStyle/>
          <a:p>
            <a:pPr eaLnBrk="1" hangingPunct="1"/>
            <a:r>
              <a:rPr lang="en-US" dirty="0" smtClean="0"/>
              <a:t/>
            </a:r>
            <a:br>
              <a:rPr lang="en-US" dirty="0" smtClean="0"/>
            </a:br>
            <a:r>
              <a:rPr lang="en-US" b="1" dirty="0" smtClean="0"/>
              <a:t>First pass over data: an example</a:t>
            </a:r>
          </a:p>
        </p:txBody>
      </p:sp>
      <p:sp>
        <p:nvSpPr>
          <p:cNvPr id="50181" name="Rectangle 3"/>
          <p:cNvSpPr>
            <a:spLocks noGrp="1" noChangeArrowheads="1"/>
          </p:cNvSpPr>
          <p:nvPr>
            <p:ph type="body" idx="4294967295"/>
          </p:nvPr>
        </p:nvSpPr>
        <p:spPr>
          <a:xfrm>
            <a:off x="783770" y="2026590"/>
            <a:ext cx="10375641" cy="4826000"/>
          </a:xfrm>
        </p:spPr>
        <p:txBody>
          <a:bodyPr>
            <a:normAutofit lnSpcReduction="10000"/>
          </a:bodyPr>
          <a:lstStyle/>
          <a:p>
            <a:pPr eaLnBrk="1" hangingPunct="1">
              <a:lnSpc>
                <a:spcPct val="90000"/>
              </a:lnSpc>
            </a:pPr>
            <a:r>
              <a:rPr lang="en-US" altLang="ja-JP" sz="2600" dirty="0">
                <a:solidFill>
                  <a:srgbClr val="3333CC"/>
                </a:solidFill>
                <a:ea typeface="ＭＳ Ｐゴシック" panose="020B0600070205080204" pitchFamily="34" charset="-128"/>
              </a:rPr>
              <a:t>Consider the four items 1, 2, 3 and 4 in a data set. Their minimum item supports are:</a:t>
            </a:r>
          </a:p>
          <a:p>
            <a:pPr eaLnBrk="1" hangingPunct="1">
              <a:lnSpc>
                <a:spcPct val="90000"/>
              </a:lnSpc>
              <a:buFont typeface="Wingdings" panose="05000000000000000000" pitchFamily="2" charset="2"/>
              <a:buNone/>
            </a:pPr>
            <a:r>
              <a:rPr lang="en-US" altLang="ja-JP" sz="2600" dirty="0">
                <a:ea typeface="ＭＳ Ｐゴシック" panose="020B0600070205080204" pitchFamily="34" charset="-128"/>
              </a:rPr>
              <a:t>		MIS(1) = 10% 	MIS(2) = 20%</a:t>
            </a:r>
          </a:p>
          <a:p>
            <a:pPr eaLnBrk="1" hangingPunct="1">
              <a:lnSpc>
                <a:spcPct val="90000"/>
              </a:lnSpc>
              <a:buFont typeface="Wingdings" panose="05000000000000000000" pitchFamily="2" charset="2"/>
              <a:buNone/>
            </a:pPr>
            <a:r>
              <a:rPr lang="en-US" altLang="ja-JP" sz="2600" dirty="0">
                <a:ea typeface="ＭＳ Ｐゴシック" panose="020B0600070205080204" pitchFamily="34" charset="-128"/>
              </a:rPr>
              <a:t>		MIS(3) = 5% 	MIS(4) = 6% </a:t>
            </a:r>
          </a:p>
          <a:p>
            <a:pPr eaLnBrk="1" hangingPunct="1">
              <a:lnSpc>
                <a:spcPct val="90000"/>
              </a:lnSpc>
            </a:pPr>
            <a:r>
              <a:rPr lang="en-US" altLang="ja-JP" sz="2600" dirty="0">
                <a:ea typeface="ＭＳ Ｐゴシック" panose="020B0600070205080204" pitchFamily="34" charset="-128"/>
              </a:rPr>
              <a:t>Assume our data set has 100 transactions. The first pass gives us the following support counts: </a:t>
            </a:r>
          </a:p>
          <a:p>
            <a:pPr eaLnBrk="1" hangingPunct="1">
              <a:lnSpc>
                <a:spcPct val="90000"/>
              </a:lnSpc>
              <a:buFont typeface="Wingdings" panose="05000000000000000000" pitchFamily="2" charset="2"/>
              <a:buNone/>
            </a:pPr>
            <a:r>
              <a:rPr lang="en-US" altLang="ja-JP" sz="2600" dirty="0">
                <a:ea typeface="ＭＳ Ｐゴシック" panose="020B0600070205080204" pitchFamily="34" charset="-128"/>
              </a:rPr>
              <a:t>		{3}.</a:t>
            </a:r>
            <a:r>
              <a:rPr lang="en-US" altLang="ja-JP" sz="2600" i="1" dirty="0">
                <a:ea typeface="ＭＳ Ｐゴシック" panose="020B0600070205080204" pitchFamily="34" charset="-128"/>
              </a:rPr>
              <a:t>count</a:t>
            </a:r>
            <a:r>
              <a:rPr lang="en-US" altLang="ja-JP" sz="2600" dirty="0">
                <a:ea typeface="ＭＳ Ｐゴシック" panose="020B0600070205080204" pitchFamily="34" charset="-128"/>
              </a:rPr>
              <a:t> = 6, {4}.</a:t>
            </a:r>
            <a:r>
              <a:rPr lang="en-US" altLang="ja-JP" sz="2600" i="1" dirty="0">
                <a:ea typeface="ＭＳ Ｐゴシック" panose="020B0600070205080204" pitchFamily="34" charset="-128"/>
              </a:rPr>
              <a:t>count</a:t>
            </a:r>
            <a:r>
              <a:rPr lang="en-US" altLang="ja-JP" sz="2600" dirty="0">
                <a:ea typeface="ＭＳ Ｐゴシック" panose="020B0600070205080204" pitchFamily="34" charset="-128"/>
              </a:rPr>
              <a:t> = 3, </a:t>
            </a:r>
          </a:p>
          <a:p>
            <a:pPr eaLnBrk="1" hangingPunct="1">
              <a:lnSpc>
                <a:spcPct val="90000"/>
              </a:lnSpc>
              <a:buFont typeface="Wingdings" panose="05000000000000000000" pitchFamily="2" charset="2"/>
              <a:buNone/>
            </a:pPr>
            <a:r>
              <a:rPr lang="en-US" altLang="ja-JP" sz="2600" dirty="0">
                <a:ea typeface="ＭＳ Ｐゴシック" panose="020B0600070205080204" pitchFamily="34" charset="-128"/>
              </a:rPr>
              <a:t>		{1}.</a:t>
            </a:r>
            <a:r>
              <a:rPr lang="en-US" altLang="ja-JP" sz="2600" i="1" dirty="0">
                <a:ea typeface="ＭＳ Ｐゴシック" panose="020B0600070205080204" pitchFamily="34" charset="-128"/>
              </a:rPr>
              <a:t>count</a:t>
            </a:r>
            <a:r>
              <a:rPr lang="en-US" altLang="ja-JP" sz="2600" dirty="0">
                <a:ea typeface="ＭＳ Ｐゴシック" panose="020B0600070205080204" pitchFamily="34" charset="-128"/>
              </a:rPr>
              <a:t> = 9, {2}.</a:t>
            </a:r>
            <a:r>
              <a:rPr lang="en-US" altLang="ja-JP" sz="2600" i="1" dirty="0">
                <a:ea typeface="ＭＳ Ｐゴシック" panose="020B0600070205080204" pitchFamily="34" charset="-128"/>
              </a:rPr>
              <a:t>count</a:t>
            </a:r>
            <a:r>
              <a:rPr lang="en-US" altLang="ja-JP" sz="2600" dirty="0">
                <a:ea typeface="ＭＳ Ｐゴシック" panose="020B0600070205080204" pitchFamily="34" charset="-128"/>
              </a:rPr>
              <a:t> = 25. </a:t>
            </a:r>
            <a:endParaRPr lang="en-US" altLang="ja-JP" sz="2600" i="1" dirty="0">
              <a:ea typeface="ＭＳ Ｐゴシック" panose="020B0600070205080204" pitchFamily="34" charset="-128"/>
            </a:endParaRPr>
          </a:p>
          <a:p>
            <a:pPr eaLnBrk="1" hangingPunct="1">
              <a:lnSpc>
                <a:spcPct val="90000"/>
              </a:lnSpc>
            </a:pPr>
            <a:r>
              <a:rPr lang="en-US" altLang="ja-JP" sz="2600" b="1" dirty="0">
                <a:solidFill>
                  <a:srgbClr val="FF0000"/>
                </a:solidFill>
                <a:ea typeface="ＭＳ Ｐゴシック" panose="020B0600070205080204" pitchFamily="34" charset="-128"/>
              </a:rPr>
              <a:t>Then </a:t>
            </a:r>
            <a:r>
              <a:rPr lang="en-US" altLang="ja-JP" sz="2600" i="1" dirty="0">
                <a:solidFill>
                  <a:srgbClr val="FF0000"/>
                </a:solidFill>
                <a:ea typeface="ＭＳ Ｐゴシック" panose="020B0600070205080204" pitchFamily="34" charset="-128"/>
              </a:rPr>
              <a:t>L</a:t>
            </a:r>
            <a:r>
              <a:rPr lang="en-US" altLang="ja-JP" sz="2600" dirty="0">
                <a:solidFill>
                  <a:srgbClr val="FF0000"/>
                </a:solidFill>
                <a:ea typeface="ＭＳ Ｐゴシック" panose="020B0600070205080204" pitchFamily="34" charset="-128"/>
              </a:rPr>
              <a:t> = {3</a:t>
            </a:r>
            <a:r>
              <a:rPr lang="en-US" altLang="ja-JP" sz="2600" dirty="0" smtClean="0">
                <a:solidFill>
                  <a:srgbClr val="FF0000"/>
                </a:solidFill>
                <a:ea typeface="ＭＳ Ｐゴシック" panose="020B0600070205080204" pitchFamily="34" charset="-128"/>
              </a:rPr>
              <a:t>, </a:t>
            </a:r>
            <a:r>
              <a:rPr lang="en-US" altLang="ja-JP" sz="2600" dirty="0">
                <a:solidFill>
                  <a:srgbClr val="FF0000"/>
                </a:solidFill>
                <a:ea typeface="ＭＳ Ｐゴシック" panose="020B0600070205080204" pitchFamily="34" charset="-128"/>
              </a:rPr>
              <a:t>2}, and </a:t>
            </a:r>
            <a:r>
              <a:rPr lang="en-US" altLang="ja-JP" sz="2600" i="1" dirty="0">
                <a:solidFill>
                  <a:srgbClr val="FF0000"/>
                </a:solidFill>
                <a:ea typeface="ＭＳ Ｐゴシック" panose="020B0600070205080204" pitchFamily="34" charset="-128"/>
              </a:rPr>
              <a:t>F</a:t>
            </a:r>
            <a:r>
              <a:rPr lang="en-US" altLang="ja-JP" sz="2600" baseline="-25000" dirty="0">
                <a:solidFill>
                  <a:srgbClr val="FF0000"/>
                </a:solidFill>
                <a:ea typeface="ＭＳ Ｐゴシック" panose="020B0600070205080204" pitchFamily="34" charset="-128"/>
              </a:rPr>
              <a:t>1</a:t>
            </a:r>
            <a:r>
              <a:rPr lang="en-US" altLang="ja-JP" sz="2600" dirty="0">
                <a:solidFill>
                  <a:srgbClr val="FF0000"/>
                </a:solidFill>
                <a:ea typeface="ＭＳ Ｐゴシック" panose="020B0600070205080204" pitchFamily="34" charset="-128"/>
              </a:rPr>
              <a:t> = {{3}, {2}}</a:t>
            </a:r>
          </a:p>
          <a:p>
            <a:pPr eaLnBrk="1" hangingPunct="1">
              <a:lnSpc>
                <a:spcPct val="90000"/>
              </a:lnSpc>
            </a:pPr>
            <a:r>
              <a:rPr lang="en-US" altLang="ja-JP" sz="2600" dirty="0">
                <a:ea typeface="ＭＳ Ｐゴシック" panose="020B0600070205080204" pitchFamily="34" charset="-128"/>
              </a:rPr>
              <a:t>Item 4 is not in </a:t>
            </a:r>
            <a:r>
              <a:rPr lang="en-US" altLang="ja-JP" sz="2600" i="1" dirty="0">
                <a:ea typeface="ＭＳ Ｐゴシック" panose="020B0600070205080204" pitchFamily="34" charset="-128"/>
              </a:rPr>
              <a:t>L</a:t>
            </a:r>
            <a:r>
              <a:rPr lang="en-US" altLang="ja-JP" sz="2600" dirty="0">
                <a:ea typeface="ＭＳ Ｐゴシック" panose="020B0600070205080204" pitchFamily="34" charset="-128"/>
              </a:rPr>
              <a:t> because 4</a:t>
            </a:r>
            <a:r>
              <a:rPr lang="en-US" altLang="ja-JP" sz="2600" i="1" dirty="0">
                <a:ea typeface="ＭＳ Ｐゴシック" panose="020B0600070205080204" pitchFamily="34" charset="-128"/>
              </a:rPr>
              <a:t>.count</a:t>
            </a:r>
            <a:r>
              <a:rPr lang="en-US" altLang="ja-JP" sz="2600" dirty="0">
                <a:ea typeface="ＭＳ Ｐゴシック" panose="020B0600070205080204" pitchFamily="34" charset="-128"/>
              </a:rPr>
              <a:t>/</a:t>
            </a:r>
            <a:r>
              <a:rPr lang="en-US" altLang="ja-JP" sz="2600" i="1" dirty="0">
                <a:ea typeface="ＭＳ Ｐゴシック" panose="020B0600070205080204" pitchFamily="34" charset="-128"/>
              </a:rPr>
              <a:t>n</a:t>
            </a:r>
            <a:r>
              <a:rPr lang="en-US" altLang="ja-JP" sz="2600" dirty="0">
                <a:ea typeface="ＭＳ Ｐゴシック" panose="020B0600070205080204" pitchFamily="34" charset="-128"/>
              </a:rPr>
              <a:t> &lt; MIS(3) (= 5%), </a:t>
            </a:r>
          </a:p>
          <a:p>
            <a:pPr eaLnBrk="1" hangingPunct="1">
              <a:lnSpc>
                <a:spcPct val="90000"/>
              </a:lnSpc>
            </a:pPr>
            <a:r>
              <a:rPr lang="en-US" altLang="ja-JP" sz="2600" dirty="0">
                <a:ea typeface="ＭＳ Ｐゴシック" panose="020B0600070205080204" pitchFamily="34" charset="-128"/>
              </a:rPr>
              <a:t>{1} is not in </a:t>
            </a:r>
            <a:r>
              <a:rPr lang="en-US" altLang="ja-JP" sz="2600" i="1" dirty="0">
                <a:ea typeface="ＭＳ Ｐゴシック" panose="020B0600070205080204" pitchFamily="34" charset="-128"/>
              </a:rPr>
              <a:t>F</a:t>
            </a:r>
            <a:r>
              <a:rPr lang="en-US" altLang="ja-JP" sz="2600" baseline="-25000" dirty="0">
                <a:ea typeface="ＭＳ Ｐゴシック" panose="020B0600070205080204" pitchFamily="34" charset="-128"/>
              </a:rPr>
              <a:t>1</a:t>
            </a:r>
            <a:r>
              <a:rPr lang="en-US" altLang="ja-JP" sz="2600" dirty="0">
                <a:ea typeface="ＭＳ Ｐゴシック" panose="020B0600070205080204" pitchFamily="34" charset="-128"/>
              </a:rPr>
              <a:t> because 1</a:t>
            </a:r>
            <a:r>
              <a:rPr lang="en-US" altLang="ja-JP" sz="2600" i="1" dirty="0">
                <a:ea typeface="ＭＳ Ｐゴシック" panose="020B0600070205080204" pitchFamily="34" charset="-128"/>
              </a:rPr>
              <a:t>.count</a:t>
            </a:r>
            <a:r>
              <a:rPr lang="en-US" altLang="ja-JP" sz="2600" dirty="0">
                <a:ea typeface="ＭＳ Ｐゴシック" panose="020B0600070205080204" pitchFamily="34" charset="-128"/>
              </a:rPr>
              <a:t>/</a:t>
            </a:r>
            <a:r>
              <a:rPr lang="en-US" altLang="ja-JP" sz="2600" i="1" dirty="0">
                <a:ea typeface="ＭＳ Ｐゴシック" panose="020B0600070205080204" pitchFamily="34" charset="-128"/>
              </a:rPr>
              <a:t>n</a:t>
            </a:r>
            <a:r>
              <a:rPr lang="en-US" altLang="ja-JP" sz="2600" dirty="0">
                <a:ea typeface="ＭＳ Ｐゴシック" panose="020B0600070205080204" pitchFamily="34" charset="-128"/>
              </a:rPr>
              <a:t> &lt; MIS(1) (= 10%). </a:t>
            </a:r>
            <a:endParaRPr lang="en-US" sz="2600" dirty="0"/>
          </a:p>
        </p:txBody>
      </p:sp>
    </p:spTree>
    <p:extLst>
      <p:ext uri="{BB962C8B-B14F-4D97-AF65-F5344CB8AC3E}">
        <p14:creationId xmlns:p14="http://schemas.microsoft.com/office/powerpoint/2010/main" val="258068774"/>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2"/>
          <p:cNvSpPr>
            <a:spLocks noGrp="1" noChangeArrowheads="1"/>
          </p:cNvSpPr>
          <p:nvPr>
            <p:ph type="title" idx="4294967295"/>
          </p:nvPr>
        </p:nvSpPr>
        <p:spPr>
          <a:xfrm>
            <a:off x="634481" y="952954"/>
            <a:ext cx="10515600" cy="1325563"/>
          </a:xfrm>
        </p:spPr>
        <p:txBody>
          <a:bodyPr/>
          <a:lstStyle/>
          <a:p>
            <a:pPr eaLnBrk="1" hangingPunct="1"/>
            <a:r>
              <a:rPr lang="en-US" b="1" dirty="0" smtClean="0">
                <a:solidFill>
                  <a:srgbClr val="FF0000"/>
                </a:solidFill>
              </a:rPr>
              <a:t>Rule generation</a:t>
            </a:r>
          </a:p>
        </p:txBody>
      </p:sp>
      <p:sp>
        <p:nvSpPr>
          <p:cNvPr id="51205" name="Rectangle 3"/>
          <p:cNvSpPr>
            <a:spLocks noGrp="1" noChangeArrowheads="1"/>
          </p:cNvSpPr>
          <p:nvPr>
            <p:ph type="body" idx="4294967295"/>
          </p:nvPr>
        </p:nvSpPr>
        <p:spPr>
          <a:xfrm>
            <a:off x="541175" y="2178795"/>
            <a:ext cx="9862458" cy="4754562"/>
          </a:xfrm>
        </p:spPr>
        <p:txBody>
          <a:bodyPr/>
          <a:lstStyle/>
          <a:p>
            <a:pPr eaLnBrk="1" hangingPunct="1"/>
            <a:r>
              <a:rPr lang="en-US" altLang="ja-JP" dirty="0" smtClean="0">
                <a:ea typeface="ＭＳ Ｐゴシック" panose="020B0600070205080204" pitchFamily="34" charset="-128"/>
              </a:rPr>
              <a:t>The following two lines in </a:t>
            </a:r>
            <a:r>
              <a:rPr lang="en-US" altLang="ja-JP" dirty="0" err="1" smtClean="0">
                <a:ea typeface="ＭＳ Ｐゴシック" panose="020B0600070205080204" pitchFamily="34" charset="-128"/>
              </a:rPr>
              <a:t>MSapriori</a:t>
            </a:r>
            <a:r>
              <a:rPr lang="en-US" altLang="ja-JP" dirty="0" smtClean="0">
                <a:ea typeface="ＭＳ Ｐゴシック" panose="020B0600070205080204" pitchFamily="34" charset="-128"/>
              </a:rPr>
              <a:t> algorithm are important for rule generation, which are not needed for the </a:t>
            </a:r>
            <a:r>
              <a:rPr lang="en-US" altLang="ja-JP" dirty="0" err="1" smtClean="0">
                <a:ea typeface="ＭＳ Ｐゴシック" panose="020B0600070205080204" pitchFamily="34" charset="-128"/>
              </a:rPr>
              <a:t>Apriori</a:t>
            </a:r>
            <a:r>
              <a:rPr lang="en-US" altLang="ja-JP" dirty="0" smtClean="0">
                <a:ea typeface="ＭＳ Ｐゴシック" panose="020B0600070205080204" pitchFamily="34" charset="-128"/>
              </a:rPr>
              <a:t> algorithm</a:t>
            </a:r>
          </a:p>
          <a:p>
            <a:pPr eaLnBrk="1" hangingPunct="1">
              <a:buFont typeface="Wingdings" panose="05000000000000000000" pitchFamily="2" charset="2"/>
              <a:buNone/>
            </a:pPr>
            <a:r>
              <a:rPr lang="en-US" altLang="ja-JP" b="1" dirty="0" smtClean="0">
                <a:ea typeface="ＭＳ Ｐゴシック" panose="020B0600070205080204" pitchFamily="34" charset="-128"/>
              </a:rPr>
              <a:t>	if</a:t>
            </a:r>
            <a:r>
              <a:rPr lang="en-US" altLang="ja-JP" dirty="0" smtClean="0">
                <a:ea typeface="ＭＳ Ｐゴシック" panose="020B0600070205080204" pitchFamily="34" charset="-128"/>
              </a:rPr>
              <a:t> </a:t>
            </a:r>
            <a:r>
              <a:rPr lang="en-US" altLang="ja-JP" i="1" dirty="0" smtClean="0">
                <a:ea typeface="ＭＳ Ｐゴシック" panose="020B0600070205080204" pitchFamily="34" charset="-128"/>
              </a:rPr>
              <a:t>c – </a:t>
            </a:r>
            <a:r>
              <a:rPr lang="en-US" altLang="ja-JP" dirty="0" smtClean="0">
                <a:ea typeface="ＭＳ Ｐゴシック" panose="020B0600070205080204" pitchFamily="34" charset="-128"/>
              </a:rPr>
              <a:t>{</a:t>
            </a:r>
            <a:r>
              <a:rPr lang="en-US" altLang="ja-JP" i="1" dirty="0" smtClean="0">
                <a:ea typeface="ＭＳ Ｐゴシック" panose="020B0600070205080204" pitchFamily="34" charset="-128"/>
              </a:rPr>
              <a:t>c</a:t>
            </a:r>
            <a:r>
              <a:rPr lang="en-US" altLang="ja-JP" dirty="0" smtClean="0">
                <a:ea typeface="ＭＳ Ｐゴシック" panose="020B0600070205080204" pitchFamily="34" charset="-128"/>
              </a:rPr>
              <a:t>[1]} is contained in </a:t>
            </a:r>
            <a:r>
              <a:rPr lang="en-US" altLang="ja-JP" i="1" dirty="0" smtClean="0">
                <a:ea typeface="ＭＳ Ｐゴシック" panose="020B0600070205080204" pitchFamily="34" charset="-128"/>
              </a:rPr>
              <a:t>t</a:t>
            </a:r>
            <a:r>
              <a:rPr lang="en-US" altLang="ja-JP" dirty="0" smtClean="0">
                <a:ea typeface="ＭＳ Ｐゴシック" panose="020B0600070205080204" pitchFamily="34" charset="-128"/>
              </a:rPr>
              <a:t> </a:t>
            </a:r>
            <a:r>
              <a:rPr lang="en-US" altLang="ja-JP" b="1" dirty="0" smtClean="0">
                <a:ea typeface="ＭＳ Ｐゴシック" panose="020B0600070205080204" pitchFamily="34" charset="-128"/>
              </a:rPr>
              <a:t>then</a:t>
            </a:r>
            <a:r>
              <a:rPr lang="en-US" altLang="ja-JP" dirty="0" smtClean="0">
                <a:ea typeface="ＭＳ Ｐゴシック" panose="020B0600070205080204" pitchFamily="34" charset="-128"/>
              </a:rPr>
              <a:t>		</a:t>
            </a:r>
          </a:p>
          <a:p>
            <a:pPr eaLnBrk="1" hangingPunct="1">
              <a:buFont typeface="Wingdings" panose="05000000000000000000" pitchFamily="2" charset="2"/>
              <a:buNone/>
            </a:pPr>
            <a:r>
              <a:rPr lang="en-US" altLang="ja-JP" i="1" dirty="0" smtClean="0">
                <a:ea typeface="ＭＳ Ｐゴシック" panose="020B0600070205080204" pitchFamily="34" charset="-128"/>
              </a:rPr>
              <a:t>		</a:t>
            </a:r>
            <a:r>
              <a:rPr lang="en-US" altLang="ja-JP" i="1" dirty="0" err="1" smtClean="0">
                <a:ea typeface="ＭＳ Ｐゴシック" panose="020B0600070205080204" pitchFamily="34" charset="-128"/>
              </a:rPr>
              <a:t>c</a:t>
            </a:r>
            <a:r>
              <a:rPr lang="en-US" altLang="ja-JP" dirty="0" err="1" smtClean="0">
                <a:ea typeface="ＭＳ Ｐゴシック" panose="020B0600070205080204" pitchFamily="34" charset="-128"/>
              </a:rPr>
              <a:t>.</a:t>
            </a:r>
            <a:r>
              <a:rPr lang="en-US" altLang="ja-JP" i="1" dirty="0" err="1" smtClean="0">
                <a:ea typeface="ＭＳ Ｐゴシック" panose="020B0600070205080204" pitchFamily="34" charset="-128"/>
              </a:rPr>
              <a:t>tailCount</a:t>
            </a:r>
            <a:r>
              <a:rPr lang="en-US" altLang="ja-JP" dirty="0" smtClean="0">
                <a:ea typeface="ＭＳ Ｐゴシック" panose="020B0600070205080204" pitchFamily="34" charset="-128"/>
              </a:rPr>
              <a:t>++</a:t>
            </a:r>
          </a:p>
          <a:p>
            <a:pPr eaLnBrk="1" hangingPunct="1"/>
            <a:r>
              <a:rPr lang="en-US" altLang="ja-JP" dirty="0" smtClean="0">
                <a:ea typeface="ＭＳ Ｐゴシック" panose="020B0600070205080204" pitchFamily="34" charset="-128"/>
              </a:rPr>
              <a:t>Many rules cannot be generated without them.</a:t>
            </a:r>
          </a:p>
          <a:p>
            <a:pPr eaLnBrk="1" hangingPunct="1"/>
            <a:r>
              <a:rPr lang="en-US" altLang="ja-JP" dirty="0" smtClean="0">
                <a:ea typeface="ＭＳ Ｐゴシック" panose="020B0600070205080204" pitchFamily="34" charset="-128"/>
              </a:rPr>
              <a:t>Why?	</a:t>
            </a:r>
            <a:endParaRPr lang="en-US" dirty="0" smtClean="0"/>
          </a:p>
        </p:txBody>
      </p:sp>
    </p:spTree>
    <p:extLst>
      <p:ext uri="{BB962C8B-B14F-4D97-AF65-F5344CB8AC3E}">
        <p14:creationId xmlns:p14="http://schemas.microsoft.com/office/powerpoint/2010/main" val="1960513710"/>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2"/>
          <p:cNvSpPr>
            <a:spLocks noGrp="1" noChangeArrowheads="1"/>
          </p:cNvSpPr>
          <p:nvPr>
            <p:ph type="title" idx="4294967295"/>
          </p:nvPr>
        </p:nvSpPr>
        <p:spPr>
          <a:xfrm>
            <a:off x="746449" y="1066800"/>
            <a:ext cx="8077200" cy="1143000"/>
          </a:xfrm>
        </p:spPr>
        <p:txBody>
          <a:bodyPr/>
          <a:lstStyle/>
          <a:p>
            <a:pPr eaLnBrk="1" hangingPunct="1"/>
            <a:r>
              <a:rPr lang="en-US" b="1" dirty="0" smtClean="0"/>
              <a:t>On multiple </a:t>
            </a:r>
            <a:r>
              <a:rPr lang="en-US" b="1" dirty="0" err="1" smtClean="0"/>
              <a:t>minsup</a:t>
            </a:r>
            <a:r>
              <a:rPr lang="en-US" b="1" dirty="0" smtClean="0"/>
              <a:t> rule mining</a:t>
            </a:r>
          </a:p>
        </p:txBody>
      </p:sp>
      <p:sp>
        <p:nvSpPr>
          <p:cNvPr id="52229" name="Rectangle 3"/>
          <p:cNvSpPr>
            <a:spLocks noGrp="1" noChangeArrowheads="1"/>
          </p:cNvSpPr>
          <p:nvPr>
            <p:ph type="body" idx="4294967295"/>
          </p:nvPr>
        </p:nvSpPr>
        <p:spPr>
          <a:xfrm>
            <a:off x="625150" y="2209800"/>
            <a:ext cx="10170367" cy="4648200"/>
          </a:xfrm>
        </p:spPr>
        <p:txBody>
          <a:bodyPr/>
          <a:lstStyle/>
          <a:p>
            <a:pPr eaLnBrk="1" hangingPunct="1"/>
            <a:r>
              <a:rPr lang="en-US" sz="2600" dirty="0"/>
              <a:t>Multiple </a:t>
            </a:r>
            <a:r>
              <a:rPr lang="en-US" sz="2600" dirty="0" err="1"/>
              <a:t>minsup</a:t>
            </a:r>
            <a:r>
              <a:rPr lang="en-US" sz="2600" dirty="0"/>
              <a:t> model </a:t>
            </a:r>
            <a:r>
              <a:rPr lang="en-US" sz="2600" dirty="0">
                <a:solidFill>
                  <a:srgbClr val="FF0000"/>
                </a:solidFill>
              </a:rPr>
              <a:t>subsumes</a:t>
            </a:r>
            <a:r>
              <a:rPr lang="en-US" sz="2600" dirty="0"/>
              <a:t> the single support model.</a:t>
            </a:r>
          </a:p>
          <a:p>
            <a:pPr eaLnBrk="1" hangingPunct="1"/>
            <a:r>
              <a:rPr lang="en-US" sz="2600" dirty="0"/>
              <a:t>It is a </a:t>
            </a:r>
            <a:r>
              <a:rPr lang="en-US" sz="2600" dirty="0">
                <a:solidFill>
                  <a:srgbClr val="FF0000"/>
                </a:solidFill>
              </a:rPr>
              <a:t>more realistic</a:t>
            </a:r>
            <a:r>
              <a:rPr lang="en-US" sz="2600" dirty="0"/>
              <a:t> model for practical applications.</a:t>
            </a:r>
          </a:p>
          <a:p>
            <a:pPr eaLnBrk="1" hangingPunct="1"/>
            <a:r>
              <a:rPr lang="en-US" sz="2600" dirty="0">
                <a:cs typeface="Times New Roman" panose="02020603050405020304" pitchFamily="18" charset="0"/>
              </a:rPr>
              <a:t>The model enables us to found </a:t>
            </a:r>
            <a:r>
              <a:rPr lang="en-US" sz="2600" dirty="0">
                <a:solidFill>
                  <a:srgbClr val="FF0000"/>
                </a:solidFill>
                <a:cs typeface="Times New Roman" panose="02020603050405020304" pitchFamily="18" charset="0"/>
              </a:rPr>
              <a:t>rare item rules</a:t>
            </a:r>
            <a:r>
              <a:rPr lang="en-US" sz="2600" dirty="0">
                <a:cs typeface="Times New Roman" panose="02020603050405020304" pitchFamily="18" charset="0"/>
              </a:rPr>
              <a:t> yet without producing a huge number of meaningless rules with frequent items.</a:t>
            </a:r>
          </a:p>
          <a:p>
            <a:pPr eaLnBrk="1" hangingPunct="1"/>
            <a:r>
              <a:rPr lang="en-US" sz="2600" dirty="0">
                <a:solidFill>
                  <a:srgbClr val="3333CC"/>
                </a:solidFill>
                <a:cs typeface="Times New Roman" panose="02020603050405020304" pitchFamily="18" charset="0"/>
              </a:rPr>
              <a:t>By setting MIS values of some items to 100% (or more), we effectively instruct the algorithms not to generate rules only involving these items</a:t>
            </a:r>
            <a:r>
              <a:rPr lang="en-US" sz="2600" dirty="0">
                <a:cs typeface="Times New Roman" panose="02020603050405020304" pitchFamily="18" charset="0"/>
              </a:rPr>
              <a:t>.  </a:t>
            </a:r>
          </a:p>
        </p:txBody>
      </p:sp>
    </p:spTree>
    <p:extLst>
      <p:ext uri="{BB962C8B-B14F-4D97-AF65-F5344CB8AC3E}">
        <p14:creationId xmlns:p14="http://schemas.microsoft.com/office/powerpoint/2010/main" val="300784511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2"/>
          <p:cNvSpPr>
            <a:spLocks noGrp="1" noChangeArrowheads="1"/>
          </p:cNvSpPr>
          <p:nvPr>
            <p:ph type="title" idx="4294967295"/>
          </p:nvPr>
        </p:nvSpPr>
        <p:spPr>
          <a:xfrm>
            <a:off x="0" y="365125"/>
            <a:ext cx="10515600" cy="1325563"/>
          </a:xfrm>
        </p:spPr>
        <p:txBody>
          <a:bodyPr/>
          <a:lstStyle/>
          <a:p>
            <a:pPr eaLnBrk="1" hangingPunct="1"/>
            <a:r>
              <a:rPr lang="en-US" smtClean="0"/>
              <a:t>Road map</a:t>
            </a:r>
          </a:p>
        </p:txBody>
      </p:sp>
      <p:sp>
        <p:nvSpPr>
          <p:cNvPr id="53253" name="Rectangle 3"/>
          <p:cNvSpPr>
            <a:spLocks noGrp="1" noChangeArrowheads="1"/>
          </p:cNvSpPr>
          <p:nvPr>
            <p:ph type="body" idx="4294967295"/>
          </p:nvPr>
        </p:nvSpPr>
        <p:spPr>
          <a:xfrm>
            <a:off x="0" y="1825625"/>
            <a:ext cx="10515600" cy="4351338"/>
          </a:xfrm>
        </p:spPr>
        <p:txBody>
          <a:bodyPr/>
          <a:lstStyle/>
          <a:p>
            <a:pPr eaLnBrk="1" hangingPunct="1"/>
            <a:r>
              <a:rPr lang="en-US" smtClean="0"/>
              <a:t>Basic concepts of Association Rules</a:t>
            </a:r>
          </a:p>
          <a:p>
            <a:pPr eaLnBrk="1" hangingPunct="1"/>
            <a:r>
              <a:rPr lang="en-US" smtClean="0"/>
              <a:t>Apriori algorithm</a:t>
            </a:r>
          </a:p>
          <a:p>
            <a:pPr eaLnBrk="1" hangingPunct="1"/>
            <a:r>
              <a:rPr lang="en-US" smtClean="0"/>
              <a:t>Different data formats for mining</a:t>
            </a:r>
          </a:p>
          <a:p>
            <a:pPr eaLnBrk="1" hangingPunct="1"/>
            <a:r>
              <a:rPr lang="en-US" smtClean="0"/>
              <a:t>Mining with multiple minimum supports</a:t>
            </a:r>
          </a:p>
          <a:p>
            <a:pPr eaLnBrk="1" hangingPunct="1"/>
            <a:r>
              <a:rPr lang="en-US" smtClean="0">
                <a:solidFill>
                  <a:srgbClr val="FF0000"/>
                </a:solidFill>
              </a:rPr>
              <a:t>Mining class association rules</a:t>
            </a:r>
          </a:p>
          <a:p>
            <a:pPr eaLnBrk="1" hangingPunct="1"/>
            <a:r>
              <a:rPr lang="en-US" smtClean="0"/>
              <a:t>Sequential pattern mining</a:t>
            </a:r>
          </a:p>
          <a:p>
            <a:pPr eaLnBrk="1" hangingPunct="1"/>
            <a:r>
              <a:rPr lang="en-US" smtClean="0"/>
              <a:t>Summary</a:t>
            </a:r>
          </a:p>
          <a:p>
            <a:pPr eaLnBrk="1" hangingPunct="1"/>
            <a:endParaRPr lang="en-US" smtClean="0"/>
          </a:p>
        </p:txBody>
      </p:sp>
    </p:spTree>
    <p:extLst>
      <p:ext uri="{BB962C8B-B14F-4D97-AF65-F5344CB8AC3E}">
        <p14:creationId xmlns:p14="http://schemas.microsoft.com/office/powerpoint/2010/main" val="158407836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2"/>
          <p:cNvSpPr>
            <a:spLocks noGrp="1" noChangeArrowheads="1"/>
          </p:cNvSpPr>
          <p:nvPr>
            <p:ph type="title" idx="4294967295"/>
          </p:nvPr>
        </p:nvSpPr>
        <p:spPr>
          <a:xfrm>
            <a:off x="643812" y="1018267"/>
            <a:ext cx="10515600" cy="1325563"/>
          </a:xfrm>
        </p:spPr>
        <p:txBody>
          <a:bodyPr/>
          <a:lstStyle/>
          <a:p>
            <a:pPr eaLnBrk="1" hangingPunct="1"/>
            <a:r>
              <a:rPr lang="en-US" b="1" dirty="0" smtClean="0">
                <a:solidFill>
                  <a:srgbClr val="FF0000"/>
                </a:solidFill>
              </a:rPr>
              <a:t>Mining class association rules (CAR)</a:t>
            </a:r>
          </a:p>
        </p:txBody>
      </p:sp>
      <p:sp>
        <p:nvSpPr>
          <p:cNvPr id="54277" name="Rectangle 3"/>
          <p:cNvSpPr>
            <a:spLocks noGrp="1" noChangeArrowheads="1"/>
          </p:cNvSpPr>
          <p:nvPr>
            <p:ph type="body" idx="4294967295"/>
          </p:nvPr>
        </p:nvSpPr>
        <p:spPr>
          <a:xfrm>
            <a:off x="447868" y="2063913"/>
            <a:ext cx="10711544" cy="3842365"/>
          </a:xfrm>
        </p:spPr>
        <p:txBody>
          <a:bodyPr/>
          <a:lstStyle/>
          <a:p>
            <a:pPr eaLnBrk="1" hangingPunct="1"/>
            <a:r>
              <a:rPr lang="en-US" dirty="0" smtClean="0"/>
              <a:t>Normal association rule mining does not have any target. </a:t>
            </a:r>
          </a:p>
          <a:p>
            <a:pPr eaLnBrk="1" hangingPunct="1"/>
            <a:r>
              <a:rPr lang="en-US" altLang="ja-JP" dirty="0" smtClean="0">
                <a:ea typeface="ＭＳ Ｐゴシック" panose="020B0600070205080204" pitchFamily="34" charset="-128"/>
              </a:rPr>
              <a:t>It finds all possible rules that exist in data, i.e., any item can appear as a consequent or a condition of a rule. </a:t>
            </a:r>
          </a:p>
          <a:p>
            <a:pPr eaLnBrk="1" hangingPunct="1"/>
            <a:r>
              <a:rPr lang="en-US" altLang="ja-JP" dirty="0" smtClean="0">
                <a:ea typeface="ＭＳ Ｐゴシック" panose="020B0600070205080204" pitchFamily="34" charset="-128"/>
              </a:rPr>
              <a:t>However, in some applications, the user is interested in some targets. </a:t>
            </a:r>
          </a:p>
          <a:p>
            <a:pPr lvl="1" eaLnBrk="1" hangingPunct="1"/>
            <a:r>
              <a:rPr lang="en-US" altLang="ja-JP" dirty="0" err="1" smtClean="0">
                <a:ea typeface="ＭＳ Ｐゴシック" panose="020B0600070205080204" pitchFamily="34" charset="-128"/>
              </a:rPr>
              <a:t>E.g</a:t>
            </a:r>
            <a:r>
              <a:rPr lang="en-US" altLang="ja-JP" dirty="0" smtClean="0">
                <a:ea typeface="ＭＳ Ｐゴシック" panose="020B0600070205080204" pitchFamily="34" charset="-128"/>
              </a:rPr>
              <a:t>, the user has a set of text documents from some known topics. He/she wants to find out what words are associated or correlated with each topic. </a:t>
            </a:r>
            <a:endParaRPr lang="en-US" dirty="0" smtClean="0"/>
          </a:p>
        </p:txBody>
      </p:sp>
    </p:spTree>
    <p:extLst>
      <p:ext uri="{BB962C8B-B14F-4D97-AF65-F5344CB8AC3E}">
        <p14:creationId xmlns:p14="http://schemas.microsoft.com/office/powerpoint/2010/main" val="1191362306"/>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2"/>
          <p:cNvSpPr>
            <a:spLocks noGrp="1" noChangeArrowheads="1"/>
          </p:cNvSpPr>
          <p:nvPr>
            <p:ph type="title" idx="4294967295"/>
          </p:nvPr>
        </p:nvSpPr>
        <p:spPr>
          <a:xfrm>
            <a:off x="671804" y="859648"/>
            <a:ext cx="10664889" cy="1325563"/>
          </a:xfrm>
        </p:spPr>
        <p:txBody>
          <a:bodyPr/>
          <a:lstStyle/>
          <a:p>
            <a:pPr eaLnBrk="1" hangingPunct="1"/>
            <a:r>
              <a:rPr lang="en-US" b="1" dirty="0" smtClean="0"/>
              <a:t>Problem definition</a:t>
            </a:r>
          </a:p>
        </p:txBody>
      </p:sp>
      <p:sp>
        <p:nvSpPr>
          <p:cNvPr id="55301" name="Rectangle 3"/>
          <p:cNvSpPr>
            <a:spLocks noGrp="1" noChangeArrowheads="1"/>
          </p:cNvSpPr>
          <p:nvPr>
            <p:ph type="body" idx="4294967295"/>
          </p:nvPr>
        </p:nvSpPr>
        <p:spPr>
          <a:xfrm>
            <a:off x="597159" y="1995488"/>
            <a:ext cx="10086392" cy="4862512"/>
          </a:xfrm>
        </p:spPr>
        <p:txBody>
          <a:bodyPr/>
          <a:lstStyle/>
          <a:p>
            <a:pPr eaLnBrk="1" hangingPunct="1"/>
            <a:r>
              <a:rPr lang="en-US" altLang="ja-JP" sz="2600" dirty="0">
                <a:ea typeface="ＭＳ Ｐゴシック" panose="020B0600070205080204" pitchFamily="34" charset="-128"/>
              </a:rPr>
              <a:t>Let </a:t>
            </a:r>
            <a:r>
              <a:rPr lang="en-US" altLang="ja-JP" sz="2600" i="1" dirty="0">
                <a:ea typeface="ＭＳ Ｐゴシック" panose="020B0600070205080204" pitchFamily="34" charset="-128"/>
              </a:rPr>
              <a:t>T</a:t>
            </a:r>
            <a:r>
              <a:rPr lang="en-US" altLang="ja-JP" sz="2600" dirty="0">
                <a:ea typeface="ＭＳ Ｐゴシック" panose="020B0600070205080204" pitchFamily="34" charset="-128"/>
              </a:rPr>
              <a:t> be a transaction data set consisting of </a:t>
            </a:r>
            <a:r>
              <a:rPr lang="en-US" altLang="ja-JP" sz="2600" i="1" dirty="0">
                <a:ea typeface="ＭＳ Ｐゴシック" panose="020B0600070205080204" pitchFamily="34" charset="-128"/>
              </a:rPr>
              <a:t>n</a:t>
            </a:r>
            <a:r>
              <a:rPr lang="en-US" altLang="ja-JP" sz="2600" dirty="0">
                <a:ea typeface="ＭＳ Ｐゴシック" panose="020B0600070205080204" pitchFamily="34" charset="-128"/>
              </a:rPr>
              <a:t> transactions. </a:t>
            </a:r>
          </a:p>
          <a:p>
            <a:pPr eaLnBrk="1" hangingPunct="1"/>
            <a:r>
              <a:rPr lang="en-US" altLang="ja-JP" sz="2600" dirty="0">
                <a:ea typeface="ＭＳ Ｐゴシック" panose="020B0600070205080204" pitchFamily="34" charset="-128"/>
              </a:rPr>
              <a:t>Each transaction is also labeled with a class </a:t>
            </a:r>
            <a:r>
              <a:rPr lang="en-US" altLang="ja-JP" sz="2600" i="1" dirty="0">
                <a:ea typeface="ＭＳ Ｐゴシック" panose="020B0600070205080204" pitchFamily="34" charset="-128"/>
              </a:rPr>
              <a:t>y</a:t>
            </a:r>
            <a:r>
              <a:rPr lang="en-US" altLang="ja-JP" sz="2600" dirty="0">
                <a:ea typeface="ＭＳ Ｐゴシック" panose="020B0600070205080204" pitchFamily="34" charset="-128"/>
              </a:rPr>
              <a:t>. </a:t>
            </a:r>
          </a:p>
          <a:p>
            <a:pPr eaLnBrk="1" hangingPunct="1"/>
            <a:r>
              <a:rPr lang="en-US" altLang="ja-JP" sz="2600" dirty="0">
                <a:ea typeface="ＭＳ Ｐゴシック" panose="020B0600070205080204" pitchFamily="34" charset="-128"/>
              </a:rPr>
              <a:t>Let </a:t>
            </a:r>
            <a:r>
              <a:rPr lang="en-US" altLang="ja-JP" sz="2600" i="1" dirty="0">
                <a:ea typeface="ＭＳ Ｐゴシック" panose="020B0600070205080204" pitchFamily="34" charset="-128"/>
              </a:rPr>
              <a:t>I</a:t>
            </a:r>
            <a:r>
              <a:rPr lang="en-US" altLang="ja-JP" sz="2600" dirty="0">
                <a:ea typeface="ＭＳ Ｐゴシック" panose="020B0600070205080204" pitchFamily="34" charset="-128"/>
              </a:rPr>
              <a:t> be the set of all items in </a:t>
            </a:r>
            <a:r>
              <a:rPr lang="en-US" altLang="ja-JP" sz="2600" i="1" dirty="0">
                <a:ea typeface="ＭＳ Ｐゴシック" panose="020B0600070205080204" pitchFamily="34" charset="-128"/>
              </a:rPr>
              <a:t>T</a:t>
            </a:r>
            <a:r>
              <a:rPr lang="en-US" altLang="ja-JP" sz="2600" dirty="0">
                <a:ea typeface="ＭＳ Ｐゴシック" panose="020B0600070205080204" pitchFamily="34" charset="-128"/>
              </a:rPr>
              <a:t>, </a:t>
            </a:r>
            <a:r>
              <a:rPr lang="en-US" altLang="ja-JP" sz="2600" i="1" dirty="0">
                <a:ea typeface="ＭＳ Ｐゴシック" panose="020B0600070205080204" pitchFamily="34" charset="-128"/>
              </a:rPr>
              <a:t>Y</a:t>
            </a:r>
            <a:r>
              <a:rPr lang="en-US" altLang="ja-JP" sz="2600" dirty="0">
                <a:ea typeface="ＭＳ Ｐゴシック" panose="020B0600070205080204" pitchFamily="34" charset="-128"/>
              </a:rPr>
              <a:t> be the set of all class labels and </a:t>
            </a:r>
            <a:r>
              <a:rPr lang="en-US" altLang="ja-JP" sz="2600" i="1" dirty="0">
                <a:ea typeface="ＭＳ Ｐゴシック" panose="020B0600070205080204" pitchFamily="34" charset="-128"/>
              </a:rPr>
              <a:t>I </a:t>
            </a:r>
            <a:r>
              <a:rPr lang="en-US" altLang="ja-JP" sz="2600" dirty="0">
                <a:ea typeface="ＭＳ Ｐゴシック" panose="020B0600070205080204" pitchFamily="34" charset="-128"/>
                <a:sym typeface="Symbol" panose="05050102010706020507" pitchFamily="18" charset="2"/>
              </a:rPr>
              <a:t></a:t>
            </a:r>
            <a:r>
              <a:rPr lang="en-US" altLang="ja-JP" sz="2600" i="1" dirty="0">
                <a:ea typeface="ＭＳ Ｐゴシック" panose="020B0600070205080204" pitchFamily="34" charset="-128"/>
              </a:rPr>
              <a:t> Y = </a:t>
            </a:r>
            <a:r>
              <a:rPr lang="en-US" altLang="ja-JP" sz="2600" dirty="0">
                <a:ea typeface="ＭＳ Ｐゴシック" panose="020B0600070205080204" pitchFamily="34" charset="-128"/>
                <a:sym typeface="Symbol" panose="05050102010706020507" pitchFamily="18" charset="2"/>
              </a:rPr>
              <a:t></a:t>
            </a:r>
            <a:r>
              <a:rPr lang="en-US" altLang="ja-JP" sz="2600" dirty="0">
                <a:ea typeface="ＭＳ Ｐゴシック" panose="020B0600070205080204" pitchFamily="34" charset="-128"/>
              </a:rPr>
              <a:t>. </a:t>
            </a:r>
          </a:p>
          <a:p>
            <a:pPr eaLnBrk="1" hangingPunct="1"/>
            <a:r>
              <a:rPr lang="en-US" altLang="ja-JP" sz="2600" dirty="0">
                <a:ea typeface="ＭＳ Ｐゴシック" panose="020B0600070205080204" pitchFamily="34" charset="-128"/>
              </a:rPr>
              <a:t>A </a:t>
            </a:r>
            <a:r>
              <a:rPr lang="en-US" altLang="ja-JP" sz="2600" b="1" dirty="0">
                <a:ea typeface="ＭＳ Ｐゴシック" panose="020B0600070205080204" pitchFamily="34" charset="-128"/>
              </a:rPr>
              <a:t>class association rule</a:t>
            </a:r>
            <a:r>
              <a:rPr lang="en-US" altLang="ja-JP" sz="2600" dirty="0">
                <a:ea typeface="ＭＳ Ｐゴシック" panose="020B0600070205080204" pitchFamily="34" charset="-128"/>
              </a:rPr>
              <a:t> (</a:t>
            </a:r>
            <a:r>
              <a:rPr lang="en-US" altLang="ja-JP" sz="2600" b="1" dirty="0">
                <a:ea typeface="ＭＳ Ｐゴシック" panose="020B0600070205080204" pitchFamily="34" charset="-128"/>
              </a:rPr>
              <a:t>CAR</a:t>
            </a:r>
            <a:r>
              <a:rPr lang="en-US" altLang="ja-JP" sz="2600" dirty="0">
                <a:ea typeface="ＭＳ Ｐゴシック" panose="020B0600070205080204" pitchFamily="34" charset="-128"/>
              </a:rPr>
              <a:t>) is an implication of the form </a:t>
            </a:r>
            <a:endParaRPr lang="en-US" altLang="ja-JP" sz="2600" i="1" dirty="0">
              <a:ea typeface="ＭＳ Ｐゴシック" panose="020B0600070205080204" pitchFamily="34" charset="-128"/>
            </a:endParaRPr>
          </a:p>
          <a:p>
            <a:pPr eaLnBrk="1" hangingPunct="1">
              <a:buFont typeface="Wingdings" panose="05000000000000000000" pitchFamily="2" charset="2"/>
              <a:buNone/>
            </a:pPr>
            <a:r>
              <a:rPr lang="en-US" altLang="ja-JP" sz="2600" i="1" dirty="0">
                <a:ea typeface="ＭＳ Ｐゴシック" panose="020B0600070205080204" pitchFamily="34" charset="-128"/>
              </a:rPr>
              <a:t>		X</a:t>
            </a:r>
            <a:r>
              <a:rPr lang="en-US" altLang="ja-JP" sz="2600" dirty="0">
                <a:ea typeface="ＭＳ Ｐゴシック" panose="020B0600070205080204" pitchFamily="34" charset="-128"/>
              </a:rPr>
              <a:t> </a:t>
            </a:r>
            <a:r>
              <a:rPr lang="en-US" altLang="ja-JP" sz="2600" dirty="0">
                <a:ea typeface="ＭＳ Ｐゴシック" panose="020B0600070205080204" pitchFamily="34" charset="-128"/>
                <a:sym typeface="Symbol" panose="05050102010706020507" pitchFamily="18" charset="2"/>
              </a:rPr>
              <a:t></a:t>
            </a:r>
            <a:r>
              <a:rPr lang="en-US" altLang="ja-JP" sz="2600" dirty="0">
                <a:ea typeface="ＭＳ Ｐゴシック" panose="020B0600070205080204" pitchFamily="34" charset="-128"/>
              </a:rPr>
              <a:t> </a:t>
            </a:r>
            <a:r>
              <a:rPr lang="en-US" altLang="ja-JP" sz="2600" i="1" dirty="0">
                <a:ea typeface="ＭＳ Ｐゴシック" panose="020B0600070205080204" pitchFamily="34" charset="-128"/>
              </a:rPr>
              <a:t>y</a:t>
            </a:r>
            <a:r>
              <a:rPr lang="en-US" altLang="ja-JP" sz="2600" dirty="0">
                <a:ea typeface="ＭＳ Ｐゴシック" panose="020B0600070205080204" pitchFamily="34" charset="-128"/>
              </a:rPr>
              <a:t>, where </a:t>
            </a:r>
            <a:r>
              <a:rPr lang="en-US" altLang="ja-JP" sz="2600" i="1" dirty="0">
                <a:ea typeface="ＭＳ Ｐゴシック" panose="020B0600070205080204" pitchFamily="34" charset="-128"/>
              </a:rPr>
              <a:t>X</a:t>
            </a:r>
            <a:r>
              <a:rPr lang="en-US" altLang="ja-JP" sz="2600" dirty="0">
                <a:ea typeface="ＭＳ Ｐゴシック" panose="020B0600070205080204" pitchFamily="34" charset="-128"/>
              </a:rPr>
              <a:t> </a:t>
            </a:r>
            <a:r>
              <a:rPr lang="en-US" altLang="ja-JP" sz="2600" dirty="0">
                <a:ea typeface="ＭＳ Ｐゴシック" panose="020B0600070205080204" pitchFamily="34" charset="-128"/>
                <a:sym typeface="Symbol" panose="05050102010706020507" pitchFamily="18" charset="2"/>
              </a:rPr>
              <a:t></a:t>
            </a:r>
            <a:r>
              <a:rPr lang="en-US" altLang="ja-JP" sz="2600" dirty="0">
                <a:ea typeface="ＭＳ Ｐゴシック" panose="020B0600070205080204" pitchFamily="34" charset="-128"/>
              </a:rPr>
              <a:t> </a:t>
            </a:r>
            <a:r>
              <a:rPr lang="en-US" altLang="ja-JP" sz="2600" i="1" dirty="0">
                <a:ea typeface="ＭＳ Ｐゴシック" panose="020B0600070205080204" pitchFamily="34" charset="-128"/>
              </a:rPr>
              <a:t>I</a:t>
            </a:r>
            <a:r>
              <a:rPr lang="en-US" altLang="ja-JP" sz="2600" dirty="0">
                <a:ea typeface="ＭＳ Ｐゴシック" panose="020B0600070205080204" pitchFamily="34" charset="-128"/>
              </a:rPr>
              <a:t>, and </a:t>
            </a:r>
            <a:r>
              <a:rPr lang="en-US" altLang="ja-JP" sz="2600" i="1" dirty="0">
                <a:ea typeface="ＭＳ Ｐゴシック" panose="020B0600070205080204" pitchFamily="34" charset="-128"/>
              </a:rPr>
              <a:t>y</a:t>
            </a:r>
            <a:r>
              <a:rPr lang="en-US" altLang="ja-JP" sz="2600" dirty="0">
                <a:ea typeface="ＭＳ Ｐゴシック" panose="020B0600070205080204" pitchFamily="34" charset="-128"/>
              </a:rPr>
              <a:t> </a:t>
            </a:r>
            <a:r>
              <a:rPr lang="en-US" altLang="ja-JP" sz="2600" dirty="0">
                <a:ea typeface="ＭＳ Ｐゴシック" panose="020B0600070205080204" pitchFamily="34" charset="-128"/>
                <a:sym typeface="Symbol" panose="05050102010706020507" pitchFamily="18" charset="2"/>
              </a:rPr>
              <a:t></a:t>
            </a:r>
            <a:r>
              <a:rPr lang="en-US" altLang="ja-JP" sz="2600" dirty="0">
                <a:ea typeface="ＭＳ Ｐゴシック" panose="020B0600070205080204" pitchFamily="34" charset="-128"/>
              </a:rPr>
              <a:t> </a:t>
            </a:r>
            <a:r>
              <a:rPr lang="en-US" altLang="ja-JP" sz="2600" i="1" dirty="0">
                <a:ea typeface="ＭＳ Ｐゴシック" panose="020B0600070205080204" pitchFamily="34" charset="-128"/>
              </a:rPr>
              <a:t>Y</a:t>
            </a:r>
            <a:r>
              <a:rPr lang="en-US" altLang="ja-JP" sz="2600" dirty="0">
                <a:ea typeface="ＭＳ Ｐゴシック" panose="020B0600070205080204" pitchFamily="34" charset="-128"/>
              </a:rPr>
              <a:t>. </a:t>
            </a:r>
          </a:p>
          <a:p>
            <a:pPr eaLnBrk="1" hangingPunct="1"/>
            <a:r>
              <a:rPr lang="en-US" altLang="ja-JP" sz="2600" dirty="0">
                <a:ea typeface="ＭＳ Ｐゴシック" panose="020B0600070205080204" pitchFamily="34" charset="-128"/>
              </a:rPr>
              <a:t>The definitions of </a:t>
            </a:r>
            <a:r>
              <a:rPr lang="en-US" altLang="ja-JP" sz="2600" b="1" dirty="0">
                <a:ea typeface="ＭＳ Ｐゴシック" panose="020B0600070205080204" pitchFamily="34" charset="-128"/>
              </a:rPr>
              <a:t>support</a:t>
            </a:r>
            <a:r>
              <a:rPr lang="en-US" altLang="ja-JP" sz="2600" dirty="0">
                <a:ea typeface="ＭＳ Ｐゴシック" panose="020B0600070205080204" pitchFamily="34" charset="-128"/>
              </a:rPr>
              <a:t> and </a:t>
            </a:r>
            <a:r>
              <a:rPr lang="en-US" altLang="ja-JP" sz="2600" b="1" dirty="0">
                <a:ea typeface="ＭＳ Ｐゴシック" panose="020B0600070205080204" pitchFamily="34" charset="-128"/>
              </a:rPr>
              <a:t>confidence</a:t>
            </a:r>
            <a:r>
              <a:rPr lang="en-US" altLang="ja-JP" sz="2600" dirty="0">
                <a:ea typeface="ＭＳ Ｐゴシック" panose="020B0600070205080204" pitchFamily="34" charset="-128"/>
              </a:rPr>
              <a:t> are the same as those for normal association rules. </a:t>
            </a:r>
            <a:endParaRPr lang="en-US" sz="2600" dirty="0"/>
          </a:p>
        </p:txBody>
      </p:sp>
    </p:spTree>
    <p:extLst>
      <p:ext uri="{BB962C8B-B14F-4D97-AF65-F5344CB8AC3E}">
        <p14:creationId xmlns:p14="http://schemas.microsoft.com/office/powerpoint/2010/main" val="3627791708"/>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Rectangle 2"/>
          <p:cNvSpPr>
            <a:spLocks noGrp="1" noChangeArrowheads="1"/>
          </p:cNvSpPr>
          <p:nvPr>
            <p:ph type="title" idx="4294967295"/>
          </p:nvPr>
        </p:nvSpPr>
        <p:spPr>
          <a:xfrm>
            <a:off x="1156996" y="551737"/>
            <a:ext cx="10515600" cy="1325563"/>
          </a:xfrm>
        </p:spPr>
        <p:txBody>
          <a:bodyPr/>
          <a:lstStyle/>
          <a:p>
            <a:pPr eaLnBrk="1" hangingPunct="1"/>
            <a:r>
              <a:rPr lang="en-US" b="1" dirty="0" smtClean="0"/>
              <a:t>An example</a:t>
            </a:r>
          </a:p>
        </p:txBody>
      </p:sp>
      <p:sp>
        <p:nvSpPr>
          <p:cNvPr id="56325" name="Rectangle 3"/>
          <p:cNvSpPr>
            <a:spLocks noGrp="1" noChangeArrowheads="1"/>
          </p:cNvSpPr>
          <p:nvPr>
            <p:ph type="body" idx="4294967295"/>
          </p:nvPr>
        </p:nvSpPr>
        <p:spPr>
          <a:xfrm>
            <a:off x="1278294" y="1700019"/>
            <a:ext cx="8229600" cy="4862512"/>
          </a:xfrm>
        </p:spPr>
        <p:txBody>
          <a:bodyPr>
            <a:normAutofit lnSpcReduction="10000"/>
          </a:bodyPr>
          <a:lstStyle/>
          <a:p>
            <a:pPr eaLnBrk="1" hangingPunct="1">
              <a:lnSpc>
                <a:spcPct val="90000"/>
              </a:lnSpc>
            </a:pPr>
            <a:r>
              <a:rPr lang="en-US" altLang="ja-JP" sz="2100" b="1" dirty="0">
                <a:ea typeface="ＭＳ Ｐゴシック" panose="020B0600070205080204" pitchFamily="34" charset="-128"/>
              </a:rPr>
              <a:t>A text document data set</a:t>
            </a:r>
            <a:endParaRPr lang="en-US" altLang="ja-JP" sz="2100" dirty="0">
              <a:ea typeface="ＭＳ Ｐゴシック" panose="020B0600070205080204" pitchFamily="34" charset="-128"/>
            </a:endParaRPr>
          </a:p>
          <a:p>
            <a:pPr eaLnBrk="1" hangingPunct="1">
              <a:lnSpc>
                <a:spcPct val="90000"/>
              </a:lnSpc>
              <a:buFont typeface="Wingdings" panose="05000000000000000000" pitchFamily="2" charset="2"/>
              <a:buNone/>
            </a:pPr>
            <a:r>
              <a:rPr lang="en-US" altLang="ja-JP" sz="2100" dirty="0">
                <a:ea typeface="ＭＳ Ｐゴシック" panose="020B0600070205080204" pitchFamily="34" charset="-128"/>
              </a:rPr>
              <a:t>	doc 1: 	Student, Teach, School 	 : Education</a:t>
            </a:r>
          </a:p>
          <a:p>
            <a:pPr eaLnBrk="1" hangingPunct="1">
              <a:lnSpc>
                <a:spcPct val="90000"/>
              </a:lnSpc>
              <a:buFont typeface="Wingdings" panose="05000000000000000000" pitchFamily="2" charset="2"/>
              <a:buNone/>
            </a:pPr>
            <a:r>
              <a:rPr lang="en-US" altLang="ja-JP" sz="2100" dirty="0">
                <a:ea typeface="ＭＳ Ｐゴシック" panose="020B0600070205080204" pitchFamily="34" charset="-128"/>
              </a:rPr>
              <a:t>	doc 2: 	Student, School 		 : Education 	</a:t>
            </a:r>
          </a:p>
          <a:p>
            <a:pPr eaLnBrk="1" hangingPunct="1">
              <a:lnSpc>
                <a:spcPct val="90000"/>
              </a:lnSpc>
              <a:buFont typeface="Wingdings" panose="05000000000000000000" pitchFamily="2" charset="2"/>
              <a:buNone/>
            </a:pPr>
            <a:r>
              <a:rPr lang="en-US" altLang="ja-JP" sz="2100" dirty="0">
                <a:ea typeface="ＭＳ Ｐゴシック" panose="020B0600070205080204" pitchFamily="34" charset="-128"/>
              </a:rPr>
              <a:t>	doc 3: 	Teach, School, City, Game 	 : Education</a:t>
            </a:r>
          </a:p>
          <a:p>
            <a:pPr eaLnBrk="1" hangingPunct="1">
              <a:lnSpc>
                <a:spcPct val="90000"/>
              </a:lnSpc>
              <a:buFont typeface="Wingdings" panose="05000000000000000000" pitchFamily="2" charset="2"/>
              <a:buNone/>
            </a:pPr>
            <a:r>
              <a:rPr lang="en-US" altLang="ja-JP" sz="2100" dirty="0">
                <a:ea typeface="ＭＳ Ｐゴシック" panose="020B0600070205080204" pitchFamily="34" charset="-128"/>
              </a:rPr>
              <a:t>	doc 4: 	Baseball, Basketball		 : Sport</a:t>
            </a:r>
          </a:p>
          <a:p>
            <a:pPr eaLnBrk="1" hangingPunct="1">
              <a:lnSpc>
                <a:spcPct val="90000"/>
              </a:lnSpc>
              <a:buFont typeface="Wingdings" panose="05000000000000000000" pitchFamily="2" charset="2"/>
              <a:buNone/>
            </a:pPr>
            <a:r>
              <a:rPr lang="en-US" altLang="ja-JP" sz="2100" dirty="0">
                <a:ea typeface="ＭＳ Ｐゴシック" panose="020B0600070205080204" pitchFamily="34" charset="-128"/>
              </a:rPr>
              <a:t>	doc 5: 	Basketball, Player, Spectator  	 : Sport</a:t>
            </a:r>
          </a:p>
          <a:p>
            <a:pPr eaLnBrk="1" hangingPunct="1">
              <a:lnSpc>
                <a:spcPct val="90000"/>
              </a:lnSpc>
              <a:buFont typeface="Wingdings" panose="05000000000000000000" pitchFamily="2" charset="2"/>
              <a:buNone/>
            </a:pPr>
            <a:r>
              <a:rPr lang="en-US" altLang="ja-JP" sz="2100" dirty="0">
                <a:ea typeface="ＭＳ Ｐゴシック" panose="020B0600070205080204" pitchFamily="34" charset="-128"/>
              </a:rPr>
              <a:t>	doc 6: 	Baseball, Coach, Game, Team : Sport</a:t>
            </a:r>
          </a:p>
          <a:p>
            <a:pPr eaLnBrk="1" hangingPunct="1">
              <a:lnSpc>
                <a:spcPct val="90000"/>
              </a:lnSpc>
              <a:buFont typeface="Wingdings" panose="05000000000000000000" pitchFamily="2" charset="2"/>
              <a:buNone/>
            </a:pPr>
            <a:r>
              <a:rPr lang="en-US" altLang="ja-JP" sz="2100" dirty="0">
                <a:ea typeface="ＭＳ Ｐゴシック" panose="020B0600070205080204" pitchFamily="34" charset="-128"/>
              </a:rPr>
              <a:t>	doc 7: 	Basketball, Team, City, Game 	 : Sport</a:t>
            </a:r>
          </a:p>
          <a:p>
            <a:pPr eaLnBrk="1" hangingPunct="1">
              <a:lnSpc>
                <a:spcPct val="90000"/>
              </a:lnSpc>
              <a:buFont typeface="Wingdings" panose="05000000000000000000" pitchFamily="2" charset="2"/>
              <a:buNone/>
            </a:pPr>
            <a:endParaRPr lang="en-US" altLang="ja-JP" sz="2100" b="1" dirty="0">
              <a:ea typeface="ＭＳ Ｐゴシック" panose="020B0600070205080204" pitchFamily="34" charset="-128"/>
            </a:endParaRPr>
          </a:p>
          <a:p>
            <a:pPr eaLnBrk="1" hangingPunct="1">
              <a:lnSpc>
                <a:spcPct val="90000"/>
              </a:lnSpc>
            </a:pPr>
            <a:r>
              <a:rPr lang="en-US" altLang="ja-JP" sz="2100" dirty="0">
                <a:ea typeface="ＭＳ Ｐゴシック" panose="020B0600070205080204" pitchFamily="34" charset="-128"/>
              </a:rPr>
              <a:t>Let </a:t>
            </a:r>
            <a:r>
              <a:rPr lang="en-US" altLang="ja-JP" sz="2100" i="1" dirty="0" err="1">
                <a:ea typeface="ＭＳ Ｐゴシック" panose="020B0600070205080204" pitchFamily="34" charset="-128"/>
              </a:rPr>
              <a:t>minsup</a:t>
            </a:r>
            <a:r>
              <a:rPr lang="en-US" altLang="ja-JP" sz="2100" dirty="0">
                <a:ea typeface="ＭＳ Ｐゴシック" panose="020B0600070205080204" pitchFamily="34" charset="-128"/>
              </a:rPr>
              <a:t> = 20% and </a:t>
            </a:r>
            <a:r>
              <a:rPr lang="en-US" altLang="ja-JP" sz="2100" i="1" dirty="0" err="1">
                <a:ea typeface="ＭＳ Ｐゴシック" panose="020B0600070205080204" pitchFamily="34" charset="-128"/>
              </a:rPr>
              <a:t>minconf</a:t>
            </a:r>
            <a:r>
              <a:rPr lang="en-US" altLang="ja-JP" sz="2100" dirty="0">
                <a:ea typeface="ＭＳ Ｐゴシック" panose="020B0600070205080204" pitchFamily="34" charset="-128"/>
              </a:rPr>
              <a:t> = 60%. The following are two examples of class association rules:</a:t>
            </a:r>
          </a:p>
          <a:p>
            <a:pPr eaLnBrk="1" hangingPunct="1">
              <a:lnSpc>
                <a:spcPct val="90000"/>
              </a:lnSpc>
              <a:buFont typeface="Wingdings" panose="05000000000000000000" pitchFamily="2" charset="2"/>
              <a:buNone/>
            </a:pPr>
            <a:r>
              <a:rPr lang="en-US" altLang="ja-JP" sz="2100" dirty="0">
                <a:ea typeface="ＭＳ Ｐゴシック" panose="020B0600070205080204" pitchFamily="34" charset="-128"/>
              </a:rPr>
              <a:t>		Student, School </a:t>
            </a:r>
            <a:r>
              <a:rPr lang="en-US" altLang="ja-JP" sz="2100" dirty="0">
                <a:ea typeface="ＭＳ Ｐゴシック" panose="020B0600070205080204" pitchFamily="34" charset="-128"/>
                <a:sym typeface="Symbol" panose="05050102010706020507" pitchFamily="18" charset="2"/>
              </a:rPr>
              <a:t></a:t>
            </a:r>
            <a:r>
              <a:rPr lang="en-US" altLang="ja-JP" sz="2100" dirty="0">
                <a:ea typeface="ＭＳ Ｐゴシック" panose="020B0600070205080204" pitchFamily="34" charset="-128"/>
              </a:rPr>
              <a:t> Education	[sup= 2/7, </a:t>
            </a:r>
            <a:r>
              <a:rPr lang="en-US" altLang="ja-JP" sz="2100" dirty="0" err="1">
                <a:ea typeface="ＭＳ Ｐゴシック" panose="020B0600070205080204" pitchFamily="34" charset="-128"/>
              </a:rPr>
              <a:t>conf</a:t>
            </a:r>
            <a:r>
              <a:rPr lang="en-US" altLang="ja-JP" sz="2100" dirty="0">
                <a:ea typeface="ＭＳ Ｐゴシック" panose="020B0600070205080204" pitchFamily="34" charset="-128"/>
              </a:rPr>
              <a:t> = 2/2]</a:t>
            </a:r>
          </a:p>
          <a:p>
            <a:pPr eaLnBrk="1" hangingPunct="1">
              <a:lnSpc>
                <a:spcPct val="90000"/>
              </a:lnSpc>
              <a:buFont typeface="Wingdings" panose="05000000000000000000" pitchFamily="2" charset="2"/>
              <a:buNone/>
            </a:pPr>
            <a:r>
              <a:rPr lang="en-US" altLang="ja-JP" sz="2100" dirty="0">
                <a:ea typeface="ＭＳ Ｐゴシック" panose="020B0600070205080204" pitchFamily="34" charset="-128"/>
              </a:rPr>
              <a:t>		game </a:t>
            </a:r>
            <a:r>
              <a:rPr lang="en-US" altLang="ja-JP" sz="2100" dirty="0">
                <a:ea typeface="ＭＳ Ｐゴシック" panose="020B0600070205080204" pitchFamily="34" charset="-128"/>
                <a:sym typeface="Symbol" panose="05050102010706020507" pitchFamily="18" charset="2"/>
              </a:rPr>
              <a:t></a:t>
            </a:r>
            <a:r>
              <a:rPr lang="en-US" altLang="ja-JP" sz="2100" dirty="0">
                <a:ea typeface="ＭＳ Ｐゴシック" panose="020B0600070205080204" pitchFamily="34" charset="-128"/>
              </a:rPr>
              <a:t> Sport</a:t>
            </a:r>
            <a:r>
              <a:rPr lang="en-US" altLang="ja-JP" sz="2100" i="1" dirty="0">
                <a:ea typeface="ＭＳ Ｐゴシック" panose="020B0600070205080204" pitchFamily="34" charset="-128"/>
              </a:rPr>
              <a:t>			</a:t>
            </a:r>
            <a:r>
              <a:rPr lang="en-US" altLang="ja-JP" sz="2100" dirty="0">
                <a:ea typeface="ＭＳ Ｐゴシック" panose="020B0600070205080204" pitchFamily="34" charset="-128"/>
              </a:rPr>
              <a:t>[sup= 2/7, </a:t>
            </a:r>
            <a:r>
              <a:rPr lang="en-US" altLang="ja-JP" sz="2100" dirty="0" err="1">
                <a:ea typeface="ＭＳ Ｐゴシック" panose="020B0600070205080204" pitchFamily="34" charset="-128"/>
              </a:rPr>
              <a:t>conf</a:t>
            </a:r>
            <a:r>
              <a:rPr lang="en-US" altLang="ja-JP" sz="2100" dirty="0">
                <a:ea typeface="ＭＳ Ｐゴシック" panose="020B0600070205080204" pitchFamily="34" charset="-128"/>
              </a:rPr>
              <a:t> = 2/3] </a:t>
            </a:r>
            <a:endParaRPr lang="en-US" sz="2100" dirty="0"/>
          </a:p>
        </p:txBody>
      </p:sp>
    </p:spTree>
    <p:extLst>
      <p:ext uri="{BB962C8B-B14F-4D97-AF65-F5344CB8AC3E}">
        <p14:creationId xmlns:p14="http://schemas.microsoft.com/office/powerpoint/2010/main" val="381535144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8" name="Rectangle 2"/>
          <p:cNvSpPr>
            <a:spLocks noGrp="1" noChangeArrowheads="1"/>
          </p:cNvSpPr>
          <p:nvPr>
            <p:ph type="title" idx="4294967295"/>
          </p:nvPr>
        </p:nvSpPr>
        <p:spPr>
          <a:xfrm>
            <a:off x="1017037" y="738350"/>
            <a:ext cx="10515600" cy="1325563"/>
          </a:xfrm>
        </p:spPr>
        <p:txBody>
          <a:bodyPr/>
          <a:lstStyle/>
          <a:p>
            <a:pPr eaLnBrk="1" hangingPunct="1"/>
            <a:r>
              <a:rPr lang="en-US" b="1" dirty="0" smtClean="0">
                <a:solidFill>
                  <a:srgbClr val="FF0000"/>
                </a:solidFill>
              </a:rPr>
              <a:t>Mining algorithm</a:t>
            </a:r>
          </a:p>
        </p:txBody>
      </p:sp>
      <p:sp>
        <p:nvSpPr>
          <p:cNvPr id="57349" name="Rectangle 3"/>
          <p:cNvSpPr>
            <a:spLocks noGrp="1" noChangeArrowheads="1"/>
          </p:cNvSpPr>
          <p:nvPr>
            <p:ph type="body" idx="4294967295"/>
          </p:nvPr>
        </p:nvSpPr>
        <p:spPr>
          <a:xfrm>
            <a:off x="774441" y="1821317"/>
            <a:ext cx="10758196" cy="4897437"/>
          </a:xfrm>
        </p:spPr>
        <p:txBody>
          <a:bodyPr/>
          <a:lstStyle/>
          <a:p>
            <a:pPr eaLnBrk="1" hangingPunct="1">
              <a:lnSpc>
                <a:spcPct val="90000"/>
              </a:lnSpc>
            </a:pPr>
            <a:r>
              <a:rPr lang="en-US" altLang="ja-JP" sz="2600" dirty="0">
                <a:ea typeface="ＭＳ Ｐゴシック" panose="020B0600070205080204" pitchFamily="34" charset="-128"/>
              </a:rPr>
              <a:t>Unlike normal association rules, CARs can be mined directly in one step. </a:t>
            </a:r>
          </a:p>
          <a:p>
            <a:pPr eaLnBrk="1" hangingPunct="1">
              <a:lnSpc>
                <a:spcPct val="90000"/>
              </a:lnSpc>
            </a:pPr>
            <a:r>
              <a:rPr lang="en-US" altLang="ja-JP" sz="2600" dirty="0">
                <a:ea typeface="ＭＳ Ｐゴシック" panose="020B0600070205080204" pitchFamily="34" charset="-128"/>
              </a:rPr>
              <a:t>The key operation is to find all </a:t>
            </a:r>
            <a:r>
              <a:rPr lang="en-US" altLang="ja-JP" sz="2600" b="1" dirty="0" err="1">
                <a:ea typeface="ＭＳ Ｐゴシック" panose="020B0600070205080204" pitchFamily="34" charset="-128"/>
              </a:rPr>
              <a:t>ruleitems</a:t>
            </a:r>
            <a:r>
              <a:rPr lang="en-US" altLang="ja-JP" sz="2600" dirty="0">
                <a:ea typeface="ＭＳ Ｐゴシック" panose="020B0600070205080204" pitchFamily="34" charset="-128"/>
              </a:rPr>
              <a:t> that have support above </a:t>
            </a:r>
            <a:r>
              <a:rPr lang="en-US" altLang="ja-JP" sz="2600" i="1" dirty="0" err="1">
                <a:ea typeface="ＭＳ Ｐゴシック" panose="020B0600070205080204" pitchFamily="34" charset="-128"/>
              </a:rPr>
              <a:t>minsup</a:t>
            </a:r>
            <a:r>
              <a:rPr lang="en-US" altLang="ja-JP" sz="2600" dirty="0">
                <a:ea typeface="ＭＳ Ｐゴシック" panose="020B0600070205080204" pitchFamily="34" charset="-128"/>
              </a:rPr>
              <a:t>. A </a:t>
            </a:r>
            <a:r>
              <a:rPr lang="en-US" altLang="ja-JP" sz="2600" b="1" dirty="0" err="1">
                <a:ea typeface="ＭＳ Ｐゴシック" panose="020B0600070205080204" pitchFamily="34" charset="-128"/>
              </a:rPr>
              <a:t>ruleitem</a:t>
            </a:r>
            <a:r>
              <a:rPr lang="en-US" altLang="ja-JP" sz="2600" dirty="0">
                <a:ea typeface="ＭＳ Ｐゴシック" panose="020B0600070205080204" pitchFamily="34" charset="-128"/>
              </a:rPr>
              <a:t> is of the form:</a:t>
            </a:r>
          </a:p>
          <a:p>
            <a:pPr eaLnBrk="1" hangingPunct="1">
              <a:lnSpc>
                <a:spcPct val="90000"/>
              </a:lnSpc>
              <a:buFont typeface="Wingdings" panose="05000000000000000000" pitchFamily="2" charset="2"/>
              <a:buNone/>
            </a:pPr>
            <a:r>
              <a:rPr lang="en-US" altLang="ja-JP" sz="2600" dirty="0">
                <a:ea typeface="ＭＳ Ｐゴシック" panose="020B0600070205080204" pitchFamily="34" charset="-128"/>
              </a:rPr>
              <a:t>		(</a:t>
            </a:r>
            <a:r>
              <a:rPr lang="en-US" altLang="ja-JP" sz="2600" i="1" dirty="0" err="1">
                <a:ea typeface="ＭＳ Ｐゴシック" panose="020B0600070205080204" pitchFamily="34" charset="-128"/>
              </a:rPr>
              <a:t>condset</a:t>
            </a:r>
            <a:r>
              <a:rPr lang="en-US" altLang="ja-JP" sz="2600" dirty="0">
                <a:ea typeface="ＭＳ Ｐゴシック" panose="020B0600070205080204" pitchFamily="34" charset="-128"/>
              </a:rPr>
              <a:t>, </a:t>
            </a:r>
            <a:r>
              <a:rPr lang="en-US" altLang="ja-JP" sz="2600" i="1" dirty="0">
                <a:ea typeface="ＭＳ Ｐゴシック" panose="020B0600070205080204" pitchFamily="34" charset="-128"/>
              </a:rPr>
              <a:t>y</a:t>
            </a:r>
            <a:r>
              <a:rPr lang="en-US" altLang="ja-JP" sz="2600" dirty="0">
                <a:ea typeface="ＭＳ Ｐゴシック" panose="020B0600070205080204" pitchFamily="34" charset="-128"/>
              </a:rPr>
              <a:t>)</a:t>
            </a:r>
          </a:p>
          <a:p>
            <a:pPr eaLnBrk="1" hangingPunct="1">
              <a:lnSpc>
                <a:spcPct val="90000"/>
              </a:lnSpc>
              <a:buFont typeface="Wingdings" panose="05000000000000000000" pitchFamily="2" charset="2"/>
              <a:buNone/>
            </a:pPr>
            <a:r>
              <a:rPr lang="en-US" altLang="ja-JP" sz="2600" dirty="0">
                <a:ea typeface="ＭＳ Ｐゴシック" panose="020B0600070205080204" pitchFamily="34" charset="-128"/>
              </a:rPr>
              <a:t>	where </a:t>
            </a:r>
            <a:r>
              <a:rPr lang="en-US" altLang="ja-JP" sz="2600" b="1" dirty="0" err="1">
                <a:ea typeface="ＭＳ Ｐゴシック" panose="020B0600070205080204" pitchFamily="34" charset="-128"/>
              </a:rPr>
              <a:t>condset</a:t>
            </a:r>
            <a:r>
              <a:rPr lang="en-US" altLang="ja-JP" sz="2600" dirty="0">
                <a:ea typeface="ＭＳ Ｐゴシック" panose="020B0600070205080204" pitchFamily="34" charset="-128"/>
              </a:rPr>
              <a:t> is a set of items from </a:t>
            </a:r>
            <a:r>
              <a:rPr lang="en-US" altLang="ja-JP" sz="2600" i="1" dirty="0">
                <a:ea typeface="ＭＳ Ｐゴシック" panose="020B0600070205080204" pitchFamily="34" charset="-128"/>
              </a:rPr>
              <a:t>I </a:t>
            </a:r>
            <a:r>
              <a:rPr lang="en-US" altLang="ja-JP" sz="2600" dirty="0">
                <a:ea typeface="ＭＳ Ｐゴシック" panose="020B0600070205080204" pitchFamily="34" charset="-128"/>
              </a:rPr>
              <a:t>(</a:t>
            </a:r>
            <a:r>
              <a:rPr lang="en-US" altLang="ja-JP" sz="2600" i="1" dirty="0">
                <a:ea typeface="ＭＳ Ｐゴシック" panose="020B0600070205080204" pitchFamily="34" charset="-128"/>
              </a:rPr>
              <a:t>i.e., </a:t>
            </a:r>
            <a:r>
              <a:rPr lang="en-US" altLang="ja-JP" sz="2600" i="1" dirty="0" err="1">
                <a:ea typeface="ＭＳ Ｐゴシック" panose="020B0600070205080204" pitchFamily="34" charset="-128"/>
              </a:rPr>
              <a:t>condset</a:t>
            </a:r>
            <a:r>
              <a:rPr lang="en-US" altLang="ja-JP" sz="2600" i="1" dirty="0">
                <a:ea typeface="ＭＳ Ｐゴシック" panose="020B0600070205080204" pitchFamily="34" charset="-128"/>
              </a:rPr>
              <a:t> </a:t>
            </a:r>
            <a:r>
              <a:rPr lang="en-US" altLang="ja-JP" sz="2600" dirty="0">
                <a:ea typeface="ＭＳ Ｐゴシック" panose="020B0600070205080204" pitchFamily="34" charset="-128"/>
                <a:sym typeface="Symbol" panose="05050102010706020507" pitchFamily="18" charset="2"/>
              </a:rPr>
              <a:t></a:t>
            </a:r>
            <a:r>
              <a:rPr lang="en-US" altLang="ja-JP" sz="2600" dirty="0">
                <a:ea typeface="ＭＳ Ｐゴシック" panose="020B0600070205080204" pitchFamily="34" charset="-128"/>
              </a:rPr>
              <a:t> </a:t>
            </a:r>
            <a:r>
              <a:rPr lang="en-US" altLang="ja-JP" sz="2600" i="1" dirty="0">
                <a:ea typeface="ＭＳ Ｐゴシック" panose="020B0600070205080204" pitchFamily="34" charset="-128"/>
              </a:rPr>
              <a:t>I</a:t>
            </a:r>
            <a:r>
              <a:rPr lang="en-US" altLang="ja-JP" sz="2600" dirty="0">
                <a:ea typeface="ＭＳ Ｐゴシック" panose="020B0600070205080204" pitchFamily="34" charset="-128"/>
              </a:rPr>
              <a:t>), and  </a:t>
            </a:r>
            <a:r>
              <a:rPr lang="en-US" altLang="ja-JP" sz="2600" i="1" dirty="0">
                <a:ea typeface="ＭＳ Ｐゴシック" panose="020B0600070205080204" pitchFamily="34" charset="-128"/>
              </a:rPr>
              <a:t>y</a:t>
            </a:r>
            <a:r>
              <a:rPr lang="en-US" altLang="ja-JP" sz="2600" dirty="0">
                <a:ea typeface="ＭＳ Ｐゴシック" panose="020B0600070205080204" pitchFamily="34" charset="-128"/>
              </a:rPr>
              <a:t> </a:t>
            </a:r>
            <a:r>
              <a:rPr lang="en-US" altLang="ja-JP" sz="2600" dirty="0">
                <a:ea typeface="ＭＳ Ｐゴシック" panose="020B0600070205080204" pitchFamily="34" charset="-128"/>
                <a:sym typeface="Symbol" panose="05050102010706020507" pitchFamily="18" charset="2"/>
              </a:rPr>
              <a:t></a:t>
            </a:r>
            <a:r>
              <a:rPr lang="en-US" altLang="ja-JP" sz="2600" dirty="0">
                <a:ea typeface="ＭＳ Ｐゴシック" panose="020B0600070205080204" pitchFamily="34" charset="-128"/>
              </a:rPr>
              <a:t> </a:t>
            </a:r>
            <a:r>
              <a:rPr lang="en-US" altLang="ja-JP" sz="2600" i="1" dirty="0">
                <a:ea typeface="ＭＳ Ｐゴシック" panose="020B0600070205080204" pitchFamily="34" charset="-128"/>
              </a:rPr>
              <a:t>Y</a:t>
            </a:r>
            <a:r>
              <a:rPr lang="en-US" altLang="ja-JP" sz="2600" dirty="0">
                <a:ea typeface="ＭＳ Ｐゴシック" panose="020B0600070205080204" pitchFamily="34" charset="-128"/>
              </a:rPr>
              <a:t> is a class label. </a:t>
            </a:r>
          </a:p>
          <a:p>
            <a:pPr eaLnBrk="1" hangingPunct="1">
              <a:lnSpc>
                <a:spcPct val="90000"/>
              </a:lnSpc>
            </a:pPr>
            <a:r>
              <a:rPr lang="en-US" altLang="ja-JP" sz="2600" dirty="0">
                <a:ea typeface="ＭＳ Ｐゴシック" panose="020B0600070205080204" pitchFamily="34" charset="-128"/>
              </a:rPr>
              <a:t>Each </a:t>
            </a:r>
            <a:r>
              <a:rPr lang="en-US" altLang="ja-JP" sz="2600" dirty="0" err="1">
                <a:ea typeface="ＭＳ Ｐゴシック" panose="020B0600070205080204" pitchFamily="34" charset="-128"/>
              </a:rPr>
              <a:t>ruleitem</a:t>
            </a:r>
            <a:r>
              <a:rPr lang="en-US" altLang="ja-JP" sz="2600" dirty="0">
                <a:ea typeface="ＭＳ Ｐゴシック" panose="020B0600070205080204" pitchFamily="34" charset="-128"/>
              </a:rPr>
              <a:t> basically represents a rule:    </a:t>
            </a:r>
          </a:p>
          <a:p>
            <a:pPr eaLnBrk="1" hangingPunct="1">
              <a:lnSpc>
                <a:spcPct val="90000"/>
              </a:lnSpc>
              <a:buFont typeface="Wingdings" panose="05000000000000000000" pitchFamily="2" charset="2"/>
              <a:buNone/>
            </a:pPr>
            <a:r>
              <a:rPr lang="en-US" altLang="ja-JP" sz="2600" i="1" dirty="0">
                <a:ea typeface="ＭＳ Ｐゴシック" panose="020B0600070205080204" pitchFamily="34" charset="-128"/>
              </a:rPr>
              <a:t>		</a:t>
            </a:r>
            <a:r>
              <a:rPr lang="en-US" altLang="ja-JP" sz="2600" i="1" dirty="0" err="1">
                <a:ea typeface="ＭＳ Ｐゴシック" panose="020B0600070205080204" pitchFamily="34" charset="-128"/>
              </a:rPr>
              <a:t>condset</a:t>
            </a:r>
            <a:r>
              <a:rPr lang="en-US" altLang="ja-JP" sz="2600" i="1" dirty="0">
                <a:ea typeface="ＭＳ Ｐゴシック" panose="020B0600070205080204" pitchFamily="34" charset="-128"/>
              </a:rPr>
              <a:t> </a:t>
            </a:r>
            <a:r>
              <a:rPr lang="en-US" altLang="ja-JP" sz="2600" dirty="0">
                <a:ea typeface="ＭＳ Ｐゴシック" panose="020B0600070205080204" pitchFamily="34" charset="-128"/>
                <a:sym typeface="Symbol" panose="05050102010706020507" pitchFamily="18" charset="2"/>
              </a:rPr>
              <a:t></a:t>
            </a:r>
            <a:r>
              <a:rPr lang="en-US" altLang="ja-JP" sz="2600" dirty="0">
                <a:ea typeface="ＭＳ Ｐゴシック" panose="020B0600070205080204" pitchFamily="34" charset="-128"/>
              </a:rPr>
              <a:t> </a:t>
            </a:r>
            <a:r>
              <a:rPr lang="en-US" altLang="ja-JP" sz="2600" i="1" dirty="0">
                <a:ea typeface="ＭＳ Ｐゴシック" panose="020B0600070205080204" pitchFamily="34" charset="-128"/>
              </a:rPr>
              <a:t>y</a:t>
            </a:r>
            <a:r>
              <a:rPr lang="en-US" altLang="ja-JP" sz="2600" dirty="0">
                <a:ea typeface="ＭＳ Ｐゴシック" panose="020B0600070205080204" pitchFamily="34" charset="-128"/>
              </a:rPr>
              <a:t>,</a:t>
            </a:r>
          </a:p>
          <a:p>
            <a:pPr eaLnBrk="1" hangingPunct="1">
              <a:lnSpc>
                <a:spcPct val="90000"/>
              </a:lnSpc>
            </a:pPr>
            <a:r>
              <a:rPr lang="en-US" sz="2600" dirty="0"/>
              <a:t>The </a:t>
            </a:r>
            <a:r>
              <a:rPr lang="en-US" sz="2600" dirty="0" err="1"/>
              <a:t>Apriori</a:t>
            </a:r>
            <a:r>
              <a:rPr lang="en-US" sz="2600" dirty="0"/>
              <a:t> algorithm can be modified to generate CARs</a:t>
            </a:r>
          </a:p>
        </p:txBody>
      </p:sp>
    </p:spTree>
    <p:extLst>
      <p:ext uri="{BB962C8B-B14F-4D97-AF65-F5344CB8AC3E}">
        <p14:creationId xmlns:p14="http://schemas.microsoft.com/office/powerpoint/2010/main" val="202269699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Rectangle 2"/>
          <p:cNvSpPr>
            <a:spLocks noGrp="1" noChangeArrowheads="1"/>
          </p:cNvSpPr>
          <p:nvPr>
            <p:ph type="title" idx="4294967295"/>
          </p:nvPr>
        </p:nvSpPr>
        <p:spPr>
          <a:xfrm>
            <a:off x="970383" y="663705"/>
            <a:ext cx="10515600" cy="1325563"/>
          </a:xfrm>
        </p:spPr>
        <p:txBody>
          <a:bodyPr/>
          <a:lstStyle/>
          <a:p>
            <a:pPr eaLnBrk="1" hangingPunct="1"/>
            <a:r>
              <a:rPr lang="en-US" b="1" dirty="0" smtClean="0"/>
              <a:t>Multiple minimum class supports</a:t>
            </a:r>
          </a:p>
        </p:txBody>
      </p:sp>
      <p:sp>
        <p:nvSpPr>
          <p:cNvPr id="58373" name="Rectangle 3"/>
          <p:cNvSpPr>
            <a:spLocks noGrp="1" noChangeArrowheads="1"/>
          </p:cNvSpPr>
          <p:nvPr>
            <p:ph type="body" idx="4294967295"/>
          </p:nvPr>
        </p:nvSpPr>
        <p:spPr>
          <a:xfrm>
            <a:off x="416767" y="1746250"/>
            <a:ext cx="10014857" cy="5111750"/>
          </a:xfrm>
        </p:spPr>
        <p:txBody>
          <a:bodyPr>
            <a:normAutofit/>
          </a:bodyPr>
          <a:lstStyle/>
          <a:p>
            <a:pPr eaLnBrk="1" hangingPunct="1">
              <a:lnSpc>
                <a:spcPct val="90000"/>
              </a:lnSpc>
            </a:pPr>
            <a:r>
              <a:rPr lang="en-US" sz="2600" dirty="0">
                <a:solidFill>
                  <a:srgbClr val="FF0000"/>
                </a:solidFill>
              </a:rPr>
              <a:t>The multiple minimum support idea can also be applied here.</a:t>
            </a:r>
            <a:r>
              <a:rPr lang="en-US" sz="2600" dirty="0">
                <a:solidFill>
                  <a:srgbClr val="3333CC"/>
                </a:solidFill>
              </a:rPr>
              <a:t> </a:t>
            </a:r>
          </a:p>
          <a:p>
            <a:pPr eaLnBrk="1" hangingPunct="1">
              <a:lnSpc>
                <a:spcPct val="90000"/>
              </a:lnSpc>
            </a:pPr>
            <a:r>
              <a:rPr lang="en-US" altLang="ja-JP" sz="2600" dirty="0">
                <a:ea typeface="ＭＳ Ｐゴシック" panose="020B0600070205080204" pitchFamily="34" charset="-128"/>
              </a:rPr>
              <a:t>The user can specify different </a:t>
            </a:r>
            <a:r>
              <a:rPr lang="en-US" altLang="ja-JP" sz="2600" dirty="0">
                <a:solidFill>
                  <a:srgbClr val="FF0000"/>
                </a:solidFill>
                <a:ea typeface="ＭＳ Ｐゴシック" panose="020B0600070205080204" pitchFamily="34" charset="-128"/>
              </a:rPr>
              <a:t>minimum supports to different classes</a:t>
            </a:r>
            <a:r>
              <a:rPr lang="en-US" altLang="ja-JP" sz="2600" dirty="0">
                <a:ea typeface="ＭＳ Ｐゴシック" panose="020B0600070205080204" pitchFamily="34" charset="-128"/>
              </a:rPr>
              <a:t>, which effectively assign a different minimum support to rules of each class. </a:t>
            </a:r>
          </a:p>
          <a:p>
            <a:pPr eaLnBrk="1" hangingPunct="1">
              <a:lnSpc>
                <a:spcPct val="90000"/>
              </a:lnSpc>
            </a:pPr>
            <a:r>
              <a:rPr lang="en-US" altLang="ja-JP" sz="2600" dirty="0">
                <a:ea typeface="ＭＳ Ｐゴシック" panose="020B0600070205080204" pitchFamily="34" charset="-128"/>
              </a:rPr>
              <a:t>For example, we have a data set with two classes, Yes and No. We may want </a:t>
            </a:r>
          </a:p>
          <a:p>
            <a:pPr lvl="1" eaLnBrk="1" hangingPunct="1">
              <a:lnSpc>
                <a:spcPct val="90000"/>
              </a:lnSpc>
            </a:pPr>
            <a:r>
              <a:rPr lang="en-US" altLang="ja-JP" sz="2200" dirty="0">
                <a:ea typeface="ＭＳ Ｐゴシック" panose="020B0600070205080204" pitchFamily="34" charset="-128"/>
              </a:rPr>
              <a:t>rules of class Yes to have the minimum support of 5% and </a:t>
            </a:r>
          </a:p>
          <a:p>
            <a:pPr lvl="1" eaLnBrk="1" hangingPunct="1">
              <a:lnSpc>
                <a:spcPct val="90000"/>
              </a:lnSpc>
            </a:pPr>
            <a:r>
              <a:rPr lang="en-US" altLang="ja-JP" sz="2200" dirty="0">
                <a:ea typeface="ＭＳ Ｐゴシック" panose="020B0600070205080204" pitchFamily="34" charset="-128"/>
              </a:rPr>
              <a:t>rules of class No to have the minimum support of 10%. </a:t>
            </a:r>
            <a:endParaRPr lang="en-US" sz="2200" dirty="0">
              <a:solidFill>
                <a:srgbClr val="3333CC"/>
              </a:solidFill>
            </a:endParaRPr>
          </a:p>
          <a:p>
            <a:pPr eaLnBrk="1" hangingPunct="1">
              <a:lnSpc>
                <a:spcPct val="90000"/>
              </a:lnSpc>
            </a:pPr>
            <a:r>
              <a:rPr lang="en-US" altLang="ja-JP" sz="2600" dirty="0">
                <a:solidFill>
                  <a:srgbClr val="3333CC"/>
                </a:solidFill>
                <a:ea typeface="ＭＳ Ｐゴシック" panose="020B0600070205080204" pitchFamily="34" charset="-128"/>
              </a:rPr>
              <a:t>By setting minimum class supports to 100% (or more for some classes), we tell the algorithm not to generate rules of those classes.</a:t>
            </a:r>
            <a:r>
              <a:rPr lang="en-US" altLang="ja-JP" sz="2600" dirty="0">
                <a:ea typeface="ＭＳ Ｐゴシック" panose="020B0600070205080204" pitchFamily="34" charset="-128"/>
              </a:rPr>
              <a:t> </a:t>
            </a:r>
          </a:p>
          <a:p>
            <a:pPr lvl="1" eaLnBrk="1" hangingPunct="1">
              <a:lnSpc>
                <a:spcPct val="90000"/>
              </a:lnSpc>
            </a:pPr>
            <a:r>
              <a:rPr lang="en-US" sz="2200" dirty="0"/>
              <a:t>This is a very useful trick in applications. </a:t>
            </a:r>
          </a:p>
        </p:txBody>
      </p:sp>
    </p:spTree>
    <p:extLst>
      <p:ext uri="{BB962C8B-B14F-4D97-AF65-F5344CB8AC3E}">
        <p14:creationId xmlns:p14="http://schemas.microsoft.com/office/powerpoint/2010/main" val="1882242254"/>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2822029" y="345377"/>
            <a:ext cx="5099662" cy="609969"/>
          </a:xfrm>
          <a:prstGeom prst="rect">
            <a:avLst/>
          </a:prstGeom>
        </p:spPr>
        <p:txBody>
          <a:bodyP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15000"/>
              </a:lnSpc>
              <a:spcBef>
                <a:spcPts val="0"/>
              </a:spcBef>
            </a:pPr>
            <a:endParaRPr lang="en-US" sz="4000" b="1" dirty="0">
              <a:solidFill>
                <a:schemeClr val="accent5"/>
              </a:solidFill>
              <a:latin typeface="+mn-lt"/>
              <a:ea typeface="+mn-ea"/>
              <a:cs typeface="+mn-cs"/>
            </a:endParaRPr>
          </a:p>
        </p:txBody>
      </p:sp>
      <p:sp>
        <p:nvSpPr>
          <p:cNvPr id="5" name="TextBox 4"/>
          <p:cNvSpPr txBox="1"/>
          <p:nvPr/>
        </p:nvSpPr>
        <p:spPr>
          <a:xfrm>
            <a:off x="4904262" y="2805419"/>
            <a:ext cx="2360583" cy="646331"/>
          </a:xfrm>
          <a:prstGeom prst="rect">
            <a:avLst/>
          </a:prstGeom>
          <a:noFill/>
        </p:spPr>
        <p:txBody>
          <a:bodyPr wrap="none" rtlCol="0">
            <a:spAutoFit/>
          </a:bodyPr>
          <a:lstStyle/>
          <a:p>
            <a:pPr algn="ctr"/>
            <a:r>
              <a:rPr lang="en-US" sz="3600" b="1" dirty="0" smtClean="0">
                <a:latin typeface="Times New Roman" pitchFamily="18" charset="0"/>
                <a:cs typeface="Times New Roman" pitchFamily="18" charset="0"/>
              </a:rPr>
              <a:t>Thank You</a:t>
            </a:r>
            <a:endParaRPr lang="en-US" sz="3600" b="1" dirty="0">
              <a:latin typeface="Times New Roman" pitchFamily="18" charset="0"/>
              <a:cs typeface="Times New Roman" pitchFamily="18" charset="0"/>
            </a:endParaRPr>
          </a:p>
        </p:txBody>
      </p:sp>
    </p:spTree>
    <p:extLst>
      <p:ext uri="{BB962C8B-B14F-4D97-AF65-F5344CB8AC3E}">
        <p14:creationId xmlns:p14="http://schemas.microsoft.com/office/powerpoint/2010/main" val="4158656450"/>
      </p:ext>
    </p:extLst>
  </p:cSld>
  <p:clrMapOvr>
    <a:masterClrMapping/>
  </p:clrMapOvr>
  <p:timing>
    <p:tnLst>
      <p:par>
        <p:cTn id="1" dur="indefinite" restart="never" nodeType="tmRoot"/>
      </p:par>
    </p:tnLst>
  </p:timing>
</p:sld>
</file>

<file path=ppt/theme/theme1.xml><?xml version="1.0" encoding="utf-8"?>
<a:theme xmlns:a="http://schemas.openxmlformats.org/drawingml/2006/main" name="NBA PP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14746</TotalTime>
  <Words>3894</Words>
  <Application>Microsoft Office PowerPoint</Application>
  <PresentationFormat>Widescreen</PresentationFormat>
  <Paragraphs>639</Paragraphs>
  <Slides>78</Slides>
  <Notes>13</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78</vt:i4>
      </vt:variant>
    </vt:vector>
  </HeadingPairs>
  <TitlesOfParts>
    <vt:vector size="92" baseType="lpstr">
      <vt:lpstr>ＭＳ Ｐゴシック</vt:lpstr>
      <vt:lpstr>Arial</vt:lpstr>
      <vt:lpstr>Arimo</vt:lpstr>
      <vt:lpstr>Arimo Bold</vt:lpstr>
      <vt:lpstr>Arimo Light</vt:lpstr>
      <vt:lpstr>Calibri</vt:lpstr>
      <vt:lpstr>Calibri Light</vt:lpstr>
      <vt:lpstr>MT Extra</vt:lpstr>
      <vt:lpstr>Symbol</vt:lpstr>
      <vt:lpstr>Tahoma</vt:lpstr>
      <vt:lpstr>Times New Roman</vt:lpstr>
      <vt:lpstr>Wingdings</vt:lpstr>
      <vt:lpstr>NBA PPT</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Association rule mining</vt:lpstr>
      <vt:lpstr>The model: data</vt:lpstr>
      <vt:lpstr> Transaction data: supermarket data</vt:lpstr>
      <vt:lpstr>The model: rules</vt:lpstr>
      <vt:lpstr>Rule strength measures :</vt:lpstr>
      <vt:lpstr>Support and Confidence :</vt:lpstr>
      <vt:lpstr>Goal and key features</vt:lpstr>
      <vt:lpstr>An example</vt:lpstr>
      <vt:lpstr>Transaction data representation</vt:lpstr>
      <vt:lpstr>Many mining algorithms</vt:lpstr>
      <vt:lpstr>Road map</vt:lpstr>
      <vt:lpstr>The Apriori algorithm :</vt:lpstr>
      <vt:lpstr>Step 1: Mining all frequent itemsets</vt:lpstr>
      <vt:lpstr>The Algorithm</vt:lpstr>
      <vt:lpstr>Example –  Finding frequent itemsets</vt:lpstr>
      <vt:lpstr>Details: ordering of items</vt:lpstr>
      <vt:lpstr>Details: the algorithm :</vt:lpstr>
      <vt:lpstr>Apriori candidate generation</vt:lpstr>
      <vt:lpstr>Candidate-gen function </vt:lpstr>
      <vt:lpstr>An example</vt:lpstr>
      <vt:lpstr>Step 2: Generating rules from frequent itemsets</vt:lpstr>
      <vt:lpstr>Generating rules: an example</vt:lpstr>
      <vt:lpstr>Generating rules: summary</vt:lpstr>
      <vt:lpstr>On Apriori Algorithm</vt:lpstr>
      <vt:lpstr> More on association rule mining</vt:lpstr>
      <vt:lpstr>Road map</vt:lpstr>
      <vt:lpstr>Different data formats for mining :</vt:lpstr>
      <vt:lpstr>From a table to a set of transactions</vt:lpstr>
      <vt:lpstr>Road map</vt:lpstr>
      <vt:lpstr>Problems with the association mining</vt:lpstr>
      <vt:lpstr>Rare Item Problem :</vt:lpstr>
      <vt:lpstr>Multiple minsups model</vt:lpstr>
      <vt:lpstr>Extended Model </vt:lpstr>
      <vt:lpstr>An Example1</vt:lpstr>
      <vt:lpstr>PowerPoint Presentation</vt:lpstr>
      <vt:lpstr>An Example 2</vt:lpstr>
      <vt:lpstr>Downward closure property</vt:lpstr>
      <vt:lpstr>To deal with the problem</vt:lpstr>
      <vt:lpstr>The MSapriori algorithm</vt:lpstr>
      <vt:lpstr>Candidate itemset generation:</vt:lpstr>
      <vt:lpstr>First pass over data</vt:lpstr>
      <vt:lpstr> First pass over data: an example</vt:lpstr>
      <vt:lpstr>Rule generation</vt:lpstr>
      <vt:lpstr>On multiple minsup rule mining</vt:lpstr>
      <vt:lpstr>Road map</vt:lpstr>
      <vt:lpstr>Mining class association rules (CAR)</vt:lpstr>
      <vt:lpstr>Problem definition</vt:lpstr>
      <vt:lpstr>An example</vt:lpstr>
      <vt:lpstr>Mining algorithm</vt:lpstr>
      <vt:lpstr>Multiple minimum class supports</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Harish Mugutkar</dc:creator>
  <cp:lastModifiedBy>Microsoft account</cp:lastModifiedBy>
  <cp:revision>1202</cp:revision>
  <dcterms:created xsi:type="dcterms:W3CDTF">2020-11-23T06:12:17Z</dcterms:created>
  <dcterms:modified xsi:type="dcterms:W3CDTF">2025-12-15T16:47:34Z</dcterms:modified>
</cp:coreProperties>
</file>